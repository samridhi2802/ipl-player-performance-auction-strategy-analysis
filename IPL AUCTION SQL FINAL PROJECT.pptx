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notesMasterIdLst>
    <p:notesMasterId r:id="rId22"/>
  </p:notesMasterIdLst>
  <p:sldIdLst>
    <p:sldId id="257" r:id="rId2"/>
    <p:sldId id="275" r:id="rId3"/>
    <p:sldId id="258" r:id="rId4"/>
    <p:sldId id="259" r:id="rId5"/>
    <p:sldId id="260" r:id="rId6"/>
    <p:sldId id="261" r:id="rId7"/>
    <p:sldId id="262" r:id="rId8"/>
    <p:sldId id="263" r:id="rId9"/>
    <p:sldId id="265" r:id="rId10"/>
    <p:sldId id="264" r:id="rId11"/>
    <p:sldId id="266" r:id="rId12"/>
    <p:sldId id="267" r:id="rId13"/>
    <p:sldId id="268" r:id="rId14"/>
    <p:sldId id="269" r:id="rId15"/>
    <p:sldId id="270" r:id="rId16"/>
    <p:sldId id="271" r:id="rId17"/>
    <p:sldId id="272" r:id="rId18"/>
    <p:sldId id="273" r:id="rId19"/>
    <p:sldId id="274" r:id="rId20"/>
    <p:sldId id="27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522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nkita\Downloads\ipl%20query%201.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nkita\Downloads\ipl%20query%202%20new.csv"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nkita\Downloads\ipl%20query%203.csv"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nkita\Downloads\ipl%20query%204.csv"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nkita\Downloads\ipl%20query5.csv"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nkita\Downloads\ipl%20query%206.csv"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Ankita\Downloads\ipl%20adition%204.csv"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Ankita\Downloads\ipl%20adition%205.csv"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Ankita\Downloads\ipl%20adition%206.csv"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Ankita\Downloads\ipl%20adition%207.csv"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Ankita\Downloads\ipl%20addition%209.csv"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Ankita\Downloads\ipl%20addition%2010.csv" TargetMode="External"/><Relationship Id="rId2" Type="http://schemas.microsoft.com/office/2011/relationships/chartColorStyle" Target="colors12.xml"/><Relationship Id="rId1" Type="http://schemas.microsoft.com/office/2011/relationships/chartStyle" Target="style1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dirty="0"/>
              <a:t>Batsman</a:t>
            </a:r>
            <a:r>
              <a:rPr lang="en-US" baseline="0" dirty="0"/>
              <a:t> SR</a:t>
            </a:r>
            <a:endParaRPr lang="en-US" dirty="0"/>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'ipl query 1'!$B$1</c:f>
              <c:strCache>
                <c:ptCount val="1"/>
                <c:pt idx="0">
                  <c:v>batsman_sr</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'ipl query 1'!$A$2:$A$11</c:f>
              <c:strCache>
                <c:ptCount val="10"/>
                <c:pt idx="0">
                  <c:v>AD Russell</c:v>
                </c:pt>
                <c:pt idx="1">
                  <c:v>SP Narine</c:v>
                </c:pt>
                <c:pt idx="2">
                  <c:v>HH Pandya</c:v>
                </c:pt>
                <c:pt idx="3">
                  <c:v>V Sehwag</c:v>
                </c:pt>
                <c:pt idx="4">
                  <c:v>GJ Maxwell</c:v>
                </c:pt>
                <c:pt idx="5">
                  <c:v>RR Pant</c:v>
                </c:pt>
                <c:pt idx="6">
                  <c:v>AB de Villiers</c:v>
                </c:pt>
                <c:pt idx="7">
                  <c:v>CH Gayle</c:v>
                </c:pt>
                <c:pt idx="8">
                  <c:v>KA Pollard</c:v>
                </c:pt>
                <c:pt idx="9">
                  <c:v>JC Buttler</c:v>
                </c:pt>
              </c:strCache>
            </c:strRef>
          </c:cat>
          <c:val>
            <c:numRef>
              <c:f>'ipl query 1'!$B$2:$B$11</c:f>
              <c:numCache>
                <c:formatCode>General</c:formatCode>
                <c:ptCount val="10"/>
                <c:pt idx="0">
                  <c:v>182.33</c:v>
                </c:pt>
                <c:pt idx="1">
                  <c:v>164.27</c:v>
                </c:pt>
                <c:pt idx="2">
                  <c:v>159.27000000000001</c:v>
                </c:pt>
                <c:pt idx="3">
                  <c:v>155.44</c:v>
                </c:pt>
                <c:pt idx="4">
                  <c:v>154.68</c:v>
                </c:pt>
                <c:pt idx="5">
                  <c:v>151.97</c:v>
                </c:pt>
                <c:pt idx="6">
                  <c:v>151.91</c:v>
                </c:pt>
                <c:pt idx="7">
                  <c:v>150.11000000000001</c:v>
                </c:pt>
                <c:pt idx="8">
                  <c:v>149.88</c:v>
                </c:pt>
                <c:pt idx="9">
                  <c:v>149.56</c:v>
                </c:pt>
              </c:numCache>
            </c:numRef>
          </c:val>
          <c:extLst>
            <c:ext xmlns:c16="http://schemas.microsoft.com/office/drawing/2014/chart" uri="{C3380CC4-5D6E-409C-BE32-E72D297353CC}">
              <c16:uniqueId val="{00000000-7D3C-4B45-9695-E721B1135880}"/>
            </c:ext>
          </c:extLst>
        </c:ser>
        <c:dLbls>
          <c:dLblPos val="outEnd"/>
          <c:showLegendKey val="0"/>
          <c:showVal val="1"/>
          <c:showCatName val="0"/>
          <c:showSerName val="0"/>
          <c:showPercent val="0"/>
          <c:showBubbleSize val="0"/>
        </c:dLbls>
        <c:gapWidth val="100"/>
        <c:overlap val="-24"/>
        <c:axId val="1484076816"/>
        <c:axId val="1484077296"/>
      </c:barChart>
      <c:catAx>
        <c:axId val="1484076816"/>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484077296"/>
        <c:crosses val="autoZero"/>
        <c:auto val="1"/>
        <c:lblAlgn val="ctr"/>
        <c:lblOffset val="100"/>
        <c:noMultiLvlLbl val="0"/>
      </c:catAx>
      <c:valAx>
        <c:axId val="1484077296"/>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48407681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0938188976377948"/>
          <c:y val="2.7777777777777776E-2"/>
        </c:manualLayout>
      </c:layout>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1"/>
          <c:order val="1"/>
          <c:tx>
            <c:strRef>
              <c:f>'ipl query 2 new'!$C$1</c:f>
              <c:strCache>
                <c:ptCount val="1"/>
                <c:pt idx="0">
                  <c:v>average</c:v>
                </c:pt>
              </c:strCache>
            </c:strRef>
          </c:tx>
          <c:spPr>
            <a:gradFill rotWithShape="1">
              <a:gsLst>
                <a:gs pos="0">
                  <a:schemeClr val="accent2">
                    <a:tint val="96000"/>
                    <a:lumMod val="100000"/>
                  </a:schemeClr>
                </a:gs>
                <a:gs pos="78000">
                  <a:schemeClr val="accent2">
                    <a:shade val="94000"/>
                    <a:lumMod val="94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'ipl query 2 new'!$A$2:$A$11</c:f>
              <c:strCache>
                <c:ptCount val="10"/>
                <c:pt idx="0">
                  <c:v>KL Rahul</c:v>
                </c:pt>
                <c:pt idx="1">
                  <c:v>AB de Villiers</c:v>
                </c:pt>
                <c:pt idx="2">
                  <c:v>DA Warner</c:v>
                </c:pt>
                <c:pt idx="3">
                  <c:v>JP Duminy</c:v>
                </c:pt>
                <c:pt idx="4">
                  <c:v>CH Gayle</c:v>
                </c:pt>
                <c:pt idx="5">
                  <c:v>ML Hayden</c:v>
                </c:pt>
                <c:pt idx="6">
                  <c:v>LMP Simmons</c:v>
                </c:pt>
                <c:pt idx="7">
                  <c:v>KS Williamson</c:v>
                </c:pt>
                <c:pt idx="8">
                  <c:v>SE Marsh</c:v>
                </c:pt>
                <c:pt idx="9">
                  <c:v>MEK Hussey</c:v>
                </c:pt>
              </c:strCache>
            </c:strRef>
          </c:cat>
          <c:val>
            <c:numRef>
              <c:f>'ipl query 2 new'!$C$2:$C$11</c:f>
              <c:numCache>
                <c:formatCode>General</c:formatCode>
                <c:ptCount val="10"/>
                <c:pt idx="0">
                  <c:v>42.69</c:v>
                </c:pt>
                <c:pt idx="1">
                  <c:v>42.54</c:v>
                </c:pt>
                <c:pt idx="2">
                  <c:v>41.7</c:v>
                </c:pt>
                <c:pt idx="3">
                  <c:v>41.41</c:v>
                </c:pt>
                <c:pt idx="4">
                  <c:v>41.14</c:v>
                </c:pt>
                <c:pt idx="5">
                  <c:v>41</c:v>
                </c:pt>
                <c:pt idx="6">
                  <c:v>39.96</c:v>
                </c:pt>
                <c:pt idx="7">
                  <c:v>39.49</c:v>
                </c:pt>
                <c:pt idx="8">
                  <c:v>38.700000000000003</c:v>
                </c:pt>
                <c:pt idx="9">
                  <c:v>38.020000000000003</c:v>
                </c:pt>
              </c:numCache>
            </c:numRef>
          </c:val>
          <c:extLst>
            <c:ext xmlns:c16="http://schemas.microsoft.com/office/drawing/2014/chart" uri="{C3380CC4-5D6E-409C-BE32-E72D297353CC}">
              <c16:uniqueId val="{00000000-01FE-463F-B9A2-DEA37051EBC4}"/>
            </c:ext>
          </c:extLst>
        </c:ser>
        <c:dLbls>
          <c:showLegendKey val="0"/>
          <c:showVal val="0"/>
          <c:showCatName val="0"/>
          <c:showSerName val="0"/>
          <c:showPercent val="0"/>
          <c:showBubbleSize val="0"/>
        </c:dLbls>
        <c:gapWidth val="100"/>
        <c:overlap val="-24"/>
        <c:axId val="1580803360"/>
        <c:axId val="1580811040"/>
        <c:extLst>
          <c:ext xmlns:c15="http://schemas.microsoft.com/office/drawing/2012/chart" uri="{02D57815-91ED-43cb-92C2-25804820EDAC}">
            <c15:filteredBarSeries>
              <c15:ser>
                <c:idx val="0"/>
                <c:order val="0"/>
                <c:tx>
                  <c:strRef>
                    <c:extLst>
                      <c:ext uri="{02D57815-91ED-43cb-92C2-25804820EDAC}">
                        <c15:formulaRef>
                          <c15:sqref>'ipl query 2 new'!$B$1</c15:sqref>
                        </c15:formulaRef>
                      </c:ext>
                    </c:extLst>
                    <c:strCache>
                      <c:ptCount val="1"/>
                      <c:pt idx="0">
                        <c:v>runs</c:v>
                      </c:pt>
                    </c:strCache>
                  </c:strRef>
                </c:tx>
                <c:spPr>
                  <a:gradFill rotWithShape="1">
                    <a:gsLst>
                      <a:gs pos="0">
                        <a:schemeClr val="accent1">
                          <a:tint val="96000"/>
                          <a:lumMod val="100000"/>
                        </a:schemeClr>
                      </a:gs>
                      <a:gs pos="78000">
                        <a:schemeClr val="accent1">
                          <a:shade val="94000"/>
                          <a:lumMod val="94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extLst>
                      <c:ext uri="{02D57815-91ED-43cb-92C2-25804820EDAC}">
                        <c15:formulaRef>
                          <c15:sqref>'ipl query 2 new'!$A$2:$A$11</c15:sqref>
                        </c15:formulaRef>
                      </c:ext>
                    </c:extLst>
                    <c:strCache>
                      <c:ptCount val="10"/>
                      <c:pt idx="0">
                        <c:v>KL Rahul</c:v>
                      </c:pt>
                      <c:pt idx="1">
                        <c:v>AB de Villiers</c:v>
                      </c:pt>
                      <c:pt idx="2">
                        <c:v>DA Warner</c:v>
                      </c:pt>
                      <c:pt idx="3">
                        <c:v>JP Duminy</c:v>
                      </c:pt>
                      <c:pt idx="4">
                        <c:v>CH Gayle</c:v>
                      </c:pt>
                      <c:pt idx="5">
                        <c:v>ML Hayden</c:v>
                      </c:pt>
                      <c:pt idx="6">
                        <c:v>LMP Simmons</c:v>
                      </c:pt>
                      <c:pt idx="7">
                        <c:v>KS Williamson</c:v>
                      </c:pt>
                      <c:pt idx="8">
                        <c:v>SE Marsh</c:v>
                      </c:pt>
                      <c:pt idx="9">
                        <c:v>MEK Hussey</c:v>
                      </c:pt>
                    </c:strCache>
                  </c:strRef>
                </c:cat>
                <c:val>
                  <c:numRef>
                    <c:extLst>
                      <c:ext uri="{02D57815-91ED-43cb-92C2-25804820EDAC}">
                        <c15:formulaRef>
                          <c15:sqref>'ipl query 2 new'!$B$2:$B$11</c15:sqref>
                        </c15:formulaRef>
                      </c:ext>
                    </c:extLst>
                    <c:numCache>
                      <c:formatCode>General</c:formatCode>
                      <c:ptCount val="10"/>
                      <c:pt idx="0">
                        <c:v>2647</c:v>
                      </c:pt>
                      <c:pt idx="1">
                        <c:v>4849</c:v>
                      </c:pt>
                      <c:pt idx="2">
                        <c:v>5254</c:v>
                      </c:pt>
                      <c:pt idx="3">
                        <c:v>2029</c:v>
                      </c:pt>
                      <c:pt idx="4">
                        <c:v>4772</c:v>
                      </c:pt>
                      <c:pt idx="5">
                        <c:v>1107</c:v>
                      </c:pt>
                      <c:pt idx="6">
                        <c:v>1079</c:v>
                      </c:pt>
                      <c:pt idx="7">
                        <c:v>1619</c:v>
                      </c:pt>
                      <c:pt idx="8">
                        <c:v>2477</c:v>
                      </c:pt>
                      <c:pt idx="9">
                        <c:v>1977</c:v>
                      </c:pt>
                    </c:numCache>
                  </c:numRef>
                </c:val>
                <c:extLst>
                  <c:ext xmlns:c16="http://schemas.microsoft.com/office/drawing/2014/chart" uri="{C3380CC4-5D6E-409C-BE32-E72D297353CC}">
                    <c16:uniqueId val="{00000001-01FE-463F-B9A2-DEA37051EBC4}"/>
                  </c:ext>
                </c:extLst>
              </c15:ser>
            </c15:filteredBarSeries>
          </c:ext>
        </c:extLst>
      </c:barChart>
      <c:catAx>
        <c:axId val="1580803360"/>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580811040"/>
        <c:crosses val="autoZero"/>
        <c:auto val="1"/>
        <c:lblAlgn val="ctr"/>
        <c:lblOffset val="100"/>
        <c:noMultiLvlLbl val="0"/>
      </c:catAx>
      <c:valAx>
        <c:axId val="1580811040"/>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5808033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'ipl query 3'!$B$1</c:f>
              <c:strCache>
                <c:ptCount val="1"/>
                <c:pt idx="0">
                  <c:v>boundary_percentage</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'ipl query 3'!$A$2:$A$11</c:f>
              <c:strCache>
                <c:ptCount val="10"/>
                <c:pt idx="0">
                  <c:v>SP Narine</c:v>
                </c:pt>
                <c:pt idx="1">
                  <c:v>AD Russell</c:v>
                </c:pt>
                <c:pt idx="2">
                  <c:v>CH Gayle</c:v>
                </c:pt>
                <c:pt idx="3">
                  <c:v>ST Jayasuriya</c:v>
                </c:pt>
                <c:pt idx="4">
                  <c:v>AC Gilchrist</c:v>
                </c:pt>
                <c:pt idx="5">
                  <c:v>V Sehwag</c:v>
                </c:pt>
                <c:pt idx="6">
                  <c:v>DR Smith</c:v>
                </c:pt>
                <c:pt idx="7">
                  <c:v>CA Lynn</c:v>
                </c:pt>
                <c:pt idx="8">
                  <c:v>Harbhajan Singh</c:v>
                </c:pt>
                <c:pt idx="9">
                  <c:v>SR Watson</c:v>
                </c:pt>
              </c:strCache>
            </c:strRef>
          </c:cat>
          <c:val>
            <c:numRef>
              <c:f>'ipl query 3'!$B$2:$B$11</c:f>
              <c:numCache>
                <c:formatCode>General</c:formatCode>
                <c:ptCount val="10"/>
                <c:pt idx="0">
                  <c:v>81.17</c:v>
                </c:pt>
                <c:pt idx="1">
                  <c:v>78.709999999999994</c:v>
                </c:pt>
                <c:pt idx="2">
                  <c:v>76.069999999999993</c:v>
                </c:pt>
                <c:pt idx="3">
                  <c:v>74.22</c:v>
                </c:pt>
                <c:pt idx="4">
                  <c:v>72.89</c:v>
                </c:pt>
                <c:pt idx="5">
                  <c:v>72.290000000000006</c:v>
                </c:pt>
                <c:pt idx="6">
                  <c:v>70.52</c:v>
                </c:pt>
                <c:pt idx="7">
                  <c:v>69.53</c:v>
                </c:pt>
                <c:pt idx="8">
                  <c:v>68.52</c:v>
                </c:pt>
                <c:pt idx="9">
                  <c:v>68.25</c:v>
                </c:pt>
              </c:numCache>
            </c:numRef>
          </c:val>
          <c:extLst>
            <c:ext xmlns:c16="http://schemas.microsoft.com/office/drawing/2014/chart" uri="{C3380CC4-5D6E-409C-BE32-E72D297353CC}">
              <c16:uniqueId val="{00000000-A00E-4316-9DF2-C43628D31C2E}"/>
            </c:ext>
          </c:extLst>
        </c:ser>
        <c:dLbls>
          <c:dLblPos val="outEnd"/>
          <c:showLegendKey val="0"/>
          <c:showVal val="1"/>
          <c:showCatName val="0"/>
          <c:showSerName val="0"/>
          <c:showPercent val="0"/>
          <c:showBubbleSize val="0"/>
        </c:dLbls>
        <c:gapWidth val="100"/>
        <c:overlap val="-24"/>
        <c:axId val="1576418192"/>
        <c:axId val="1576419152"/>
      </c:barChart>
      <c:catAx>
        <c:axId val="1576418192"/>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576419152"/>
        <c:crosses val="autoZero"/>
        <c:auto val="1"/>
        <c:lblAlgn val="ctr"/>
        <c:lblOffset val="100"/>
        <c:noMultiLvlLbl val="0"/>
      </c:catAx>
      <c:valAx>
        <c:axId val="1576419152"/>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5764181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'ipl query 4'!$B$1</c:f>
              <c:strCache>
                <c:ptCount val="1"/>
                <c:pt idx="0">
                  <c:v>economy</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'ipl query 4'!$A$2:$A$11</c:f>
              <c:strCache>
                <c:ptCount val="10"/>
                <c:pt idx="0">
                  <c:v>Rashid Khan</c:v>
                </c:pt>
                <c:pt idx="1">
                  <c:v>A Kumble</c:v>
                </c:pt>
                <c:pt idx="2">
                  <c:v>M Muralitharan</c:v>
                </c:pt>
                <c:pt idx="3">
                  <c:v>DW Steyn</c:v>
                </c:pt>
                <c:pt idx="4">
                  <c:v>R Ashwin</c:v>
                </c:pt>
                <c:pt idx="5">
                  <c:v>SP Narine</c:v>
                </c:pt>
                <c:pt idx="6">
                  <c:v>DL Vettori</c:v>
                </c:pt>
                <c:pt idx="7">
                  <c:v>Washington Sundar</c:v>
                </c:pt>
                <c:pt idx="8">
                  <c:v>J Botha</c:v>
                </c:pt>
                <c:pt idx="9">
                  <c:v>R Tewatia</c:v>
                </c:pt>
              </c:strCache>
            </c:strRef>
          </c:cat>
          <c:val>
            <c:numRef>
              <c:f>'ipl query 4'!$B$2:$B$11</c:f>
              <c:numCache>
                <c:formatCode>General</c:formatCode>
                <c:ptCount val="10"/>
                <c:pt idx="0">
                  <c:v>6.33</c:v>
                </c:pt>
                <c:pt idx="1">
                  <c:v>6.65</c:v>
                </c:pt>
                <c:pt idx="2">
                  <c:v>6.68</c:v>
                </c:pt>
                <c:pt idx="3">
                  <c:v>6.77</c:v>
                </c:pt>
                <c:pt idx="4">
                  <c:v>6.77</c:v>
                </c:pt>
                <c:pt idx="5">
                  <c:v>6.82</c:v>
                </c:pt>
                <c:pt idx="6">
                  <c:v>6.83</c:v>
                </c:pt>
                <c:pt idx="7">
                  <c:v>6.89</c:v>
                </c:pt>
                <c:pt idx="8">
                  <c:v>6.92</c:v>
                </c:pt>
                <c:pt idx="9">
                  <c:v>6.99</c:v>
                </c:pt>
              </c:numCache>
            </c:numRef>
          </c:val>
          <c:extLst>
            <c:ext xmlns:c16="http://schemas.microsoft.com/office/drawing/2014/chart" uri="{C3380CC4-5D6E-409C-BE32-E72D297353CC}">
              <c16:uniqueId val="{00000000-7AB9-4E48-ADE2-497CD798D9DA}"/>
            </c:ext>
          </c:extLst>
        </c:ser>
        <c:dLbls>
          <c:dLblPos val="outEnd"/>
          <c:showLegendKey val="0"/>
          <c:showVal val="1"/>
          <c:showCatName val="0"/>
          <c:showSerName val="0"/>
          <c:showPercent val="0"/>
          <c:showBubbleSize val="0"/>
        </c:dLbls>
        <c:gapWidth val="100"/>
        <c:overlap val="-24"/>
        <c:axId val="699393568"/>
        <c:axId val="699390208"/>
      </c:barChart>
      <c:catAx>
        <c:axId val="699393568"/>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99390208"/>
        <c:crosses val="autoZero"/>
        <c:auto val="1"/>
        <c:lblAlgn val="ctr"/>
        <c:lblOffset val="100"/>
        <c:noMultiLvlLbl val="0"/>
      </c:catAx>
      <c:valAx>
        <c:axId val="699390208"/>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993935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endParaRPr lang="en-US"/>
        </a:p>
      </c:txPr>
    </c:title>
    <c:autoTitleDeleted val="0"/>
    <c:plotArea>
      <c:layout/>
      <c:barChart>
        <c:barDir val="col"/>
        <c:grouping val="clustered"/>
        <c:varyColors val="0"/>
        <c:ser>
          <c:idx val="0"/>
          <c:order val="0"/>
          <c:tx>
            <c:strRef>
              <c:f>'ipl query5'!$B$1</c:f>
              <c:strCache>
                <c:ptCount val="1"/>
                <c:pt idx="0">
                  <c:v>economy</c:v>
                </c:pt>
              </c:strCache>
            </c:strRef>
          </c:tx>
          <c:spPr>
            <a:noFill/>
            <a:ln w="9525" cap="flat" cmpd="sng" algn="ctr">
              <a:solidFill>
                <a:schemeClr val="accent1"/>
              </a:solidFill>
              <a:miter lim="800000"/>
            </a:ln>
            <a:effectLst>
              <a:glow rad="63500">
                <a:schemeClr val="accent1">
                  <a:satMod val="175000"/>
                  <a:alpha val="25000"/>
                </a:schemeClr>
              </a:glo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strRef>
              <c:f>'ipl query5'!$A$2:$A$11</c:f>
              <c:strCache>
                <c:ptCount val="10"/>
                <c:pt idx="0">
                  <c:v>K Rabada</c:v>
                </c:pt>
                <c:pt idx="1">
                  <c:v>AJ Tye</c:v>
                </c:pt>
                <c:pt idx="2">
                  <c:v>DE Bollinger</c:v>
                </c:pt>
                <c:pt idx="3">
                  <c:v>Imran Tahir</c:v>
                </c:pt>
                <c:pt idx="4">
                  <c:v>SL Malinga</c:v>
                </c:pt>
                <c:pt idx="5">
                  <c:v>S Aravind</c:v>
                </c:pt>
                <c:pt idx="6">
                  <c:v>MA Starc</c:v>
                </c:pt>
                <c:pt idx="7">
                  <c:v>YS Chahal</c:v>
                </c:pt>
                <c:pt idx="8">
                  <c:v>KK Cooper</c:v>
                </c:pt>
                <c:pt idx="9">
                  <c:v>TA Boult</c:v>
                </c:pt>
              </c:strCache>
            </c:strRef>
          </c:cat>
          <c:val>
            <c:numRef>
              <c:f>'ipl query5'!$B$2:$B$11</c:f>
              <c:numCache>
                <c:formatCode>General</c:formatCode>
                <c:ptCount val="10"/>
                <c:pt idx="0">
                  <c:v>13.77</c:v>
                </c:pt>
                <c:pt idx="1">
                  <c:v>16.13</c:v>
                </c:pt>
                <c:pt idx="2">
                  <c:v>16.22</c:v>
                </c:pt>
                <c:pt idx="3">
                  <c:v>16.43</c:v>
                </c:pt>
                <c:pt idx="4">
                  <c:v>17.489999999999998</c:v>
                </c:pt>
                <c:pt idx="5">
                  <c:v>17.510000000000002</c:v>
                </c:pt>
                <c:pt idx="6">
                  <c:v>18</c:v>
                </c:pt>
                <c:pt idx="7">
                  <c:v>18.079999999999998</c:v>
                </c:pt>
                <c:pt idx="8">
                  <c:v>18.18</c:v>
                </c:pt>
                <c:pt idx="9">
                  <c:v>18.29</c:v>
                </c:pt>
              </c:numCache>
            </c:numRef>
          </c:val>
          <c:extLst>
            <c:ext xmlns:c16="http://schemas.microsoft.com/office/drawing/2014/chart" uri="{C3380CC4-5D6E-409C-BE32-E72D297353CC}">
              <c16:uniqueId val="{00000000-E95D-4BBA-890B-E3A1D85A25A6}"/>
            </c:ext>
          </c:extLst>
        </c:ser>
        <c:dLbls>
          <c:dLblPos val="outEnd"/>
          <c:showLegendKey val="0"/>
          <c:showVal val="1"/>
          <c:showCatName val="0"/>
          <c:showSerName val="0"/>
          <c:showPercent val="0"/>
          <c:showBubbleSize val="0"/>
        </c:dLbls>
        <c:gapWidth val="315"/>
        <c:overlap val="-40"/>
        <c:axId val="1313431392"/>
        <c:axId val="1313429952"/>
      </c:barChart>
      <c:catAx>
        <c:axId val="1313431392"/>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313429952"/>
        <c:crosses val="autoZero"/>
        <c:auto val="1"/>
        <c:lblAlgn val="ctr"/>
        <c:lblOffset val="100"/>
        <c:noMultiLvlLbl val="0"/>
      </c:catAx>
      <c:valAx>
        <c:axId val="1313429952"/>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31343139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All_</a:t>
            </a:r>
            <a:r>
              <a:rPr lang="en-IN" baseline="0"/>
              <a:t> rounder</a:t>
            </a:r>
            <a:endParaRPr lang="en-IN"/>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'ipl query 6'!$B$1</c:f>
              <c:strCache>
                <c:ptCount val="1"/>
                <c:pt idx="0">
                  <c:v>batsman_sr</c:v>
                </c:pt>
              </c:strCache>
            </c:strRef>
          </c:tx>
          <c:spPr>
            <a:gradFill rotWithShape="1">
              <a:gsLst>
                <a:gs pos="0">
                  <a:schemeClr val="accent2">
                    <a:tint val="96000"/>
                    <a:lumMod val="100000"/>
                  </a:schemeClr>
                </a:gs>
                <a:gs pos="78000">
                  <a:schemeClr val="accent2">
                    <a:shade val="94000"/>
                    <a:lumMod val="94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'ipl query 6'!$A$2:$A$11</c:f>
              <c:strCache>
                <c:ptCount val="10"/>
                <c:pt idx="0">
                  <c:v>AD Russell</c:v>
                </c:pt>
                <c:pt idx="1">
                  <c:v>SP Narine</c:v>
                </c:pt>
                <c:pt idx="2">
                  <c:v>HH Pandya</c:v>
                </c:pt>
                <c:pt idx="3">
                  <c:v>GJ Maxwell</c:v>
                </c:pt>
                <c:pt idx="4">
                  <c:v>CH Gayle</c:v>
                </c:pt>
                <c:pt idx="5">
                  <c:v>KA Pollard</c:v>
                </c:pt>
                <c:pt idx="6">
                  <c:v>YK Pathan</c:v>
                </c:pt>
                <c:pt idx="7">
                  <c:v>KH Pandya</c:v>
                </c:pt>
                <c:pt idx="8">
                  <c:v>JA Morkel</c:v>
                </c:pt>
                <c:pt idx="9">
                  <c:v>Harbhajan Singh</c:v>
                </c:pt>
              </c:strCache>
            </c:strRef>
          </c:cat>
          <c:val>
            <c:numRef>
              <c:f>'ipl query 6'!$B$2:$B$11</c:f>
              <c:numCache>
                <c:formatCode>General</c:formatCode>
                <c:ptCount val="10"/>
                <c:pt idx="0">
                  <c:v>182.33</c:v>
                </c:pt>
                <c:pt idx="1">
                  <c:v>164.27</c:v>
                </c:pt>
                <c:pt idx="2">
                  <c:v>159.27000000000001</c:v>
                </c:pt>
                <c:pt idx="3">
                  <c:v>154.68</c:v>
                </c:pt>
                <c:pt idx="4">
                  <c:v>150.11000000000001</c:v>
                </c:pt>
                <c:pt idx="5">
                  <c:v>149.88</c:v>
                </c:pt>
                <c:pt idx="6">
                  <c:v>142.97</c:v>
                </c:pt>
                <c:pt idx="7">
                  <c:v>142.44999999999999</c:v>
                </c:pt>
                <c:pt idx="8">
                  <c:v>141.97999999999999</c:v>
                </c:pt>
                <c:pt idx="9">
                  <c:v>138.16999999999999</c:v>
                </c:pt>
              </c:numCache>
            </c:numRef>
          </c:val>
          <c:extLst>
            <c:ext xmlns:c16="http://schemas.microsoft.com/office/drawing/2014/chart" uri="{C3380CC4-5D6E-409C-BE32-E72D297353CC}">
              <c16:uniqueId val="{00000000-12FE-4EFF-97D4-FAD291377791}"/>
            </c:ext>
          </c:extLst>
        </c:ser>
        <c:ser>
          <c:idx val="1"/>
          <c:order val="1"/>
          <c:tx>
            <c:strRef>
              <c:f>'ipl query 6'!$C$1</c:f>
              <c:strCache>
                <c:ptCount val="1"/>
                <c:pt idx="0">
                  <c:v>bowling_sr</c:v>
                </c:pt>
              </c:strCache>
            </c:strRef>
          </c:tx>
          <c:spPr>
            <a:gradFill rotWithShape="1">
              <a:gsLst>
                <a:gs pos="0">
                  <a:schemeClr val="accent4">
                    <a:tint val="96000"/>
                    <a:lumMod val="100000"/>
                  </a:schemeClr>
                </a:gs>
                <a:gs pos="78000">
                  <a:schemeClr val="accent4">
                    <a:shade val="94000"/>
                    <a:lumMod val="94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'ipl query 6'!$A$2:$A$11</c:f>
              <c:strCache>
                <c:ptCount val="10"/>
                <c:pt idx="0">
                  <c:v>AD Russell</c:v>
                </c:pt>
                <c:pt idx="1">
                  <c:v>SP Narine</c:v>
                </c:pt>
                <c:pt idx="2">
                  <c:v>HH Pandya</c:v>
                </c:pt>
                <c:pt idx="3">
                  <c:v>GJ Maxwell</c:v>
                </c:pt>
                <c:pt idx="4">
                  <c:v>CH Gayle</c:v>
                </c:pt>
                <c:pt idx="5">
                  <c:v>KA Pollard</c:v>
                </c:pt>
                <c:pt idx="6">
                  <c:v>YK Pathan</c:v>
                </c:pt>
                <c:pt idx="7">
                  <c:v>KH Pandya</c:v>
                </c:pt>
                <c:pt idx="8">
                  <c:v>JA Morkel</c:v>
                </c:pt>
                <c:pt idx="9">
                  <c:v>Harbhajan Singh</c:v>
                </c:pt>
              </c:strCache>
            </c:strRef>
          </c:cat>
          <c:val>
            <c:numRef>
              <c:f>'ipl query 6'!$C$2:$C$11</c:f>
              <c:numCache>
                <c:formatCode>General</c:formatCode>
                <c:ptCount val="10"/>
                <c:pt idx="0">
                  <c:v>19.440000000000001</c:v>
                </c:pt>
                <c:pt idx="1">
                  <c:v>22.24</c:v>
                </c:pt>
                <c:pt idx="2">
                  <c:v>21.76</c:v>
                </c:pt>
                <c:pt idx="3">
                  <c:v>29.37</c:v>
                </c:pt>
                <c:pt idx="4">
                  <c:v>32.44</c:v>
                </c:pt>
                <c:pt idx="5">
                  <c:v>23.57</c:v>
                </c:pt>
                <c:pt idx="6">
                  <c:v>28.19</c:v>
                </c:pt>
                <c:pt idx="7">
                  <c:v>27.89</c:v>
                </c:pt>
                <c:pt idx="8">
                  <c:v>21.26</c:v>
                </c:pt>
                <c:pt idx="9">
                  <c:v>23.01</c:v>
                </c:pt>
              </c:numCache>
            </c:numRef>
          </c:val>
          <c:extLst>
            <c:ext xmlns:c16="http://schemas.microsoft.com/office/drawing/2014/chart" uri="{C3380CC4-5D6E-409C-BE32-E72D297353CC}">
              <c16:uniqueId val="{00000001-12FE-4EFF-97D4-FAD291377791}"/>
            </c:ext>
          </c:extLst>
        </c:ser>
        <c:dLbls>
          <c:dLblPos val="outEnd"/>
          <c:showLegendKey val="0"/>
          <c:showVal val="1"/>
          <c:showCatName val="0"/>
          <c:showSerName val="0"/>
          <c:showPercent val="0"/>
          <c:showBubbleSize val="0"/>
        </c:dLbls>
        <c:gapWidth val="100"/>
        <c:overlap val="-24"/>
        <c:axId val="699391648"/>
        <c:axId val="699390208"/>
      </c:barChart>
      <c:catAx>
        <c:axId val="699391648"/>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99390208"/>
        <c:crosses val="autoZero"/>
        <c:auto val="1"/>
        <c:lblAlgn val="ctr"/>
        <c:lblOffset val="100"/>
        <c:noMultiLvlLbl val="0"/>
      </c:catAx>
      <c:valAx>
        <c:axId val="699390208"/>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993916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endParaRPr lang="en-US"/>
        </a:p>
      </c:txPr>
    </c:title>
    <c:autoTitleDeleted val="0"/>
    <c:plotArea>
      <c:layout/>
      <c:barChart>
        <c:barDir val="col"/>
        <c:grouping val="clustered"/>
        <c:varyColors val="0"/>
        <c:ser>
          <c:idx val="0"/>
          <c:order val="0"/>
          <c:tx>
            <c:strRef>
              <c:f>'ipl adition 4'!$B$1</c:f>
              <c:strCache>
                <c:ptCount val="1"/>
                <c:pt idx="0">
                  <c:v>no_of_boundaries</c:v>
                </c:pt>
              </c:strCache>
            </c:strRef>
          </c:tx>
          <c:spPr>
            <a:noFill/>
            <a:ln w="9525" cap="flat" cmpd="sng" algn="ctr">
              <a:solidFill>
                <a:schemeClr val="accent1"/>
              </a:solidFill>
              <a:miter lim="800000"/>
            </a:ln>
            <a:effectLst>
              <a:glow rad="63500">
                <a:schemeClr val="accent1">
                  <a:satMod val="175000"/>
                  <a:alpha val="25000"/>
                </a:schemeClr>
              </a:glo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strRef>
              <c:f>'ipl adition 4'!$A$2:$A$16</c:f>
              <c:strCache>
                <c:ptCount val="15"/>
                <c:pt idx="0">
                  <c:v>Mumbai Indians</c:v>
                </c:pt>
                <c:pt idx="1">
                  <c:v>Royal Challengers Bangalore</c:v>
                </c:pt>
                <c:pt idx="2">
                  <c:v>Kings XI Punjab</c:v>
                </c:pt>
                <c:pt idx="3">
                  <c:v>Kolkata Knight Riders</c:v>
                </c:pt>
                <c:pt idx="4">
                  <c:v>Chennai Super Kings</c:v>
                </c:pt>
                <c:pt idx="5">
                  <c:v>Rajasthan Royals</c:v>
                </c:pt>
                <c:pt idx="6">
                  <c:v>Delhi Daredevils</c:v>
                </c:pt>
                <c:pt idx="7">
                  <c:v>Sunrisers Hyderabad</c:v>
                </c:pt>
                <c:pt idx="8">
                  <c:v>Deccan Chargers</c:v>
                </c:pt>
                <c:pt idx="9">
                  <c:v>Pune Warriors</c:v>
                </c:pt>
                <c:pt idx="10">
                  <c:v>Delhi Capitals</c:v>
                </c:pt>
                <c:pt idx="11">
                  <c:v>Gujarat Lions</c:v>
                </c:pt>
                <c:pt idx="12">
                  <c:v>Rising Pune Supergiant</c:v>
                </c:pt>
                <c:pt idx="13">
                  <c:v>Rising Pune Supergiants</c:v>
                </c:pt>
                <c:pt idx="14">
                  <c:v>Kochi Tuskers Kerala</c:v>
                </c:pt>
              </c:strCache>
            </c:strRef>
          </c:cat>
          <c:val>
            <c:numRef>
              <c:f>'ipl adition 4'!$B$2:$B$16</c:f>
              <c:numCache>
                <c:formatCode>General</c:formatCode>
                <c:ptCount val="15"/>
                <c:pt idx="0">
                  <c:v>4118</c:v>
                </c:pt>
                <c:pt idx="1">
                  <c:v>3800</c:v>
                </c:pt>
                <c:pt idx="2">
                  <c:v>3780</c:v>
                </c:pt>
                <c:pt idx="3">
                  <c:v>3739</c:v>
                </c:pt>
                <c:pt idx="4">
                  <c:v>3496</c:v>
                </c:pt>
                <c:pt idx="5">
                  <c:v>3041</c:v>
                </c:pt>
                <c:pt idx="6">
                  <c:v>3022</c:v>
                </c:pt>
                <c:pt idx="7">
                  <c:v>2306</c:v>
                </c:pt>
                <c:pt idx="8">
                  <c:v>1387</c:v>
                </c:pt>
                <c:pt idx="9">
                  <c:v>733</c:v>
                </c:pt>
                <c:pt idx="10">
                  <c:v>659</c:v>
                </c:pt>
                <c:pt idx="11">
                  <c:v>624</c:v>
                </c:pt>
                <c:pt idx="12">
                  <c:v>290</c:v>
                </c:pt>
                <c:pt idx="13">
                  <c:v>242</c:v>
                </c:pt>
                <c:pt idx="14">
                  <c:v>231</c:v>
                </c:pt>
              </c:numCache>
            </c:numRef>
          </c:val>
          <c:extLst>
            <c:ext xmlns:c16="http://schemas.microsoft.com/office/drawing/2014/chart" uri="{C3380CC4-5D6E-409C-BE32-E72D297353CC}">
              <c16:uniqueId val="{00000000-19E2-4D13-8325-818A57D7D268}"/>
            </c:ext>
          </c:extLst>
        </c:ser>
        <c:dLbls>
          <c:showLegendKey val="0"/>
          <c:showVal val="0"/>
          <c:showCatName val="0"/>
          <c:showSerName val="0"/>
          <c:showPercent val="0"/>
          <c:showBubbleSize val="0"/>
        </c:dLbls>
        <c:gapWidth val="315"/>
        <c:overlap val="-40"/>
        <c:axId val="1647815744"/>
        <c:axId val="1647817184"/>
      </c:barChart>
      <c:catAx>
        <c:axId val="1647815744"/>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647817184"/>
        <c:crosses val="autoZero"/>
        <c:auto val="1"/>
        <c:lblAlgn val="ctr"/>
        <c:lblOffset val="100"/>
        <c:noMultiLvlLbl val="0"/>
      </c:catAx>
      <c:valAx>
        <c:axId val="1647817184"/>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64781574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endParaRPr lang="en-US"/>
        </a:p>
      </c:txPr>
    </c:title>
    <c:autoTitleDeleted val="0"/>
    <c:plotArea>
      <c:layout/>
      <c:barChart>
        <c:barDir val="col"/>
        <c:grouping val="clustered"/>
        <c:varyColors val="0"/>
        <c:ser>
          <c:idx val="0"/>
          <c:order val="0"/>
          <c:tx>
            <c:strRef>
              <c:f>'ipl adition 5'!$B$1</c:f>
              <c:strCache>
                <c:ptCount val="1"/>
                <c:pt idx="0">
                  <c:v>no_of_dot_balls</c:v>
                </c:pt>
              </c:strCache>
            </c:strRef>
          </c:tx>
          <c:spPr>
            <a:noFill/>
            <a:ln w="9525" cap="flat" cmpd="sng" algn="ctr">
              <a:solidFill>
                <a:schemeClr val="accent1"/>
              </a:solidFill>
              <a:miter lim="800000"/>
            </a:ln>
            <a:effectLst>
              <a:glow rad="63500">
                <a:schemeClr val="accent1">
                  <a:satMod val="175000"/>
                  <a:alpha val="25000"/>
                </a:schemeClr>
              </a:glo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strRef>
              <c:f>'ipl adition 5'!$A$2:$A$17</c:f>
              <c:strCache>
                <c:ptCount val="16"/>
                <c:pt idx="0">
                  <c:v>Mumbai Indians</c:v>
                </c:pt>
                <c:pt idx="1">
                  <c:v>Royal Challengers Bangalore</c:v>
                </c:pt>
                <c:pt idx="2">
                  <c:v>Kolkata Knight Riders</c:v>
                </c:pt>
                <c:pt idx="3">
                  <c:v>Kings XI Punjab</c:v>
                </c:pt>
                <c:pt idx="4">
                  <c:v>Chennai Super Kings</c:v>
                </c:pt>
                <c:pt idx="5">
                  <c:v>Rajasthan Royals</c:v>
                </c:pt>
                <c:pt idx="6">
                  <c:v>Delhi Daredevils</c:v>
                </c:pt>
                <c:pt idx="7">
                  <c:v>Sunrisers Hyderabad</c:v>
                </c:pt>
                <c:pt idx="8">
                  <c:v>Deccan Chargers</c:v>
                </c:pt>
                <c:pt idx="9">
                  <c:v>Pune Warriors</c:v>
                </c:pt>
                <c:pt idx="10">
                  <c:v>Delhi Capitals</c:v>
                </c:pt>
                <c:pt idx="11">
                  <c:v>Gujarat Lions</c:v>
                </c:pt>
                <c:pt idx="12">
                  <c:v>Rising Pune Supergiant</c:v>
                </c:pt>
                <c:pt idx="13">
                  <c:v>Kochi Tuskers Kerala</c:v>
                </c:pt>
                <c:pt idx="14">
                  <c:v>Rising Pune Supergiants</c:v>
                </c:pt>
                <c:pt idx="15">
                  <c:v>NA</c:v>
                </c:pt>
              </c:strCache>
            </c:strRef>
          </c:cat>
          <c:val>
            <c:numRef>
              <c:f>'ipl adition 5'!$B$2:$B$17</c:f>
              <c:numCache>
                <c:formatCode>General</c:formatCode>
                <c:ptCount val="16"/>
                <c:pt idx="0">
                  <c:v>8714</c:v>
                </c:pt>
                <c:pt idx="1">
                  <c:v>7955</c:v>
                </c:pt>
                <c:pt idx="2">
                  <c:v>7894</c:v>
                </c:pt>
                <c:pt idx="3">
                  <c:v>7679</c:v>
                </c:pt>
                <c:pt idx="4">
                  <c:v>7593</c:v>
                </c:pt>
                <c:pt idx="5">
                  <c:v>6665</c:v>
                </c:pt>
                <c:pt idx="6">
                  <c:v>6520</c:v>
                </c:pt>
                <c:pt idx="7">
                  <c:v>5248</c:v>
                </c:pt>
                <c:pt idx="8">
                  <c:v>3306</c:v>
                </c:pt>
                <c:pt idx="9">
                  <c:v>1900</c:v>
                </c:pt>
                <c:pt idx="10">
                  <c:v>1338</c:v>
                </c:pt>
                <c:pt idx="11">
                  <c:v>1095</c:v>
                </c:pt>
                <c:pt idx="12">
                  <c:v>698</c:v>
                </c:pt>
                <c:pt idx="13">
                  <c:v>626</c:v>
                </c:pt>
                <c:pt idx="14">
                  <c:v>539</c:v>
                </c:pt>
                <c:pt idx="15">
                  <c:v>71</c:v>
                </c:pt>
              </c:numCache>
            </c:numRef>
          </c:val>
          <c:extLst>
            <c:ext xmlns:c16="http://schemas.microsoft.com/office/drawing/2014/chart" uri="{C3380CC4-5D6E-409C-BE32-E72D297353CC}">
              <c16:uniqueId val="{00000000-06D2-4E91-9446-BE7812147E32}"/>
            </c:ext>
          </c:extLst>
        </c:ser>
        <c:dLbls>
          <c:dLblPos val="outEnd"/>
          <c:showLegendKey val="0"/>
          <c:showVal val="1"/>
          <c:showCatName val="0"/>
          <c:showSerName val="0"/>
          <c:showPercent val="0"/>
          <c:showBubbleSize val="0"/>
        </c:dLbls>
        <c:gapWidth val="315"/>
        <c:overlap val="-40"/>
        <c:axId val="1601376416"/>
        <c:axId val="1601376896"/>
      </c:barChart>
      <c:catAx>
        <c:axId val="1601376416"/>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601376896"/>
        <c:crosses val="autoZero"/>
        <c:auto val="1"/>
        <c:lblAlgn val="ctr"/>
        <c:lblOffset val="100"/>
        <c:noMultiLvlLbl val="0"/>
      </c:catAx>
      <c:valAx>
        <c:axId val="1601376896"/>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60137641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'ipl adition 6'!$B$1</c:f>
              <c:strCache>
                <c:ptCount val="1"/>
                <c:pt idx="0">
                  <c:v>count</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'ipl adition 6'!$A$2:$A$10</c:f>
              <c:strCache>
                <c:ptCount val="9"/>
                <c:pt idx="0">
                  <c:v>bowled</c:v>
                </c:pt>
                <c:pt idx="1">
                  <c:v>caught</c:v>
                </c:pt>
                <c:pt idx="2">
                  <c:v>caught and bowled</c:v>
                </c:pt>
                <c:pt idx="3">
                  <c:v>hit wicket</c:v>
                </c:pt>
                <c:pt idx="4">
                  <c:v>lbw</c:v>
                </c:pt>
                <c:pt idx="5">
                  <c:v>obstructing the field</c:v>
                </c:pt>
                <c:pt idx="6">
                  <c:v>retired hurt</c:v>
                </c:pt>
                <c:pt idx="7">
                  <c:v>run out</c:v>
                </c:pt>
                <c:pt idx="8">
                  <c:v>stumped</c:v>
                </c:pt>
              </c:strCache>
            </c:strRef>
          </c:cat>
          <c:val>
            <c:numRef>
              <c:f>'ipl adition 6'!$B$2:$B$10</c:f>
              <c:numCache>
                <c:formatCode>General</c:formatCode>
                <c:ptCount val="9"/>
                <c:pt idx="0">
                  <c:v>1700</c:v>
                </c:pt>
                <c:pt idx="1">
                  <c:v>5743</c:v>
                </c:pt>
                <c:pt idx="2">
                  <c:v>269</c:v>
                </c:pt>
                <c:pt idx="3">
                  <c:v>12</c:v>
                </c:pt>
                <c:pt idx="4">
                  <c:v>571</c:v>
                </c:pt>
                <c:pt idx="5">
                  <c:v>2</c:v>
                </c:pt>
                <c:pt idx="6">
                  <c:v>11</c:v>
                </c:pt>
                <c:pt idx="7">
                  <c:v>893</c:v>
                </c:pt>
                <c:pt idx="8">
                  <c:v>294</c:v>
                </c:pt>
              </c:numCache>
            </c:numRef>
          </c:val>
          <c:extLst>
            <c:ext xmlns:c16="http://schemas.microsoft.com/office/drawing/2014/chart" uri="{C3380CC4-5D6E-409C-BE32-E72D297353CC}">
              <c16:uniqueId val="{00000000-736C-455F-BF00-D80EBCC07DC6}"/>
            </c:ext>
          </c:extLst>
        </c:ser>
        <c:dLbls>
          <c:dLblPos val="outEnd"/>
          <c:showLegendKey val="0"/>
          <c:showVal val="1"/>
          <c:showCatName val="0"/>
          <c:showSerName val="0"/>
          <c:showPercent val="0"/>
          <c:showBubbleSize val="0"/>
        </c:dLbls>
        <c:gapWidth val="100"/>
        <c:overlap val="-24"/>
        <c:axId val="1508917312"/>
        <c:axId val="1508913952"/>
      </c:barChart>
      <c:catAx>
        <c:axId val="1508917312"/>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508913952"/>
        <c:crosses val="autoZero"/>
        <c:auto val="1"/>
        <c:lblAlgn val="ctr"/>
        <c:lblOffset val="100"/>
        <c:noMultiLvlLbl val="0"/>
      </c:catAx>
      <c:valAx>
        <c:axId val="1508913952"/>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5089173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barChart>
        <c:barDir val="col"/>
        <c:grouping val="clustered"/>
        <c:varyColors val="0"/>
        <c:ser>
          <c:idx val="0"/>
          <c:order val="0"/>
          <c:tx>
            <c:strRef>
              <c:f>'ipl adition 7'!$B$1</c:f>
              <c:strCache>
                <c:ptCount val="1"/>
                <c:pt idx="0">
                  <c:v>conceded_extra_runs</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'ipl adition 7'!$A$2:$A$6</c:f>
              <c:strCache>
                <c:ptCount val="5"/>
                <c:pt idx="0">
                  <c:v>SL Malinga</c:v>
                </c:pt>
                <c:pt idx="1">
                  <c:v>P Kumar</c:v>
                </c:pt>
                <c:pt idx="2">
                  <c:v>UT Yadav</c:v>
                </c:pt>
                <c:pt idx="3">
                  <c:v>DJ Bravo</c:v>
                </c:pt>
                <c:pt idx="4">
                  <c:v>B Kumar</c:v>
                </c:pt>
              </c:strCache>
            </c:strRef>
          </c:cat>
          <c:val>
            <c:numRef>
              <c:f>'ipl adition 7'!$B$2:$B$6</c:f>
              <c:numCache>
                <c:formatCode>General</c:formatCode>
                <c:ptCount val="5"/>
                <c:pt idx="0">
                  <c:v>293</c:v>
                </c:pt>
                <c:pt idx="1">
                  <c:v>236</c:v>
                </c:pt>
                <c:pt idx="2">
                  <c:v>226</c:v>
                </c:pt>
                <c:pt idx="3">
                  <c:v>210</c:v>
                </c:pt>
                <c:pt idx="4">
                  <c:v>201</c:v>
                </c:pt>
              </c:numCache>
            </c:numRef>
          </c:val>
          <c:extLst>
            <c:ext xmlns:c16="http://schemas.microsoft.com/office/drawing/2014/chart" uri="{C3380CC4-5D6E-409C-BE32-E72D297353CC}">
              <c16:uniqueId val="{00000000-68E1-4B90-87B7-A29F59A9FA38}"/>
            </c:ext>
          </c:extLst>
        </c:ser>
        <c:dLbls>
          <c:dLblPos val="inEnd"/>
          <c:showLegendKey val="0"/>
          <c:showVal val="1"/>
          <c:showCatName val="0"/>
          <c:showSerName val="0"/>
          <c:showPercent val="0"/>
          <c:showBubbleSize val="0"/>
        </c:dLbls>
        <c:gapWidth val="65"/>
        <c:axId val="1491983200"/>
        <c:axId val="1491984160"/>
      </c:barChart>
      <c:catAx>
        <c:axId val="1491983200"/>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1491984160"/>
        <c:crosses val="autoZero"/>
        <c:auto val="1"/>
        <c:lblAlgn val="ctr"/>
        <c:lblOffset val="100"/>
        <c:noMultiLvlLbl val="0"/>
      </c:catAx>
      <c:valAx>
        <c:axId val="1491984160"/>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crossAx val="1491983200"/>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38222450689950876"/>
          <c:y val="3.7037037037037035E-2"/>
        </c:manualLayout>
      </c:layout>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'ipl addition 9'!$B$1</c:f>
              <c:strCache>
                <c:ptCount val="1"/>
                <c:pt idx="0">
                  <c:v>total_runs</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'ipl addition 9'!$A$2:$A$37</c:f>
              <c:strCache>
                <c:ptCount val="36"/>
                <c:pt idx="0">
                  <c:v>Eden Gardens</c:v>
                </c:pt>
                <c:pt idx="1">
                  <c:v>Wankhede Stadium</c:v>
                </c:pt>
                <c:pt idx="2">
                  <c:v>Feroz Shah Kotla</c:v>
                </c:pt>
                <c:pt idx="3">
                  <c:v>M Chinnaswamy Stadium</c:v>
                </c:pt>
                <c:pt idx="4">
                  <c:v>Rajiv Gandhi International Stadium, Uppal</c:v>
                </c:pt>
                <c:pt idx="5">
                  <c:v>MA Chidambaram Stadium, Chepauk</c:v>
                </c:pt>
                <c:pt idx="6">
                  <c:v>Sawai Mansingh Stadium</c:v>
                </c:pt>
                <c:pt idx="7">
                  <c:v>Punjab Cricket Association Stadium, Mohali</c:v>
                </c:pt>
                <c:pt idx="8">
                  <c:v>Dubai International Cricket Stadium</c:v>
                </c:pt>
                <c:pt idx="9">
                  <c:v>Sheikh Zayed Stadium</c:v>
                </c:pt>
                <c:pt idx="10">
                  <c:v>Punjab Cricket Association IS Bindra Stadium, Mohali</c:v>
                </c:pt>
                <c:pt idx="11">
                  <c:v>Maharashtra Cricket Association Stadium</c:v>
                </c:pt>
                <c:pt idx="12">
                  <c:v>Sharjah Cricket Stadium</c:v>
                </c:pt>
                <c:pt idx="13">
                  <c:v>M.Chinnaswamy Stadium</c:v>
                </c:pt>
                <c:pt idx="14">
                  <c:v>Dr DY Patil Sports Academy</c:v>
                </c:pt>
                <c:pt idx="15">
                  <c:v>Subrata Roy Sahara Stadium</c:v>
                </c:pt>
                <c:pt idx="16">
                  <c:v>Kingsmead</c:v>
                </c:pt>
                <c:pt idx="17">
                  <c:v>Brabourne Stadium</c:v>
                </c:pt>
                <c:pt idx="18">
                  <c:v>Dr. Y.S. Rajasekhara Reddy ACA-VDCA Cricket Stadium</c:v>
                </c:pt>
                <c:pt idx="19">
                  <c:v>Sardar Patel Stadium, Motera</c:v>
                </c:pt>
                <c:pt idx="20">
                  <c:v>SuperSport Park</c:v>
                </c:pt>
                <c:pt idx="21">
                  <c:v>Saurashtra Cricket Association Stadium</c:v>
                </c:pt>
                <c:pt idx="22">
                  <c:v>Himachal Pradesh Cricket Association Stadium</c:v>
                </c:pt>
                <c:pt idx="23">
                  <c:v>Holkar Cricket Stadium</c:v>
                </c:pt>
                <c:pt idx="24">
                  <c:v>New Wanderers Stadium</c:v>
                </c:pt>
                <c:pt idx="25">
                  <c:v>Barabati Stadium</c:v>
                </c:pt>
                <c:pt idx="26">
                  <c:v>JSCA International Stadium Complex</c:v>
                </c:pt>
                <c:pt idx="27">
                  <c:v>St George's Park</c:v>
                </c:pt>
                <c:pt idx="28">
                  <c:v>Newlands</c:v>
                </c:pt>
                <c:pt idx="29">
                  <c:v>Shaheed Veer Narayan Singh International Stadium</c:v>
                </c:pt>
                <c:pt idx="30">
                  <c:v>Nehru Stadium</c:v>
                </c:pt>
                <c:pt idx="31">
                  <c:v>Green Park</c:v>
                </c:pt>
                <c:pt idx="32">
                  <c:v>De Beers Diamond Oval</c:v>
                </c:pt>
                <c:pt idx="33">
                  <c:v>Vidarbha Cricket Association Stadium, Jamtha</c:v>
                </c:pt>
                <c:pt idx="34">
                  <c:v>Buffalo Park</c:v>
                </c:pt>
                <c:pt idx="35">
                  <c:v>OUTsurance Oval</c:v>
                </c:pt>
              </c:strCache>
            </c:strRef>
          </c:cat>
          <c:val>
            <c:numRef>
              <c:f>'ipl addition 9'!$B$2:$B$37</c:f>
              <c:numCache>
                <c:formatCode>General</c:formatCode>
                <c:ptCount val="36"/>
                <c:pt idx="0">
                  <c:v>23658</c:v>
                </c:pt>
                <c:pt idx="1">
                  <c:v>23390</c:v>
                </c:pt>
                <c:pt idx="2">
                  <c:v>22947</c:v>
                </c:pt>
                <c:pt idx="3">
                  <c:v>20237</c:v>
                </c:pt>
                <c:pt idx="4">
                  <c:v>19484</c:v>
                </c:pt>
                <c:pt idx="5">
                  <c:v>17821</c:v>
                </c:pt>
                <c:pt idx="6">
                  <c:v>14264</c:v>
                </c:pt>
                <c:pt idx="7">
                  <c:v>10987</c:v>
                </c:pt>
                <c:pt idx="8">
                  <c:v>10402</c:v>
                </c:pt>
                <c:pt idx="9">
                  <c:v>8830</c:v>
                </c:pt>
                <c:pt idx="10">
                  <c:v>7021</c:v>
                </c:pt>
                <c:pt idx="11">
                  <c:v>6780</c:v>
                </c:pt>
                <c:pt idx="12">
                  <c:v>5924</c:v>
                </c:pt>
                <c:pt idx="13">
                  <c:v>5127</c:v>
                </c:pt>
                <c:pt idx="14">
                  <c:v>4810</c:v>
                </c:pt>
                <c:pt idx="15">
                  <c:v>4755</c:v>
                </c:pt>
                <c:pt idx="16">
                  <c:v>4353</c:v>
                </c:pt>
                <c:pt idx="17">
                  <c:v>3842</c:v>
                </c:pt>
                <c:pt idx="18">
                  <c:v>3746</c:v>
                </c:pt>
                <c:pt idx="19">
                  <c:v>3746</c:v>
                </c:pt>
                <c:pt idx="20">
                  <c:v>3653</c:v>
                </c:pt>
                <c:pt idx="21">
                  <c:v>3316</c:v>
                </c:pt>
                <c:pt idx="22">
                  <c:v>2897</c:v>
                </c:pt>
                <c:pt idx="23">
                  <c:v>2872</c:v>
                </c:pt>
                <c:pt idx="24">
                  <c:v>2292</c:v>
                </c:pt>
                <c:pt idx="25">
                  <c:v>2278</c:v>
                </c:pt>
                <c:pt idx="26">
                  <c:v>2056</c:v>
                </c:pt>
                <c:pt idx="27">
                  <c:v>2033</c:v>
                </c:pt>
                <c:pt idx="28">
                  <c:v>1764</c:v>
                </c:pt>
                <c:pt idx="29">
                  <c:v>1741</c:v>
                </c:pt>
                <c:pt idx="30">
                  <c:v>1363</c:v>
                </c:pt>
                <c:pt idx="31">
                  <c:v>1298</c:v>
                </c:pt>
                <c:pt idx="32">
                  <c:v>897</c:v>
                </c:pt>
                <c:pt idx="33">
                  <c:v>882</c:v>
                </c:pt>
                <c:pt idx="34">
                  <c:v>799</c:v>
                </c:pt>
                <c:pt idx="35">
                  <c:v>529</c:v>
                </c:pt>
              </c:numCache>
            </c:numRef>
          </c:val>
          <c:extLst>
            <c:ext xmlns:c16="http://schemas.microsoft.com/office/drawing/2014/chart" uri="{C3380CC4-5D6E-409C-BE32-E72D297353CC}">
              <c16:uniqueId val="{00000000-E345-4B48-BCCD-49BEC1E72D69}"/>
            </c:ext>
          </c:extLst>
        </c:ser>
        <c:dLbls>
          <c:dLblPos val="outEnd"/>
          <c:showLegendKey val="0"/>
          <c:showVal val="1"/>
          <c:showCatName val="0"/>
          <c:showSerName val="0"/>
          <c:showPercent val="0"/>
          <c:showBubbleSize val="0"/>
        </c:dLbls>
        <c:gapWidth val="444"/>
        <c:overlap val="-90"/>
        <c:axId val="1600903152"/>
        <c:axId val="1600902192"/>
      </c:barChart>
      <c:catAx>
        <c:axId val="16009031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n-lt"/>
                <a:ea typeface="+mn-ea"/>
                <a:cs typeface="+mn-cs"/>
              </a:defRPr>
            </a:pPr>
            <a:endParaRPr lang="en-US"/>
          </a:p>
        </c:txPr>
        <c:crossAx val="1600902192"/>
        <c:crosses val="autoZero"/>
        <c:auto val="1"/>
        <c:lblAlgn val="ctr"/>
        <c:lblOffset val="100"/>
        <c:noMultiLvlLbl val="0"/>
      </c:catAx>
      <c:valAx>
        <c:axId val="1600902192"/>
        <c:scaling>
          <c:orientation val="minMax"/>
        </c:scaling>
        <c:delete val="1"/>
        <c:axPos val="l"/>
        <c:numFmt formatCode="General" sourceLinked="1"/>
        <c:majorTickMark val="none"/>
        <c:minorTickMark val="none"/>
        <c:tickLblPos val="nextTo"/>
        <c:crossAx val="16009031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2">
        <a:lumMod val="20000"/>
        <a:lumOff val="80000"/>
      </a:schemeClr>
    </a:solidFill>
    <a:ln w="9525" cap="flat" cmpd="sng" algn="ctr">
      <a:solidFill>
        <a:schemeClr val="bg2"/>
      </a:solidFill>
      <a:round/>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r>
              <a:rPr lang="en-IN"/>
              <a:t>yearwise total run</a:t>
            </a:r>
          </a:p>
        </c:rich>
      </c:tx>
      <c:overlay val="0"/>
      <c:spPr>
        <a:noFill/>
        <a:ln>
          <a:noFill/>
        </a:ln>
        <a:effectLst/>
      </c:spPr>
      <c:txPr>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endParaRPr lang="en-US"/>
        </a:p>
      </c:txPr>
    </c:title>
    <c:autoTitleDeleted val="0"/>
    <c:plotArea>
      <c:layout/>
      <c:barChart>
        <c:barDir val="col"/>
        <c:grouping val="clustered"/>
        <c:varyColors val="0"/>
        <c:ser>
          <c:idx val="1"/>
          <c:order val="1"/>
          <c:tx>
            <c:strRef>
              <c:f>'ipl addition 10'!$B$1</c:f>
              <c:strCache>
                <c:ptCount val="1"/>
                <c:pt idx="0">
                  <c:v>total_runs</c:v>
                </c:pt>
              </c:strCache>
            </c:strRef>
          </c:tx>
          <c:spPr>
            <a:noFill/>
            <a:ln w="9525" cap="flat" cmpd="sng" algn="ctr">
              <a:solidFill>
                <a:schemeClr val="accent2"/>
              </a:solidFill>
              <a:miter lim="800000"/>
            </a:ln>
            <a:effectLst>
              <a:glow rad="63500">
                <a:schemeClr val="accent2">
                  <a:satMod val="175000"/>
                  <a:alpha val="25000"/>
                </a:schemeClr>
              </a:glo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numRef>
              <c:f>'ipl addition 10'!$A$2:$A$12</c:f>
              <c:numCache>
                <c:formatCode>General</c:formatCode>
                <c:ptCount val="11"/>
                <c:pt idx="0">
                  <c:v>2018</c:v>
                </c:pt>
                <c:pt idx="1">
                  <c:v>2019</c:v>
                </c:pt>
                <c:pt idx="2">
                  <c:v>2015</c:v>
                </c:pt>
                <c:pt idx="3">
                  <c:v>2013</c:v>
                </c:pt>
                <c:pt idx="4">
                  <c:v>2017</c:v>
                </c:pt>
                <c:pt idx="5">
                  <c:v>2010</c:v>
                </c:pt>
                <c:pt idx="6">
                  <c:v>2016</c:v>
                </c:pt>
                <c:pt idx="7">
                  <c:v>2012</c:v>
                </c:pt>
                <c:pt idx="8">
                  <c:v>2011</c:v>
                </c:pt>
                <c:pt idx="9">
                  <c:v>2008</c:v>
                </c:pt>
                <c:pt idx="10">
                  <c:v>2014</c:v>
                </c:pt>
              </c:numCache>
            </c:numRef>
          </c:cat>
          <c:val>
            <c:numRef>
              <c:f>'ipl addition 10'!$B$2:$B$12</c:f>
              <c:numCache>
                <c:formatCode>General</c:formatCode>
                <c:ptCount val="11"/>
                <c:pt idx="0">
                  <c:v>2885</c:v>
                </c:pt>
                <c:pt idx="1">
                  <c:v>2651</c:v>
                </c:pt>
                <c:pt idx="2">
                  <c:v>2386</c:v>
                </c:pt>
                <c:pt idx="3">
                  <c:v>2304</c:v>
                </c:pt>
                <c:pt idx="4">
                  <c:v>2194</c:v>
                </c:pt>
                <c:pt idx="5">
                  <c:v>2167</c:v>
                </c:pt>
                <c:pt idx="6">
                  <c:v>2073</c:v>
                </c:pt>
                <c:pt idx="7">
                  <c:v>2012</c:v>
                </c:pt>
                <c:pt idx="8">
                  <c:v>1854</c:v>
                </c:pt>
                <c:pt idx="9">
                  <c:v>1843</c:v>
                </c:pt>
                <c:pt idx="10">
                  <c:v>1289</c:v>
                </c:pt>
              </c:numCache>
            </c:numRef>
          </c:val>
          <c:extLst>
            <c:ext xmlns:c16="http://schemas.microsoft.com/office/drawing/2014/chart" uri="{C3380CC4-5D6E-409C-BE32-E72D297353CC}">
              <c16:uniqueId val="{00000000-B2FE-4819-9EE7-7ABF322818EF}"/>
            </c:ext>
          </c:extLst>
        </c:ser>
        <c:dLbls>
          <c:dLblPos val="outEnd"/>
          <c:showLegendKey val="0"/>
          <c:showVal val="1"/>
          <c:showCatName val="0"/>
          <c:showSerName val="0"/>
          <c:showPercent val="0"/>
          <c:showBubbleSize val="0"/>
        </c:dLbls>
        <c:gapWidth val="315"/>
        <c:overlap val="-40"/>
        <c:axId val="1589123056"/>
        <c:axId val="1589121136"/>
        <c:extLst>
          <c:ext xmlns:c15="http://schemas.microsoft.com/office/drawing/2012/chart" uri="{02D57815-91ED-43cb-92C2-25804820EDAC}">
            <c15:filteredBarSeries>
              <c15:ser>
                <c:idx val="0"/>
                <c:order val="0"/>
                <c:tx>
                  <c:strRef>
                    <c:extLst>
                      <c:ext uri="{02D57815-91ED-43cb-92C2-25804820EDAC}">
                        <c15:formulaRef>
                          <c15:sqref>'ipl addition 10'!$A$1</c15:sqref>
                        </c15:formulaRef>
                      </c:ext>
                    </c:extLst>
                    <c:strCache>
                      <c:ptCount val="1"/>
                      <c:pt idx="0">
                        <c:v>yearwise_total_run</c:v>
                      </c:pt>
                    </c:strCache>
                  </c:strRef>
                </c:tx>
                <c:spPr>
                  <a:noFill/>
                  <a:ln w="9525" cap="flat" cmpd="sng" algn="ctr">
                    <a:solidFill>
                      <a:schemeClr val="accent1"/>
                    </a:solidFill>
                    <a:miter lim="800000"/>
                  </a:ln>
                  <a:effectLst>
                    <a:glow rad="63500">
                      <a:schemeClr val="accent1">
                        <a:satMod val="175000"/>
                        <a:alpha val="25000"/>
                      </a:schemeClr>
                    </a:glo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uri="{CE6537A1-D6FC-4f65-9D91-7224C49458BB}">
                      <c15:showLeaderLines val="1"/>
                      <c15:leaderLines>
                        <c:spPr>
                          <a:ln w="9525">
                            <a:solidFill>
                              <a:schemeClr val="lt1">
                                <a:lumMod val="50000"/>
                              </a:schemeClr>
                            </a:solidFill>
                            <a:round/>
                          </a:ln>
                          <a:effectLst/>
                        </c:spPr>
                      </c15:leaderLines>
                    </c:ext>
                  </c:extLst>
                </c:dLbls>
                <c:cat>
                  <c:numRef>
                    <c:extLst>
                      <c:ext uri="{02D57815-91ED-43cb-92C2-25804820EDAC}">
                        <c15:formulaRef>
                          <c15:sqref>'ipl addition 10'!$A$2:$A$12</c15:sqref>
                        </c15:formulaRef>
                      </c:ext>
                    </c:extLst>
                    <c:numCache>
                      <c:formatCode>General</c:formatCode>
                      <c:ptCount val="11"/>
                      <c:pt idx="0">
                        <c:v>2018</c:v>
                      </c:pt>
                      <c:pt idx="1">
                        <c:v>2019</c:v>
                      </c:pt>
                      <c:pt idx="2">
                        <c:v>2015</c:v>
                      </c:pt>
                      <c:pt idx="3">
                        <c:v>2013</c:v>
                      </c:pt>
                      <c:pt idx="4">
                        <c:v>2017</c:v>
                      </c:pt>
                      <c:pt idx="5">
                        <c:v>2010</c:v>
                      </c:pt>
                      <c:pt idx="6">
                        <c:v>2016</c:v>
                      </c:pt>
                      <c:pt idx="7">
                        <c:v>2012</c:v>
                      </c:pt>
                      <c:pt idx="8">
                        <c:v>2011</c:v>
                      </c:pt>
                      <c:pt idx="9">
                        <c:v>2008</c:v>
                      </c:pt>
                      <c:pt idx="10">
                        <c:v>2014</c:v>
                      </c:pt>
                    </c:numCache>
                  </c:numRef>
                </c:cat>
                <c:val>
                  <c:numRef>
                    <c:extLst>
                      <c:ext uri="{02D57815-91ED-43cb-92C2-25804820EDAC}">
                        <c15:formulaRef>
                          <c15:sqref>'ipl addition 10'!$A$2:$A$12</c15:sqref>
                        </c15:formulaRef>
                      </c:ext>
                    </c:extLst>
                    <c:numCache>
                      <c:formatCode>General</c:formatCode>
                      <c:ptCount val="11"/>
                      <c:pt idx="0">
                        <c:v>2018</c:v>
                      </c:pt>
                      <c:pt idx="1">
                        <c:v>2019</c:v>
                      </c:pt>
                      <c:pt idx="2">
                        <c:v>2015</c:v>
                      </c:pt>
                      <c:pt idx="3">
                        <c:v>2013</c:v>
                      </c:pt>
                      <c:pt idx="4">
                        <c:v>2017</c:v>
                      </c:pt>
                      <c:pt idx="5">
                        <c:v>2010</c:v>
                      </c:pt>
                      <c:pt idx="6">
                        <c:v>2016</c:v>
                      </c:pt>
                      <c:pt idx="7">
                        <c:v>2012</c:v>
                      </c:pt>
                      <c:pt idx="8">
                        <c:v>2011</c:v>
                      </c:pt>
                      <c:pt idx="9">
                        <c:v>2008</c:v>
                      </c:pt>
                      <c:pt idx="10">
                        <c:v>2014</c:v>
                      </c:pt>
                    </c:numCache>
                  </c:numRef>
                </c:val>
                <c:extLst>
                  <c:ext xmlns:c16="http://schemas.microsoft.com/office/drawing/2014/chart" uri="{C3380CC4-5D6E-409C-BE32-E72D297353CC}">
                    <c16:uniqueId val="{00000001-B2FE-4819-9EE7-7ABF322818EF}"/>
                  </c:ext>
                </c:extLst>
              </c15:ser>
            </c15:filteredBarSeries>
          </c:ext>
        </c:extLst>
      </c:barChart>
      <c:catAx>
        <c:axId val="1589123056"/>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589121136"/>
        <c:crosses val="autoZero"/>
        <c:auto val="1"/>
        <c:lblAlgn val="ctr"/>
        <c:lblOffset val="100"/>
        <c:noMultiLvlLbl val="0"/>
      </c:catAx>
      <c:valAx>
        <c:axId val="1589121136"/>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58912305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213">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7.xml><?xml version="1.0" encoding="utf-8"?>
<cs:chartStyle xmlns:cs="http://schemas.microsoft.com/office/drawing/2012/chartStyle" xmlns:a="http://schemas.openxmlformats.org/drawingml/2006/main" id="213">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13">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10.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11.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12.xml><?xml version="1.0" encoding="utf-8"?>
<cs:chartStyle xmlns:cs="http://schemas.microsoft.com/office/drawing/2012/chartStyle" xmlns:a="http://schemas.openxmlformats.org/drawingml/2006/main" id="213">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89EC9B-0904-473B-AADC-91B4ED7C780A}" type="datetimeFigureOut">
              <a:rPr lang="en-IN" smtClean="0"/>
              <a:t>11-06-2024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D39232-ECC7-4D55-8284-FC5CC4AE393A}" type="slidenum">
              <a:rPr lang="en-IN" smtClean="0"/>
              <a:t>‹#›</a:t>
            </a:fld>
            <a:endParaRPr lang="en-IN"/>
          </a:p>
        </p:txBody>
      </p:sp>
    </p:spTree>
    <p:extLst>
      <p:ext uri="{BB962C8B-B14F-4D97-AF65-F5344CB8AC3E}">
        <p14:creationId xmlns:p14="http://schemas.microsoft.com/office/powerpoint/2010/main" val="3946196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CD39232-ECC7-4D55-8284-FC5CC4AE393A}" type="slidenum">
              <a:rPr lang="en-IN" smtClean="0"/>
              <a:t>3</a:t>
            </a:fld>
            <a:endParaRPr lang="en-IN"/>
          </a:p>
        </p:txBody>
      </p:sp>
    </p:spTree>
    <p:extLst>
      <p:ext uri="{BB962C8B-B14F-4D97-AF65-F5344CB8AC3E}">
        <p14:creationId xmlns:p14="http://schemas.microsoft.com/office/powerpoint/2010/main" val="214497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3E40A8C-3D04-40C7-B930-D6EFFCA731EF}" type="datetimeFigureOut">
              <a:rPr lang="en-IN" smtClean="0"/>
              <a:t>11-06-2024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08E360-B884-4A84-9509-7E6F8E348E0C}" type="slidenum">
              <a:rPr lang="en-IN" smtClean="0"/>
              <a:t>‹#›</a:t>
            </a:fld>
            <a:endParaRPr lang="en-IN"/>
          </a:p>
        </p:txBody>
      </p:sp>
    </p:spTree>
    <p:extLst>
      <p:ext uri="{BB962C8B-B14F-4D97-AF65-F5344CB8AC3E}">
        <p14:creationId xmlns:p14="http://schemas.microsoft.com/office/powerpoint/2010/main" val="1881803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E40A8C-3D04-40C7-B930-D6EFFCA731EF}" type="datetimeFigureOut">
              <a:rPr lang="en-IN" smtClean="0"/>
              <a:t>11-06-2024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08E360-B884-4A84-9509-7E6F8E348E0C}" type="slidenum">
              <a:rPr lang="en-IN" smtClean="0"/>
              <a:t>‹#›</a:t>
            </a:fld>
            <a:endParaRPr lang="en-IN"/>
          </a:p>
        </p:txBody>
      </p:sp>
    </p:spTree>
    <p:extLst>
      <p:ext uri="{BB962C8B-B14F-4D97-AF65-F5344CB8AC3E}">
        <p14:creationId xmlns:p14="http://schemas.microsoft.com/office/powerpoint/2010/main" val="4293524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E40A8C-3D04-40C7-B930-D6EFFCA731EF}" type="datetimeFigureOut">
              <a:rPr lang="en-IN" smtClean="0"/>
              <a:t>11-06-2024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08E360-B884-4A84-9509-7E6F8E348E0C}" type="slidenum">
              <a:rPr lang="en-IN" smtClean="0"/>
              <a:t>‹#›</a:t>
            </a:fld>
            <a:endParaRPr lang="en-IN"/>
          </a:p>
        </p:txBody>
      </p:sp>
    </p:spTree>
    <p:extLst>
      <p:ext uri="{BB962C8B-B14F-4D97-AF65-F5344CB8AC3E}">
        <p14:creationId xmlns:p14="http://schemas.microsoft.com/office/powerpoint/2010/main" val="2976818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3E40A8C-3D04-40C7-B930-D6EFFCA731EF}" type="datetimeFigureOut">
              <a:rPr lang="en-IN" smtClean="0"/>
              <a:t>11-06-2024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08E360-B884-4A84-9509-7E6F8E348E0C}" type="slidenum">
              <a:rPr lang="en-IN" smtClean="0"/>
              <a:t>‹#›</a:t>
            </a:fld>
            <a:endParaRPr lang="en-IN"/>
          </a:p>
        </p:txBody>
      </p:sp>
    </p:spTree>
    <p:extLst>
      <p:ext uri="{BB962C8B-B14F-4D97-AF65-F5344CB8AC3E}">
        <p14:creationId xmlns:p14="http://schemas.microsoft.com/office/powerpoint/2010/main" val="2305080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3E40A8C-3D04-40C7-B930-D6EFFCA731EF}" type="datetimeFigureOut">
              <a:rPr lang="en-IN" smtClean="0"/>
              <a:t>11-06-2024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008E360-B884-4A84-9509-7E6F8E348E0C}" type="slidenum">
              <a:rPr lang="en-IN" smtClean="0"/>
              <a:t>‹#›</a:t>
            </a:fld>
            <a:endParaRPr lang="en-IN"/>
          </a:p>
        </p:txBody>
      </p:sp>
    </p:spTree>
    <p:extLst>
      <p:ext uri="{BB962C8B-B14F-4D97-AF65-F5344CB8AC3E}">
        <p14:creationId xmlns:p14="http://schemas.microsoft.com/office/powerpoint/2010/main" val="3554134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3E40A8C-3D04-40C7-B930-D6EFFCA731EF}" type="datetimeFigureOut">
              <a:rPr lang="en-IN" smtClean="0"/>
              <a:t>11-06-2024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008E360-B884-4A84-9509-7E6F8E348E0C}" type="slidenum">
              <a:rPr lang="en-IN" smtClean="0"/>
              <a:t>‹#›</a:t>
            </a:fld>
            <a:endParaRPr lang="en-IN"/>
          </a:p>
        </p:txBody>
      </p:sp>
    </p:spTree>
    <p:extLst>
      <p:ext uri="{BB962C8B-B14F-4D97-AF65-F5344CB8AC3E}">
        <p14:creationId xmlns:p14="http://schemas.microsoft.com/office/powerpoint/2010/main" val="7352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E40A8C-3D04-40C7-B930-D6EFFCA731EF}" type="datetimeFigureOut">
              <a:rPr lang="en-IN" smtClean="0"/>
              <a:t>11-06-2024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008E360-B884-4A84-9509-7E6F8E348E0C}" type="slidenum">
              <a:rPr lang="en-IN" smtClean="0"/>
              <a:t>‹#›</a:t>
            </a:fld>
            <a:endParaRPr lang="en-IN"/>
          </a:p>
        </p:txBody>
      </p:sp>
    </p:spTree>
    <p:extLst>
      <p:ext uri="{BB962C8B-B14F-4D97-AF65-F5344CB8AC3E}">
        <p14:creationId xmlns:p14="http://schemas.microsoft.com/office/powerpoint/2010/main" val="3434064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E40A8C-3D04-40C7-B930-D6EFFCA731EF}" type="datetimeFigureOut">
              <a:rPr lang="en-IN" smtClean="0"/>
              <a:t>11-06-2024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08E360-B884-4A84-9509-7E6F8E348E0C}" type="slidenum">
              <a:rPr lang="en-IN" smtClean="0"/>
              <a:t>‹#›</a:t>
            </a:fld>
            <a:endParaRPr lang="en-IN"/>
          </a:p>
        </p:txBody>
      </p:sp>
    </p:spTree>
    <p:extLst>
      <p:ext uri="{BB962C8B-B14F-4D97-AF65-F5344CB8AC3E}">
        <p14:creationId xmlns:p14="http://schemas.microsoft.com/office/powerpoint/2010/main" val="1476282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08E360-B884-4A84-9509-7E6F8E348E0C}" type="slidenum">
              <a:rPr lang="en-IN" smtClean="0"/>
              <a:t>‹#›</a:t>
            </a:fld>
            <a:endParaRPr lang="en-IN"/>
          </a:p>
        </p:txBody>
      </p:sp>
      <p:sp>
        <p:nvSpPr>
          <p:cNvPr id="5" name="Date Placeholder 4"/>
          <p:cNvSpPr>
            <a:spLocks noGrp="1"/>
          </p:cNvSpPr>
          <p:nvPr>
            <p:ph type="dt" sz="half" idx="10"/>
          </p:nvPr>
        </p:nvSpPr>
        <p:spPr/>
        <p:txBody>
          <a:bodyPr/>
          <a:lstStyle/>
          <a:p>
            <a:fld id="{E3E40A8C-3D04-40C7-B930-D6EFFCA731EF}" type="datetimeFigureOut">
              <a:rPr lang="en-IN" smtClean="0"/>
              <a:t>11-06-2024</a:t>
            </a:fld>
            <a:endParaRPr lang="en-IN"/>
          </a:p>
        </p:txBody>
      </p:sp>
    </p:spTree>
    <p:extLst>
      <p:ext uri="{BB962C8B-B14F-4D97-AF65-F5344CB8AC3E}">
        <p14:creationId xmlns:p14="http://schemas.microsoft.com/office/powerpoint/2010/main" val="3349723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E40A8C-3D04-40C7-B930-D6EFFCA731EF}" type="datetimeFigureOut">
              <a:rPr lang="en-IN" smtClean="0"/>
              <a:t>11-06-2024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08E360-B884-4A84-9509-7E6F8E348E0C}" type="slidenum">
              <a:rPr lang="en-IN" smtClean="0"/>
              <a:t>‹#›</a:t>
            </a:fld>
            <a:endParaRPr lang="en-IN"/>
          </a:p>
        </p:txBody>
      </p:sp>
    </p:spTree>
    <p:extLst>
      <p:ext uri="{BB962C8B-B14F-4D97-AF65-F5344CB8AC3E}">
        <p14:creationId xmlns:p14="http://schemas.microsoft.com/office/powerpoint/2010/main" val="397041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E40A8C-3D04-40C7-B930-D6EFFCA731EF}" type="datetimeFigureOut">
              <a:rPr lang="en-IN" smtClean="0"/>
              <a:t>11-06-2024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08E360-B884-4A84-9509-7E6F8E348E0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97580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E40A8C-3D04-40C7-B930-D6EFFCA731EF}" type="datetimeFigureOut">
              <a:rPr lang="en-IN" smtClean="0"/>
              <a:t>11-06-2024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08E360-B884-4A84-9509-7E6F8E348E0C}" type="slidenum">
              <a:rPr lang="en-IN" smtClean="0"/>
              <a:t>‹#›</a:t>
            </a:fld>
            <a:endParaRPr lang="en-IN"/>
          </a:p>
        </p:txBody>
      </p:sp>
    </p:spTree>
    <p:extLst>
      <p:ext uri="{BB962C8B-B14F-4D97-AF65-F5344CB8AC3E}">
        <p14:creationId xmlns:p14="http://schemas.microsoft.com/office/powerpoint/2010/main" val="18486217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E40A8C-3D04-40C7-B930-D6EFFCA731EF}" type="datetimeFigureOut">
              <a:rPr lang="en-IN" smtClean="0"/>
              <a:t>11-06-2024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08E360-B884-4A84-9509-7E6F8E348E0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067968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E40A8C-3D04-40C7-B930-D6EFFCA731EF}" type="datetimeFigureOut">
              <a:rPr lang="en-IN" smtClean="0"/>
              <a:t>11-06-2024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08E360-B884-4A84-9509-7E6F8E348E0C}" type="slidenum">
              <a:rPr lang="en-IN" smtClean="0"/>
              <a:t>‹#›</a:t>
            </a:fld>
            <a:endParaRPr lang="en-IN"/>
          </a:p>
        </p:txBody>
      </p:sp>
    </p:spTree>
    <p:extLst>
      <p:ext uri="{BB962C8B-B14F-4D97-AF65-F5344CB8AC3E}">
        <p14:creationId xmlns:p14="http://schemas.microsoft.com/office/powerpoint/2010/main" val="32552524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E40A8C-3D04-40C7-B930-D6EFFCA731EF}" type="datetimeFigureOut">
              <a:rPr lang="en-IN" smtClean="0"/>
              <a:t>11-06-2024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08E360-B884-4A84-9509-7E6F8E348E0C}" type="slidenum">
              <a:rPr lang="en-IN" smtClean="0"/>
              <a:t>‹#›</a:t>
            </a:fld>
            <a:endParaRPr lang="en-IN"/>
          </a:p>
        </p:txBody>
      </p:sp>
    </p:spTree>
    <p:extLst>
      <p:ext uri="{BB962C8B-B14F-4D97-AF65-F5344CB8AC3E}">
        <p14:creationId xmlns:p14="http://schemas.microsoft.com/office/powerpoint/2010/main" val="21563743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E40A8C-3D04-40C7-B930-D6EFFCA731EF}" type="datetimeFigureOut">
              <a:rPr lang="en-IN" smtClean="0"/>
              <a:t>11-06-2024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08E360-B884-4A84-9509-7E6F8E348E0C}" type="slidenum">
              <a:rPr lang="en-IN" smtClean="0"/>
              <a:t>‹#›</a:t>
            </a:fld>
            <a:endParaRPr lang="en-IN"/>
          </a:p>
        </p:txBody>
      </p:sp>
    </p:spTree>
    <p:extLst>
      <p:ext uri="{BB962C8B-B14F-4D97-AF65-F5344CB8AC3E}">
        <p14:creationId xmlns:p14="http://schemas.microsoft.com/office/powerpoint/2010/main" val="4188258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3E40A8C-3D04-40C7-B930-D6EFFCA731EF}" type="datetimeFigureOut">
              <a:rPr lang="en-IN" smtClean="0"/>
              <a:t>11-06-2024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008E360-B884-4A84-9509-7E6F8E348E0C}" type="slidenum">
              <a:rPr lang="en-IN" smtClean="0"/>
              <a:t>‹#›</a:t>
            </a:fld>
            <a:endParaRPr lang="en-IN"/>
          </a:p>
        </p:txBody>
      </p:sp>
    </p:spTree>
    <p:extLst>
      <p:ext uri="{BB962C8B-B14F-4D97-AF65-F5344CB8AC3E}">
        <p14:creationId xmlns:p14="http://schemas.microsoft.com/office/powerpoint/2010/main" val="4214346597"/>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CBB611A-4DE0-3BFF-D124-D270B268B03F}"/>
              </a:ext>
            </a:extLst>
          </p:cNvPr>
          <p:cNvSpPr>
            <a:spLocks noGrp="1"/>
          </p:cNvSpPr>
          <p:nvPr>
            <p:ph type="title"/>
          </p:nvPr>
        </p:nvSpPr>
        <p:spPr>
          <a:xfrm>
            <a:off x="677334" y="4630994"/>
            <a:ext cx="9449892" cy="736344"/>
          </a:xfrm>
        </p:spPr>
        <p:txBody>
          <a:bodyPr>
            <a:noAutofit/>
          </a:bodyPr>
          <a:lstStyle/>
          <a:p>
            <a:pPr algn="ctr"/>
            <a:r>
              <a:rPr lang="en-US" sz="3200" b="1" dirty="0">
                <a:solidFill>
                  <a:srgbClr val="002060"/>
                </a:solidFill>
              </a:rPr>
              <a:t>IPL AUCTION</a:t>
            </a:r>
            <a:endParaRPr lang="en-IN" sz="3200" b="1" dirty="0">
              <a:solidFill>
                <a:srgbClr val="002060"/>
              </a:solidFill>
            </a:endParaRPr>
          </a:p>
        </p:txBody>
      </p:sp>
      <p:pic>
        <p:nvPicPr>
          <p:cNvPr id="3" name="Picture Placeholder 2">
            <a:extLst>
              <a:ext uri="{FF2B5EF4-FFF2-40B4-BE49-F238E27FC236}">
                <a16:creationId xmlns:a16="http://schemas.microsoft.com/office/drawing/2014/main" id="{53C663F8-F7C5-6210-56CA-66839C8E5023}"/>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14180" b="14180"/>
          <a:stretch>
            <a:fillRect/>
          </a:stretch>
        </p:blipFill>
        <p:spPr/>
      </p:pic>
    </p:spTree>
    <p:extLst>
      <p:ext uri="{BB962C8B-B14F-4D97-AF65-F5344CB8AC3E}">
        <p14:creationId xmlns:p14="http://schemas.microsoft.com/office/powerpoint/2010/main" val="42221163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4AE5DF4-0766-3117-9AEE-8BA50A647BB9}"/>
              </a:ext>
            </a:extLst>
          </p:cNvPr>
          <p:cNvSpPr txBox="1"/>
          <p:nvPr/>
        </p:nvSpPr>
        <p:spPr>
          <a:xfrm>
            <a:off x="481781" y="648929"/>
            <a:ext cx="8976851" cy="400110"/>
          </a:xfrm>
          <a:prstGeom prst="rect">
            <a:avLst/>
          </a:prstGeom>
          <a:noFill/>
        </p:spPr>
        <p:txBody>
          <a:bodyPr wrap="square" rtlCol="0">
            <a:spAutoFit/>
          </a:bodyPr>
          <a:lstStyle/>
          <a:p>
            <a:r>
              <a:rPr lang="en-US" sz="2000" b="1" dirty="0"/>
              <a:t>Create IPL_Ball Table</a:t>
            </a:r>
            <a:endParaRPr lang="en-IN" sz="2000" b="1" dirty="0"/>
          </a:p>
        </p:txBody>
      </p:sp>
      <p:sp>
        <p:nvSpPr>
          <p:cNvPr id="6" name="TextBox 5">
            <a:extLst>
              <a:ext uri="{FF2B5EF4-FFF2-40B4-BE49-F238E27FC236}">
                <a16:creationId xmlns:a16="http://schemas.microsoft.com/office/drawing/2014/main" id="{41C73DB7-3748-7DF7-DCEE-CB55D308F1E2}"/>
              </a:ext>
            </a:extLst>
          </p:cNvPr>
          <p:cNvSpPr txBox="1"/>
          <p:nvPr/>
        </p:nvSpPr>
        <p:spPr>
          <a:xfrm>
            <a:off x="481781" y="1049039"/>
            <a:ext cx="8013290" cy="2339102"/>
          </a:xfrm>
          <a:prstGeom prst="rect">
            <a:avLst/>
          </a:prstGeom>
          <a:noFill/>
        </p:spPr>
        <p:txBody>
          <a:bodyPr wrap="square" rtlCol="0">
            <a:spAutoFit/>
          </a:bodyPr>
          <a:lstStyle/>
          <a:p>
            <a:r>
              <a:rPr lang="en-IN" sz="2000" b="1" dirty="0"/>
              <a:t>Query</a:t>
            </a:r>
          </a:p>
          <a:p>
            <a:r>
              <a:rPr lang="en-IN" dirty="0"/>
              <a:t>create Table IPL_Ball (Id int, inning int, over int, ball int, batsman varchar, non_striker varchar, bowler varchar, batsman_runs int, extra_runs int, total_runs int, is_wicket int, dismissal_kind varchar, player_dismissed varchar, fielder varchar, extras_type varchar, batting_team varchar, bowling_team varchar);Copy IPL_Ball from 'C:\Program Files\PostgreSQL\14\data\IPL_Ball.csv' csv header; </a:t>
            </a:r>
          </a:p>
          <a:p>
            <a:r>
              <a:rPr lang="en-IN" dirty="0"/>
              <a:t>Select * from IPL_Ball;</a:t>
            </a:r>
          </a:p>
        </p:txBody>
      </p:sp>
      <p:sp>
        <p:nvSpPr>
          <p:cNvPr id="7" name="TextBox 6">
            <a:extLst>
              <a:ext uri="{FF2B5EF4-FFF2-40B4-BE49-F238E27FC236}">
                <a16:creationId xmlns:a16="http://schemas.microsoft.com/office/drawing/2014/main" id="{B85CDCEE-A3FA-A872-7519-44603F398C68}"/>
              </a:ext>
            </a:extLst>
          </p:cNvPr>
          <p:cNvSpPr txBox="1"/>
          <p:nvPr/>
        </p:nvSpPr>
        <p:spPr>
          <a:xfrm>
            <a:off x="481781" y="3536204"/>
            <a:ext cx="6292645" cy="400110"/>
          </a:xfrm>
          <a:prstGeom prst="rect">
            <a:avLst/>
          </a:prstGeom>
          <a:noFill/>
        </p:spPr>
        <p:txBody>
          <a:bodyPr wrap="square" rtlCol="0">
            <a:spAutoFit/>
          </a:bodyPr>
          <a:lstStyle/>
          <a:p>
            <a:r>
              <a:rPr lang="en-US" sz="2000" b="1" dirty="0"/>
              <a:t>Create IPL_matches Table</a:t>
            </a:r>
            <a:endParaRPr lang="en-IN" sz="2000" b="1" dirty="0"/>
          </a:p>
        </p:txBody>
      </p:sp>
      <p:sp>
        <p:nvSpPr>
          <p:cNvPr id="8" name="TextBox 7">
            <a:extLst>
              <a:ext uri="{FF2B5EF4-FFF2-40B4-BE49-F238E27FC236}">
                <a16:creationId xmlns:a16="http://schemas.microsoft.com/office/drawing/2014/main" id="{76322E5C-4D8B-922C-19A0-15C07A69EE13}"/>
              </a:ext>
            </a:extLst>
          </p:cNvPr>
          <p:cNvSpPr txBox="1"/>
          <p:nvPr/>
        </p:nvSpPr>
        <p:spPr>
          <a:xfrm>
            <a:off x="481781" y="4084377"/>
            <a:ext cx="8278761" cy="2339102"/>
          </a:xfrm>
          <a:prstGeom prst="rect">
            <a:avLst/>
          </a:prstGeom>
          <a:noFill/>
        </p:spPr>
        <p:txBody>
          <a:bodyPr wrap="square" rtlCol="0">
            <a:spAutoFit/>
          </a:bodyPr>
          <a:lstStyle/>
          <a:p>
            <a:r>
              <a:rPr lang="en-IN" sz="2000" b="1" dirty="0"/>
              <a:t>Query</a:t>
            </a:r>
          </a:p>
          <a:p>
            <a:r>
              <a:rPr lang="en-IN" dirty="0"/>
              <a:t>create table IPL_matches (Id int, city varchar, date date, player_of_match varchar, venue varchar, neutral_venue int, team1 varchar, team2 varchar,toss_winner varchar, toss_decision varchar, winner varchar, result varchar, result_margin int, eliminator varchar, method varchar, umpire1 varchar, umpire2 varchar );copy IPL_matches from 'C:\Program Files\PostgreSQL\14\data\IPL_matches.csv' csv header; </a:t>
            </a:r>
          </a:p>
          <a:p>
            <a:r>
              <a:rPr lang="en-IN" dirty="0"/>
              <a:t>select * from IPL_matches;</a:t>
            </a:r>
          </a:p>
        </p:txBody>
      </p:sp>
    </p:spTree>
    <p:extLst>
      <p:ext uri="{BB962C8B-B14F-4D97-AF65-F5344CB8AC3E}">
        <p14:creationId xmlns:p14="http://schemas.microsoft.com/office/powerpoint/2010/main" val="2140328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ACD9967-5077-6C12-3C87-48CFEDFEC13D}"/>
              </a:ext>
            </a:extLst>
          </p:cNvPr>
          <p:cNvSpPr txBox="1"/>
          <p:nvPr/>
        </p:nvSpPr>
        <p:spPr>
          <a:xfrm flipH="1">
            <a:off x="-1" y="1364064"/>
            <a:ext cx="9917723" cy="1477328"/>
          </a:xfrm>
          <a:prstGeom prst="rect">
            <a:avLst/>
          </a:prstGeom>
          <a:noFill/>
        </p:spPr>
        <p:txBody>
          <a:bodyPr wrap="square" rtlCol="0">
            <a:spAutoFit/>
          </a:bodyPr>
          <a:lstStyle/>
          <a:p>
            <a:pPr marL="285750" indent="-285750">
              <a:buFont typeface="Arial" panose="020B0604020202020204" pitchFamily="34" charset="0"/>
              <a:buChar char="•"/>
            </a:pPr>
            <a:r>
              <a:rPr lang="en-US" b="1" dirty="0"/>
              <a:t>Below is the query which I used to get data for Top 10 batsman with high strike rate.</a:t>
            </a:r>
          </a:p>
          <a:p>
            <a:endParaRPr lang="en-US" dirty="0">
              <a:solidFill>
                <a:schemeClr val="accent2">
                  <a:lumMod val="50000"/>
                </a:schemeClr>
              </a:solidFill>
            </a:endParaRPr>
          </a:p>
          <a:p>
            <a:pPr marL="285750" indent="-285750" algn="just">
              <a:buFont typeface="Arial" panose="020B0604020202020204" pitchFamily="34" charset="0"/>
              <a:buChar char="•"/>
            </a:pPr>
            <a:r>
              <a:rPr lang="en-US" b="1" dirty="0">
                <a:solidFill>
                  <a:srgbClr val="4522DC"/>
                </a:solidFill>
              </a:rPr>
              <a:t>select batsman, Round((SUM(batsman_runs)*1.0/Count(ball))*100,2) As Batsman_SR from IPL_Ball where extras_type not in (‘wides’) group by batsman having count (ball)&gt;500order by Batsman_SR desc limit 10;</a:t>
            </a:r>
            <a:endParaRPr lang="en-IN" b="1" dirty="0">
              <a:solidFill>
                <a:srgbClr val="4522DC"/>
              </a:solidFill>
            </a:endParaRPr>
          </a:p>
        </p:txBody>
      </p:sp>
      <p:sp>
        <p:nvSpPr>
          <p:cNvPr id="8" name="TextBox 7">
            <a:extLst>
              <a:ext uri="{FF2B5EF4-FFF2-40B4-BE49-F238E27FC236}">
                <a16:creationId xmlns:a16="http://schemas.microsoft.com/office/drawing/2014/main" id="{5E417796-2195-ABC2-01AC-86A5A5873A75}"/>
              </a:ext>
            </a:extLst>
          </p:cNvPr>
          <p:cNvSpPr txBox="1"/>
          <p:nvPr/>
        </p:nvSpPr>
        <p:spPr>
          <a:xfrm>
            <a:off x="5948516" y="1091381"/>
            <a:ext cx="845574" cy="369332"/>
          </a:xfrm>
          <a:prstGeom prst="rect">
            <a:avLst/>
          </a:prstGeom>
          <a:noFill/>
        </p:spPr>
        <p:txBody>
          <a:bodyPr wrap="square" rtlCol="0">
            <a:spAutoFit/>
          </a:bodyPr>
          <a:lstStyle/>
          <a:p>
            <a:endParaRPr lang="en-IN" dirty="0"/>
          </a:p>
        </p:txBody>
      </p:sp>
      <p:graphicFrame>
        <p:nvGraphicFramePr>
          <p:cNvPr id="11" name="Table 10">
            <a:extLst>
              <a:ext uri="{FF2B5EF4-FFF2-40B4-BE49-F238E27FC236}">
                <a16:creationId xmlns:a16="http://schemas.microsoft.com/office/drawing/2014/main" id="{B7CBFE6E-D1EF-4290-D6C6-C78A798D6FB7}"/>
              </a:ext>
            </a:extLst>
          </p:cNvPr>
          <p:cNvGraphicFramePr>
            <a:graphicFrameLocks noGrp="1"/>
          </p:cNvGraphicFramePr>
          <p:nvPr>
            <p:extLst>
              <p:ext uri="{D42A27DB-BD31-4B8C-83A1-F6EECF244321}">
                <p14:modId xmlns:p14="http://schemas.microsoft.com/office/powerpoint/2010/main" val="2205044483"/>
              </p:ext>
            </p:extLst>
          </p:nvPr>
        </p:nvGraphicFramePr>
        <p:xfrm>
          <a:off x="176980" y="3875645"/>
          <a:ext cx="4886633" cy="2748268"/>
        </p:xfrm>
        <a:graphic>
          <a:graphicData uri="http://schemas.openxmlformats.org/drawingml/2006/table">
            <a:tbl>
              <a:tblPr>
                <a:tableStyleId>{3C2FFA5D-87B4-456A-9821-1D502468CF0F}</a:tableStyleId>
              </a:tblPr>
              <a:tblGrid>
                <a:gridCol w="2255368">
                  <a:extLst>
                    <a:ext uri="{9D8B030D-6E8A-4147-A177-3AD203B41FA5}">
                      <a16:colId xmlns:a16="http://schemas.microsoft.com/office/drawing/2014/main" val="4068598153"/>
                    </a:ext>
                  </a:extLst>
                </a:gridCol>
                <a:gridCol w="2631265">
                  <a:extLst>
                    <a:ext uri="{9D8B030D-6E8A-4147-A177-3AD203B41FA5}">
                      <a16:colId xmlns:a16="http://schemas.microsoft.com/office/drawing/2014/main" val="1812255245"/>
                    </a:ext>
                  </a:extLst>
                </a:gridCol>
              </a:tblGrid>
              <a:tr h="277532">
                <a:tc>
                  <a:txBody>
                    <a:bodyPr/>
                    <a:lstStyle/>
                    <a:p>
                      <a:pPr algn="ctr" fontAlgn="b"/>
                      <a:r>
                        <a:rPr lang="en-IN" sz="1400" b="1" u="none" strike="noStrike" dirty="0">
                          <a:solidFill>
                            <a:srgbClr val="000000"/>
                          </a:solidFill>
                          <a:effectLst/>
                        </a:rPr>
                        <a:t>Batsman</a:t>
                      </a:r>
                      <a:endParaRPr lang="en-IN" sz="14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b="1" u="none" strike="noStrike" dirty="0">
                          <a:solidFill>
                            <a:srgbClr val="000000"/>
                          </a:solidFill>
                          <a:effectLst/>
                        </a:rPr>
                        <a:t>Batsman_sr</a:t>
                      </a:r>
                      <a:endParaRPr lang="en-IN" sz="14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03509216"/>
                  </a:ext>
                </a:extLst>
              </a:tr>
              <a:tr h="266495">
                <a:tc>
                  <a:txBody>
                    <a:bodyPr/>
                    <a:lstStyle/>
                    <a:p>
                      <a:pPr algn="ctr" fontAlgn="b"/>
                      <a:r>
                        <a:rPr lang="en-IN" sz="1100" b="0" u="none" strike="noStrike" dirty="0">
                          <a:solidFill>
                            <a:srgbClr val="000000"/>
                          </a:solidFill>
                          <a:effectLst/>
                        </a:rPr>
                        <a:t>AD Russell</a:t>
                      </a:r>
                      <a:endParaRPr lang="en-IN"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dirty="0">
                          <a:solidFill>
                            <a:srgbClr val="000000"/>
                          </a:solidFill>
                          <a:effectLst/>
                        </a:rPr>
                        <a:t>182.33</a:t>
                      </a:r>
                      <a:endParaRPr lang="en-IN"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972312348"/>
                  </a:ext>
                </a:extLst>
              </a:tr>
              <a:tr h="234258">
                <a:tc>
                  <a:txBody>
                    <a:bodyPr/>
                    <a:lstStyle/>
                    <a:p>
                      <a:pPr algn="ctr" fontAlgn="b"/>
                      <a:r>
                        <a:rPr lang="en-IN" sz="1100" b="0" u="none" strike="noStrike" dirty="0">
                          <a:solidFill>
                            <a:srgbClr val="000000"/>
                          </a:solidFill>
                          <a:effectLst/>
                        </a:rPr>
                        <a:t>SP Narine</a:t>
                      </a:r>
                      <a:endParaRPr lang="en-IN"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dirty="0">
                          <a:solidFill>
                            <a:srgbClr val="000000"/>
                          </a:solidFill>
                          <a:effectLst/>
                        </a:rPr>
                        <a:t>164.27</a:t>
                      </a:r>
                      <a:endParaRPr lang="en-IN"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99454323"/>
                  </a:ext>
                </a:extLst>
              </a:tr>
              <a:tr h="242158">
                <a:tc>
                  <a:txBody>
                    <a:bodyPr/>
                    <a:lstStyle/>
                    <a:p>
                      <a:pPr algn="ctr" fontAlgn="b"/>
                      <a:r>
                        <a:rPr lang="en-IN" sz="1100" b="0" u="none" strike="noStrike" dirty="0">
                          <a:solidFill>
                            <a:srgbClr val="000000"/>
                          </a:solidFill>
                          <a:effectLst/>
                        </a:rPr>
                        <a:t>HH Pandya</a:t>
                      </a:r>
                      <a:endParaRPr lang="en-IN"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dirty="0">
                          <a:solidFill>
                            <a:srgbClr val="000000"/>
                          </a:solidFill>
                          <a:effectLst/>
                        </a:rPr>
                        <a:t>159.27</a:t>
                      </a:r>
                      <a:endParaRPr lang="en-IN"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95675196"/>
                  </a:ext>
                </a:extLst>
              </a:tr>
              <a:tr h="267198">
                <a:tc>
                  <a:txBody>
                    <a:bodyPr/>
                    <a:lstStyle/>
                    <a:p>
                      <a:pPr algn="ctr" fontAlgn="b"/>
                      <a:r>
                        <a:rPr lang="en-IN" sz="1100" b="0" u="none" strike="noStrike" dirty="0">
                          <a:solidFill>
                            <a:srgbClr val="000000"/>
                          </a:solidFill>
                          <a:effectLst/>
                        </a:rPr>
                        <a:t>V Sehwag</a:t>
                      </a:r>
                      <a:endParaRPr lang="en-IN"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dirty="0">
                          <a:solidFill>
                            <a:srgbClr val="000000"/>
                          </a:solidFill>
                          <a:effectLst/>
                        </a:rPr>
                        <a:t>155.44</a:t>
                      </a:r>
                      <a:endParaRPr lang="en-IN"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17337552"/>
                  </a:ext>
                </a:extLst>
              </a:tr>
              <a:tr h="261930">
                <a:tc>
                  <a:txBody>
                    <a:bodyPr/>
                    <a:lstStyle/>
                    <a:p>
                      <a:pPr algn="ctr" fontAlgn="b"/>
                      <a:r>
                        <a:rPr lang="en-IN" sz="1100" b="0" u="none" strike="noStrike" dirty="0">
                          <a:solidFill>
                            <a:srgbClr val="000000"/>
                          </a:solidFill>
                          <a:effectLst/>
                        </a:rPr>
                        <a:t>GJ Maxwell</a:t>
                      </a:r>
                      <a:endParaRPr lang="en-IN"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dirty="0">
                          <a:solidFill>
                            <a:srgbClr val="000000"/>
                          </a:solidFill>
                          <a:effectLst/>
                        </a:rPr>
                        <a:t>154.68</a:t>
                      </a:r>
                      <a:endParaRPr lang="en-IN"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5074263"/>
                  </a:ext>
                </a:extLst>
              </a:tr>
              <a:tr h="232825">
                <a:tc>
                  <a:txBody>
                    <a:bodyPr/>
                    <a:lstStyle/>
                    <a:p>
                      <a:pPr algn="ctr" fontAlgn="b"/>
                      <a:r>
                        <a:rPr lang="en-IN" sz="1100" b="0" u="none" strike="noStrike" dirty="0">
                          <a:solidFill>
                            <a:srgbClr val="000000"/>
                          </a:solidFill>
                          <a:effectLst/>
                        </a:rPr>
                        <a:t>RR Pant</a:t>
                      </a:r>
                      <a:endParaRPr lang="en-IN"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dirty="0">
                          <a:solidFill>
                            <a:srgbClr val="000000"/>
                          </a:solidFill>
                          <a:effectLst/>
                        </a:rPr>
                        <a:t>151.97</a:t>
                      </a:r>
                      <a:endParaRPr lang="en-IN"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10109281"/>
                  </a:ext>
                </a:extLst>
              </a:tr>
              <a:tr h="220112">
                <a:tc>
                  <a:txBody>
                    <a:bodyPr/>
                    <a:lstStyle/>
                    <a:p>
                      <a:pPr algn="ctr" fontAlgn="b"/>
                      <a:r>
                        <a:rPr lang="en-IN" sz="1100" b="0" u="none" strike="noStrike" dirty="0">
                          <a:solidFill>
                            <a:srgbClr val="000000"/>
                          </a:solidFill>
                          <a:effectLst/>
                        </a:rPr>
                        <a:t>AB de Villiers</a:t>
                      </a:r>
                      <a:endParaRPr lang="en-IN"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dirty="0">
                          <a:solidFill>
                            <a:srgbClr val="000000"/>
                          </a:solidFill>
                          <a:effectLst/>
                        </a:rPr>
                        <a:t>151.91</a:t>
                      </a:r>
                      <a:endParaRPr lang="en-IN"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30140078"/>
                  </a:ext>
                </a:extLst>
              </a:tr>
              <a:tr h="232825">
                <a:tc>
                  <a:txBody>
                    <a:bodyPr/>
                    <a:lstStyle/>
                    <a:p>
                      <a:pPr algn="ctr" fontAlgn="b"/>
                      <a:r>
                        <a:rPr lang="en-IN" sz="1100" b="0" u="none" strike="noStrike" dirty="0">
                          <a:solidFill>
                            <a:srgbClr val="000000"/>
                          </a:solidFill>
                          <a:effectLst/>
                        </a:rPr>
                        <a:t>CH Gayle</a:t>
                      </a:r>
                      <a:endParaRPr lang="en-IN"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dirty="0">
                          <a:solidFill>
                            <a:srgbClr val="000000"/>
                          </a:solidFill>
                          <a:effectLst/>
                        </a:rPr>
                        <a:t>150.11</a:t>
                      </a:r>
                      <a:endParaRPr lang="en-IN"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46190942"/>
                  </a:ext>
                </a:extLst>
              </a:tr>
              <a:tr h="220112">
                <a:tc>
                  <a:txBody>
                    <a:bodyPr/>
                    <a:lstStyle/>
                    <a:p>
                      <a:pPr algn="ctr" fontAlgn="b"/>
                      <a:r>
                        <a:rPr lang="en-IN" sz="1100" b="0" u="none" strike="noStrike" dirty="0">
                          <a:solidFill>
                            <a:srgbClr val="000000"/>
                          </a:solidFill>
                          <a:effectLst/>
                        </a:rPr>
                        <a:t>KA Pollard</a:t>
                      </a:r>
                      <a:endParaRPr lang="en-IN"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dirty="0">
                          <a:solidFill>
                            <a:srgbClr val="000000"/>
                          </a:solidFill>
                          <a:effectLst/>
                        </a:rPr>
                        <a:t>149.88</a:t>
                      </a:r>
                      <a:endParaRPr lang="en-IN"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96973770"/>
                  </a:ext>
                </a:extLst>
              </a:tr>
              <a:tr h="292823">
                <a:tc>
                  <a:txBody>
                    <a:bodyPr/>
                    <a:lstStyle/>
                    <a:p>
                      <a:pPr algn="ctr" fontAlgn="b"/>
                      <a:r>
                        <a:rPr lang="en-IN" sz="1100" b="0" u="none" strike="noStrike" dirty="0">
                          <a:solidFill>
                            <a:srgbClr val="000000"/>
                          </a:solidFill>
                          <a:effectLst/>
                        </a:rPr>
                        <a:t>JC Buttler</a:t>
                      </a:r>
                      <a:endParaRPr lang="en-IN"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en-IN" sz="1100" b="0" u="none" strike="noStrike" dirty="0">
                          <a:solidFill>
                            <a:srgbClr val="000000"/>
                          </a:solidFill>
                          <a:effectLst/>
                        </a:rPr>
                        <a:t>149.56</a:t>
                      </a:r>
                      <a:endParaRPr lang="en-IN"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946968344"/>
                  </a:ext>
                </a:extLst>
              </a:tr>
            </a:tbl>
          </a:graphicData>
        </a:graphic>
      </p:graphicFrame>
      <p:graphicFrame>
        <p:nvGraphicFramePr>
          <p:cNvPr id="13" name="Chart 12">
            <a:extLst>
              <a:ext uri="{FF2B5EF4-FFF2-40B4-BE49-F238E27FC236}">
                <a16:creationId xmlns:a16="http://schemas.microsoft.com/office/drawing/2014/main" id="{CA3E5E47-1223-4818-9A23-75A7AB92861F}"/>
              </a:ext>
            </a:extLst>
          </p:cNvPr>
          <p:cNvGraphicFramePr>
            <a:graphicFrameLocks/>
          </p:cNvGraphicFramePr>
          <p:nvPr>
            <p:extLst>
              <p:ext uri="{D42A27DB-BD31-4B8C-83A1-F6EECF244321}">
                <p14:modId xmlns:p14="http://schemas.microsoft.com/office/powerpoint/2010/main" val="1988584812"/>
              </p:ext>
            </p:extLst>
          </p:nvPr>
        </p:nvGraphicFramePr>
        <p:xfrm>
          <a:off x="5161934" y="3875645"/>
          <a:ext cx="5243205" cy="2748268"/>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a:extLst>
              <a:ext uri="{FF2B5EF4-FFF2-40B4-BE49-F238E27FC236}">
                <a16:creationId xmlns:a16="http://schemas.microsoft.com/office/drawing/2014/main" id="{D366F8B8-1958-F958-5304-724A8C484FD8}"/>
              </a:ext>
            </a:extLst>
          </p:cNvPr>
          <p:cNvSpPr txBox="1"/>
          <p:nvPr/>
        </p:nvSpPr>
        <p:spPr>
          <a:xfrm>
            <a:off x="78657" y="555974"/>
            <a:ext cx="10166555" cy="1015663"/>
          </a:xfrm>
          <a:prstGeom prst="rect">
            <a:avLst/>
          </a:prstGeom>
          <a:noFill/>
        </p:spPr>
        <p:txBody>
          <a:bodyPr wrap="square" rtlCol="0">
            <a:spAutoFit/>
          </a:bodyPr>
          <a:lstStyle/>
          <a:p>
            <a:r>
              <a:rPr lang="en-US" sz="2000" b="1" dirty="0">
                <a:solidFill>
                  <a:schemeClr val="tx2">
                    <a:lumMod val="75000"/>
                  </a:schemeClr>
                </a:solidFill>
              </a:rPr>
              <a:t>First Query - </a:t>
            </a:r>
            <a:r>
              <a:rPr lang="en-US" sz="2000" dirty="0">
                <a:solidFill>
                  <a:schemeClr val="tx2">
                    <a:lumMod val="75000"/>
                  </a:schemeClr>
                </a:solidFill>
              </a:rPr>
              <a:t>List of 10 batsman with high batting strike rate who have faced at least 500 balls. </a:t>
            </a:r>
            <a:endParaRPr lang="en-IN" sz="2000" dirty="0">
              <a:solidFill>
                <a:schemeClr val="tx2">
                  <a:lumMod val="75000"/>
                </a:schemeClr>
              </a:solidFill>
            </a:endParaRPr>
          </a:p>
          <a:p>
            <a:endParaRPr lang="en-IN" sz="2000" b="1" dirty="0">
              <a:solidFill>
                <a:schemeClr val="tx2">
                  <a:lumMod val="75000"/>
                </a:schemeClr>
              </a:solidFill>
            </a:endParaRPr>
          </a:p>
        </p:txBody>
      </p:sp>
      <p:sp>
        <p:nvSpPr>
          <p:cNvPr id="15" name="TextBox 14">
            <a:extLst>
              <a:ext uri="{FF2B5EF4-FFF2-40B4-BE49-F238E27FC236}">
                <a16:creationId xmlns:a16="http://schemas.microsoft.com/office/drawing/2014/main" id="{B49C909B-9330-2C39-EE64-83AE22275CE0}"/>
              </a:ext>
            </a:extLst>
          </p:cNvPr>
          <p:cNvSpPr txBox="1"/>
          <p:nvPr/>
        </p:nvSpPr>
        <p:spPr>
          <a:xfrm>
            <a:off x="289036" y="3229314"/>
            <a:ext cx="10116103" cy="646331"/>
          </a:xfrm>
          <a:prstGeom prst="rect">
            <a:avLst/>
          </a:prstGeom>
          <a:noFill/>
        </p:spPr>
        <p:txBody>
          <a:bodyPr wrap="none" rtlCol="0">
            <a:spAutoFit/>
          </a:bodyPr>
          <a:lstStyle/>
          <a:p>
            <a:r>
              <a:rPr lang="en-US" b="1" dirty="0"/>
              <a:t>Below on the left we have output of the above query, which I  have used to create graph on </a:t>
            </a:r>
          </a:p>
          <a:p>
            <a:r>
              <a:rPr lang="en-US" b="1" dirty="0"/>
              <a:t>Right.</a:t>
            </a:r>
            <a:endParaRPr lang="en-IN" b="1" dirty="0"/>
          </a:p>
        </p:txBody>
      </p:sp>
    </p:spTree>
    <p:extLst>
      <p:ext uri="{BB962C8B-B14F-4D97-AF65-F5344CB8AC3E}">
        <p14:creationId xmlns:p14="http://schemas.microsoft.com/office/powerpoint/2010/main" val="1777192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C7BA8E-4344-0A46-4BC9-80E2AF630885}"/>
              </a:ext>
            </a:extLst>
          </p:cNvPr>
          <p:cNvSpPr txBox="1"/>
          <p:nvPr/>
        </p:nvSpPr>
        <p:spPr>
          <a:xfrm>
            <a:off x="206477" y="639097"/>
            <a:ext cx="9891251" cy="707886"/>
          </a:xfrm>
          <a:prstGeom prst="rect">
            <a:avLst/>
          </a:prstGeom>
          <a:noFill/>
        </p:spPr>
        <p:txBody>
          <a:bodyPr wrap="square" rtlCol="0">
            <a:spAutoFit/>
          </a:bodyPr>
          <a:lstStyle/>
          <a:p>
            <a:r>
              <a:rPr lang="en-US" sz="2000" b="1" dirty="0"/>
              <a:t>Second Query- </a:t>
            </a:r>
            <a:r>
              <a:rPr lang="en-US" sz="2000" dirty="0"/>
              <a:t>List of the 10 players with the best average who have played more than 2 IPL seasons.</a:t>
            </a:r>
            <a:endParaRPr lang="en-IN" sz="2000" dirty="0"/>
          </a:p>
        </p:txBody>
      </p:sp>
      <p:sp>
        <p:nvSpPr>
          <p:cNvPr id="4" name="TextBox 3">
            <a:extLst>
              <a:ext uri="{FF2B5EF4-FFF2-40B4-BE49-F238E27FC236}">
                <a16:creationId xmlns:a16="http://schemas.microsoft.com/office/drawing/2014/main" id="{DDA4FD5A-96DC-5264-7D87-44314122B64C}"/>
              </a:ext>
            </a:extLst>
          </p:cNvPr>
          <p:cNvSpPr txBox="1"/>
          <p:nvPr/>
        </p:nvSpPr>
        <p:spPr>
          <a:xfrm>
            <a:off x="206477" y="1500078"/>
            <a:ext cx="9330813" cy="1754326"/>
          </a:xfrm>
          <a:prstGeom prst="rect">
            <a:avLst/>
          </a:prstGeom>
          <a:noFill/>
        </p:spPr>
        <p:txBody>
          <a:bodyPr wrap="square" rtlCol="0">
            <a:spAutoFit/>
          </a:bodyPr>
          <a:lstStyle/>
          <a:p>
            <a:pPr marL="285750" indent="-285750">
              <a:buFont typeface="Arial" panose="020B0604020202020204" pitchFamily="34" charset="0"/>
              <a:buChar char="•"/>
            </a:pPr>
            <a:r>
              <a:rPr lang="en-US" b="1" dirty="0"/>
              <a:t>Below the SQL query which I used to get the data of best 10 players who have played more than 2 IPL.</a:t>
            </a:r>
            <a:endParaRPr lang="en-US" dirty="0"/>
          </a:p>
          <a:p>
            <a:pPr marL="285750" indent="-285750">
              <a:buFont typeface="Arial" panose="020B0604020202020204" pitchFamily="34" charset="0"/>
              <a:buChar char="•"/>
            </a:pPr>
            <a:r>
              <a:rPr lang="en-US" b="1" dirty="0">
                <a:solidFill>
                  <a:srgbClr val="4522DC"/>
                </a:solidFill>
              </a:rPr>
              <a:t>select batsman, sum(batsman_runs) as Runs, Round(sum(batsman_runs)*1.0/sum(is_wicket),2)as average from IPL_Ball group by batsman having Sum(is_wicket)&gt;0 and count(distinct id)&gt;28 order by average desc limit 10; </a:t>
            </a:r>
            <a:endParaRPr lang="en-IN" b="1" dirty="0">
              <a:solidFill>
                <a:srgbClr val="4522DC"/>
              </a:solidFill>
            </a:endParaRPr>
          </a:p>
        </p:txBody>
      </p:sp>
      <p:graphicFrame>
        <p:nvGraphicFramePr>
          <p:cNvPr id="8" name="Chart 7">
            <a:extLst>
              <a:ext uri="{FF2B5EF4-FFF2-40B4-BE49-F238E27FC236}">
                <a16:creationId xmlns:a16="http://schemas.microsoft.com/office/drawing/2014/main" id="{9667ADF9-1B8E-6E73-4D62-4D980F31E627}"/>
              </a:ext>
            </a:extLst>
          </p:cNvPr>
          <p:cNvGraphicFramePr>
            <a:graphicFrameLocks/>
          </p:cNvGraphicFramePr>
          <p:nvPr>
            <p:extLst>
              <p:ext uri="{D42A27DB-BD31-4B8C-83A1-F6EECF244321}">
                <p14:modId xmlns:p14="http://schemas.microsoft.com/office/powerpoint/2010/main" val="2137993655"/>
              </p:ext>
            </p:extLst>
          </p:nvPr>
        </p:nvGraphicFramePr>
        <p:xfrm>
          <a:off x="4390102" y="4035357"/>
          <a:ext cx="4989871" cy="2645130"/>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a:extLst>
              <a:ext uri="{FF2B5EF4-FFF2-40B4-BE49-F238E27FC236}">
                <a16:creationId xmlns:a16="http://schemas.microsoft.com/office/drawing/2014/main" id="{D28BE365-5589-E734-FF35-E8AE2671E1B3}"/>
              </a:ext>
            </a:extLst>
          </p:cNvPr>
          <p:cNvSpPr txBox="1"/>
          <p:nvPr/>
        </p:nvSpPr>
        <p:spPr>
          <a:xfrm>
            <a:off x="206477" y="3379120"/>
            <a:ext cx="9684775" cy="584775"/>
          </a:xfrm>
          <a:prstGeom prst="rect">
            <a:avLst/>
          </a:prstGeom>
          <a:noFill/>
        </p:spPr>
        <p:txBody>
          <a:bodyPr wrap="square" rtlCol="0">
            <a:spAutoFit/>
          </a:bodyPr>
          <a:lstStyle/>
          <a:p>
            <a:r>
              <a:rPr lang="en-US" sz="1600" b="1" dirty="0"/>
              <a:t>Below on the left we have output of the above query, which I have used to create graph on the right.</a:t>
            </a:r>
            <a:endParaRPr lang="en-IN" sz="1600" b="1" dirty="0"/>
          </a:p>
        </p:txBody>
      </p:sp>
      <p:graphicFrame>
        <p:nvGraphicFramePr>
          <p:cNvPr id="12" name="Table 11">
            <a:extLst>
              <a:ext uri="{FF2B5EF4-FFF2-40B4-BE49-F238E27FC236}">
                <a16:creationId xmlns:a16="http://schemas.microsoft.com/office/drawing/2014/main" id="{A303161E-901E-C687-71B3-56D7280E2A7F}"/>
              </a:ext>
            </a:extLst>
          </p:cNvPr>
          <p:cNvGraphicFramePr>
            <a:graphicFrameLocks noGrp="1"/>
          </p:cNvGraphicFramePr>
          <p:nvPr>
            <p:extLst>
              <p:ext uri="{D42A27DB-BD31-4B8C-83A1-F6EECF244321}">
                <p14:modId xmlns:p14="http://schemas.microsoft.com/office/powerpoint/2010/main" val="861183663"/>
              </p:ext>
            </p:extLst>
          </p:nvPr>
        </p:nvGraphicFramePr>
        <p:xfrm>
          <a:off x="511277" y="4035357"/>
          <a:ext cx="3342969" cy="2645126"/>
        </p:xfrm>
        <a:graphic>
          <a:graphicData uri="http://schemas.openxmlformats.org/drawingml/2006/table">
            <a:tbl>
              <a:tblPr>
                <a:tableStyleId>{3C2FFA5D-87B4-456A-9821-1D502468CF0F}</a:tableStyleId>
              </a:tblPr>
              <a:tblGrid>
                <a:gridCol w="1114323">
                  <a:extLst>
                    <a:ext uri="{9D8B030D-6E8A-4147-A177-3AD203B41FA5}">
                      <a16:colId xmlns:a16="http://schemas.microsoft.com/office/drawing/2014/main" val="2022297674"/>
                    </a:ext>
                  </a:extLst>
                </a:gridCol>
                <a:gridCol w="1114323">
                  <a:extLst>
                    <a:ext uri="{9D8B030D-6E8A-4147-A177-3AD203B41FA5}">
                      <a16:colId xmlns:a16="http://schemas.microsoft.com/office/drawing/2014/main" val="2063894428"/>
                    </a:ext>
                  </a:extLst>
                </a:gridCol>
                <a:gridCol w="1114323">
                  <a:extLst>
                    <a:ext uri="{9D8B030D-6E8A-4147-A177-3AD203B41FA5}">
                      <a16:colId xmlns:a16="http://schemas.microsoft.com/office/drawing/2014/main" val="1702535675"/>
                    </a:ext>
                  </a:extLst>
                </a:gridCol>
              </a:tblGrid>
              <a:tr h="240466">
                <a:tc>
                  <a:txBody>
                    <a:bodyPr/>
                    <a:lstStyle/>
                    <a:p>
                      <a:pPr algn="ctr" fontAlgn="b"/>
                      <a:r>
                        <a:rPr lang="en-IN" sz="1400" b="1" u="none" strike="noStrike" dirty="0">
                          <a:solidFill>
                            <a:srgbClr val="000000"/>
                          </a:solidFill>
                          <a:effectLst/>
                        </a:rPr>
                        <a:t>batsman</a:t>
                      </a:r>
                      <a:endParaRPr lang="en-IN" sz="14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b="1" u="none" strike="noStrike" dirty="0">
                          <a:solidFill>
                            <a:srgbClr val="000000"/>
                          </a:solidFill>
                          <a:effectLst/>
                        </a:rPr>
                        <a:t>runs</a:t>
                      </a:r>
                      <a:endParaRPr lang="en-IN" sz="14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b="1" u="none" strike="noStrike" dirty="0">
                          <a:solidFill>
                            <a:srgbClr val="000000"/>
                          </a:solidFill>
                          <a:effectLst/>
                        </a:rPr>
                        <a:t>average</a:t>
                      </a:r>
                      <a:endParaRPr lang="en-IN" sz="14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78102579"/>
                  </a:ext>
                </a:extLst>
              </a:tr>
              <a:tr h="240466">
                <a:tc>
                  <a:txBody>
                    <a:bodyPr/>
                    <a:lstStyle/>
                    <a:p>
                      <a:pPr algn="ctr" fontAlgn="b"/>
                      <a:r>
                        <a:rPr lang="en-IN" sz="1100" b="0" u="none" strike="noStrike">
                          <a:solidFill>
                            <a:srgbClr val="000000"/>
                          </a:solidFill>
                          <a:effectLst/>
                        </a:rPr>
                        <a:t>KL Rahul</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2647</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dirty="0">
                          <a:solidFill>
                            <a:srgbClr val="000000"/>
                          </a:solidFill>
                          <a:effectLst/>
                        </a:rPr>
                        <a:t>42.69</a:t>
                      </a:r>
                      <a:endParaRPr lang="en-IN"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7542016"/>
                  </a:ext>
                </a:extLst>
              </a:tr>
              <a:tr h="240466">
                <a:tc>
                  <a:txBody>
                    <a:bodyPr/>
                    <a:lstStyle/>
                    <a:p>
                      <a:pPr algn="ctr" fontAlgn="b"/>
                      <a:r>
                        <a:rPr lang="en-IN" sz="1100" b="0" u="none" strike="noStrike">
                          <a:solidFill>
                            <a:srgbClr val="000000"/>
                          </a:solidFill>
                          <a:effectLst/>
                        </a:rPr>
                        <a:t>AB de Villiers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4849</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42.54</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66181491"/>
                  </a:ext>
                </a:extLst>
              </a:tr>
              <a:tr h="240466">
                <a:tc>
                  <a:txBody>
                    <a:bodyPr/>
                    <a:lstStyle/>
                    <a:p>
                      <a:pPr algn="ctr" fontAlgn="b"/>
                      <a:r>
                        <a:rPr lang="en-IN" sz="1100" b="0" u="none" strike="noStrike">
                          <a:solidFill>
                            <a:srgbClr val="000000"/>
                          </a:solidFill>
                          <a:effectLst/>
                        </a:rPr>
                        <a:t>DA Warner</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dirty="0">
                          <a:solidFill>
                            <a:srgbClr val="000000"/>
                          </a:solidFill>
                          <a:effectLst/>
                        </a:rPr>
                        <a:t>5254</a:t>
                      </a:r>
                      <a:endParaRPr lang="en-IN"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41.7</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99175829"/>
                  </a:ext>
                </a:extLst>
              </a:tr>
              <a:tr h="240466">
                <a:tc>
                  <a:txBody>
                    <a:bodyPr/>
                    <a:lstStyle/>
                    <a:p>
                      <a:pPr algn="ctr" fontAlgn="b"/>
                      <a:r>
                        <a:rPr lang="en-IN" sz="1100" b="0" u="none" strike="noStrike">
                          <a:solidFill>
                            <a:srgbClr val="000000"/>
                          </a:solidFill>
                          <a:effectLst/>
                        </a:rPr>
                        <a:t>JP Duminy</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2029</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41.41</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83496469"/>
                  </a:ext>
                </a:extLst>
              </a:tr>
              <a:tr h="240466">
                <a:tc>
                  <a:txBody>
                    <a:bodyPr/>
                    <a:lstStyle/>
                    <a:p>
                      <a:pPr algn="ctr" fontAlgn="b"/>
                      <a:r>
                        <a:rPr lang="en-IN" sz="1100" b="0" u="none" strike="noStrike">
                          <a:solidFill>
                            <a:srgbClr val="000000"/>
                          </a:solidFill>
                          <a:effectLst/>
                        </a:rPr>
                        <a:t>CH Gayle</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4772</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41.14</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91956016"/>
                  </a:ext>
                </a:extLst>
              </a:tr>
              <a:tr h="240466">
                <a:tc>
                  <a:txBody>
                    <a:bodyPr/>
                    <a:lstStyle/>
                    <a:p>
                      <a:pPr algn="ctr" fontAlgn="b"/>
                      <a:r>
                        <a:rPr lang="en-IN" sz="1100" b="0" u="none" strike="noStrike">
                          <a:solidFill>
                            <a:srgbClr val="000000"/>
                          </a:solidFill>
                          <a:effectLst/>
                        </a:rPr>
                        <a:t>ML Hayden</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1107</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41</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959475562"/>
                  </a:ext>
                </a:extLst>
              </a:tr>
              <a:tr h="240466">
                <a:tc>
                  <a:txBody>
                    <a:bodyPr/>
                    <a:lstStyle/>
                    <a:p>
                      <a:pPr algn="ctr" fontAlgn="b"/>
                      <a:r>
                        <a:rPr lang="en-IN" sz="1100" b="0" u="none" strike="noStrike">
                          <a:solidFill>
                            <a:srgbClr val="000000"/>
                          </a:solidFill>
                          <a:effectLst/>
                        </a:rPr>
                        <a:t>LMP Simmons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1079</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39.96</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95021806"/>
                  </a:ext>
                </a:extLst>
              </a:tr>
              <a:tr h="240466">
                <a:tc>
                  <a:txBody>
                    <a:bodyPr/>
                    <a:lstStyle/>
                    <a:p>
                      <a:pPr algn="ctr" fontAlgn="b"/>
                      <a:r>
                        <a:rPr lang="en-IN" sz="1100" b="0" u="none" strike="noStrike">
                          <a:solidFill>
                            <a:srgbClr val="000000"/>
                          </a:solidFill>
                          <a:effectLst/>
                        </a:rPr>
                        <a:t>KS Williamson</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1619</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39.49</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81857400"/>
                  </a:ext>
                </a:extLst>
              </a:tr>
              <a:tr h="240466">
                <a:tc>
                  <a:txBody>
                    <a:bodyPr/>
                    <a:lstStyle/>
                    <a:p>
                      <a:pPr algn="ctr" fontAlgn="b"/>
                      <a:r>
                        <a:rPr lang="en-IN" sz="1100" b="0" u="none" strike="noStrike">
                          <a:solidFill>
                            <a:srgbClr val="000000"/>
                          </a:solidFill>
                          <a:effectLst/>
                        </a:rPr>
                        <a:t>SE Marsh</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2477</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38.7</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120231823"/>
                  </a:ext>
                </a:extLst>
              </a:tr>
              <a:tr h="240466">
                <a:tc>
                  <a:txBody>
                    <a:bodyPr/>
                    <a:lstStyle/>
                    <a:p>
                      <a:pPr algn="ctr" fontAlgn="b"/>
                      <a:r>
                        <a:rPr lang="en-IN" sz="1100" b="0" u="none" strike="noStrike">
                          <a:solidFill>
                            <a:srgbClr val="000000"/>
                          </a:solidFill>
                          <a:effectLst/>
                        </a:rPr>
                        <a:t>MEK Hussey</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1977</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dirty="0">
                          <a:solidFill>
                            <a:srgbClr val="000000"/>
                          </a:solidFill>
                          <a:effectLst/>
                        </a:rPr>
                        <a:t>38.02</a:t>
                      </a:r>
                      <a:endParaRPr lang="en-IN"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98063297"/>
                  </a:ext>
                </a:extLst>
              </a:tr>
            </a:tbl>
          </a:graphicData>
        </a:graphic>
      </p:graphicFrame>
    </p:spTree>
    <p:extLst>
      <p:ext uri="{BB962C8B-B14F-4D97-AF65-F5344CB8AC3E}">
        <p14:creationId xmlns:p14="http://schemas.microsoft.com/office/powerpoint/2010/main" val="2284996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54400F-1D49-540B-457B-4EDEF16E97DE}"/>
              </a:ext>
            </a:extLst>
          </p:cNvPr>
          <p:cNvSpPr txBox="1"/>
          <p:nvPr/>
        </p:nvSpPr>
        <p:spPr>
          <a:xfrm>
            <a:off x="186813" y="226142"/>
            <a:ext cx="9576619" cy="707886"/>
          </a:xfrm>
          <a:prstGeom prst="rect">
            <a:avLst/>
          </a:prstGeom>
          <a:noFill/>
        </p:spPr>
        <p:txBody>
          <a:bodyPr wrap="square" rtlCol="0">
            <a:spAutoFit/>
          </a:bodyPr>
          <a:lstStyle/>
          <a:p>
            <a:r>
              <a:rPr lang="en-US" sz="2000" b="1" dirty="0"/>
              <a:t>Third Query- </a:t>
            </a:r>
            <a:r>
              <a:rPr lang="en-US" sz="2000" dirty="0"/>
              <a:t>List of the 10 players who have scored most runs in boundaries and have played more than 2 IPL seasons.</a:t>
            </a:r>
            <a:endParaRPr lang="en-IN" sz="2000" dirty="0"/>
          </a:p>
        </p:txBody>
      </p:sp>
      <p:sp>
        <p:nvSpPr>
          <p:cNvPr id="3" name="TextBox 2">
            <a:extLst>
              <a:ext uri="{FF2B5EF4-FFF2-40B4-BE49-F238E27FC236}">
                <a16:creationId xmlns:a16="http://schemas.microsoft.com/office/drawing/2014/main" id="{1C1E19D1-3386-0877-8739-A387C2826E0A}"/>
              </a:ext>
            </a:extLst>
          </p:cNvPr>
          <p:cNvSpPr txBox="1"/>
          <p:nvPr/>
        </p:nvSpPr>
        <p:spPr>
          <a:xfrm>
            <a:off x="186813" y="997352"/>
            <a:ext cx="9576619" cy="2308324"/>
          </a:xfrm>
          <a:prstGeom prst="rect">
            <a:avLst/>
          </a:prstGeom>
          <a:noFill/>
        </p:spPr>
        <p:txBody>
          <a:bodyPr wrap="square" rtlCol="0">
            <a:spAutoFit/>
          </a:bodyPr>
          <a:lstStyle/>
          <a:p>
            <a:pPr marL="285750" indent="-285750">
              <a:buFont typeface="Arial" panose="020B0604020202020204" pitchFamily="34" charset="0"/>
              <a:buChar char="•"/>
            </a:pPr>
            <a:r>
              <a:rPr lang="en-US" b="1" dirty="0"/>
              <a:t>Below the SQL query which I have used to get the data of best 10 players who have scored most runs in boundaries and have played more than 2 IPL seasons. </a:t>
            </a:r>
          </a:p>
          <a:p>
            <a:endParaRPr lang="en-US" b="1" dirty="0"/>
          </a:p>
          <a:p>
            <a:pPr marL="285750" indent="-285750">
              <a:buFont typeface="Arial" panose="020B0604020202020204" pitchFamily="34" charset="0"/>
              <a:buChar char="•"/>
            </a:pPr>
            <a:r>
              <a:rPr lang="en-US" b="1" dirty="0">
                <a:solidFill>
                  <a:srgbClr val="4522DC"/>
                </a:solidFill>
              </a:rPr>
              <a:t>select batsman, round(sum(case when batsman_runs in (4,6) then batsman_runs else 0 end)*1.0/sum(batsman_runs)*100,2) as Boundary_percentage from IPL_Ball where extras_type not in ('wides') group by batsman having count(distinct id)&gt;28order by boundary_percentage desc limit 10;</a:t>
            </a:r>
          </a:p>
          <a:p>
            <a:r>
              <a:rPr lang="en-US" b="1" dirty="0">
                <a:solidFill>
                  <a:srgbClr val="4522DC"/>
                </a:solidFill>
              </a:rPr>
              <a:t> </a:t>
            </a:r>
            <a:endParaRPr lang="en-IN" b="1" dirty="0">
              <a:solidFill>
                <a:srgbClr val="4522DC"/>
              </a:solidFill>
            </a:endParaRPr>
          </a:p>
        </p:txBody>
      </p:sp>
      <p:graphicFrame>
        <p:nvGraphicFramePr>
          <p:cNvPr id="5" name="Table 4">
            <a:extLst>
              <a:ext uri="{FF2B5EF4-FFF2-40B4-BE49-F238E27FC236}">
                <a16:creationId xmlns:a16="http://schemas.microsoft.com/office/drawing/2014/main" id="{4D7AD27A-BF35-C9A5-BCC6-7B87E47C9643}"/>
              </a:ext>
            </a:extLst>
          </p:cNvPr>
          <p:cNvGraphicFramePr>
            <a:graphicFrameLocks noGrp="1"/>
          </p:cNvGraphicFramePr>
          <p:nvPr>
            <p:extLst>
              <p:ext uri="{D42A27DB-BD31-4B8C-83A1-F6EECF244321}">
                <p14:modId xmlns:p14="http://schemas.microsoft.com/office/powerpoint/2010/main" val="1495234587"/>
              </p:ext>
            </p:extLst>
          </p:nvPr>
        </p:nvGraphicFramePr>
        <p:xfrm>
          <a:off x="462116" y="3976206"/>
          <a:ext cx="3510116" cy="2655652"/>
        </p:xfrm>
        <a:graphic>
          <a:graphicData uri="http://schemas.openxmlformats.org/drawingml/2006/table">
            <a:tbl>
              <a:tblPr>
                <a:tableStyleId>{3C2FFA5D-87B4-456A-9821-1D502468CF0F}</a:tableStyleId>
              </a:tblPr>
              <a:tblGrid>
                <a:gridCol w="1435510">
                  <a:extLst>
                    <a:ext uri="{9D8B030D-6E8A-4147-A177-3AD203B41FA5}">
                      <a16:colId xmlns:a16="http://schemas.microsoft.com/office/drawing/2014/main" val="1480657284"/>
                    </a:ext>
                  </a:extLst>
                </a:gridCol>
                <a:gridCol w="2074606">
                  <a:extLst>
                    <a:ext uri="{9D8B030D-6E8A-4147-A177-3AD203B41FA5}">
                      <a16:colId xmlns:a16="http://schemas.microsoft.com/office/drawing/2014/main" val="2759644712"/>
                    </a:ext>
                  </a:extLst>
                </a:gridCol>
              </a:tblGrid>
              <a:tr h="240986">
                <a:tc>
                  <a:txBody>
                    <a:bodyPr/>
                    <a:lstStyle/>
                    <a:p>
                      <a:pPr algn="ctr" fontAlgn="b"/>
                      <a:r>
                        <a:rPr lang="en-IN" sz="1200" b="1" u="none" strike="noStrike" dirty="0">
                          <a:solidFill>
                            <a:srgbClr val="000000"/>
                          </a:solidFill>
                          <a:effectLst/>
                        </a:rPr>
                        <a:t>batsman</a:t>
                      </a:r>
                      <a:endParaRPr lang="en-IN" sz="12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1" u="none" strike="noStrike" dirty="0">
                          <a:solidFill>
                            <a:srgbClr val="000000"/>
                          </a:solidFill>
                          <a:effectLst/>
                        </a:rPr>
                        <a:t>boundary_percentage</a:t>
                      </a:r>
                      <a:endParaRPr lang="en-IN" sz="12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27372520"/>
                  </a:ext>
                </a:extLst>
              </a:tr>
              <a:tr h="240986">
                <a:tc>
                  <a:txBody>
                    <a:bodyPr/>
                    <a:lstStyle/>
                    <a:p>
                      <a:pPr algn="ctr" fontAlgn="b"/>
                      <a:r>
                        <a:rPr lang="en-IN" sz="1100" b="0" u="none" strike="noStrike">
                          <a:solidFill>
                            <a:srgbClr val="000000"/>
                          </a:solidFill>
                          <a:effectLst/>
                        </a:rPr>
                        <a:t>SP Narine</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81.17</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246945456"/>
                  </a:ext>
                </a:extLst>
              </a:tr>
              <a:tr h="240986">
                <a:tc>
                  <a:txBody>
                    <a:bodyPr/>
                    <a:lstStyle/>
                    <a:p>
                      <a:pPr algn="ctr" fontAlgn="b"/>
                      <a:r>
                        <a:rPr lang="en-IN" sz="1100" b="0" u="none" strike="noStrike">
                          <a:solidFill>
                            <a:srgbClr val="000000"/>
                          </a:solidFill>
                          <a:effectLst/>
                        </a:rPr>
                        <a:t>AD Russell</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78.71</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6869442"/>
                  </a:ext>
                </a:extLst>
              </a:tr>
              <a:tr h="240986">
                <a:tc>
                  <a:txBody>
                    <a:bodyPr/>
                    <a:lstStyle/>
                    <a:p>
                      <a:pPr algn="ctr" fontAlgn="b"/>
                      <a:r>
                        <a:rPr lang="en-IN" sz="1100" b="0" u="none" strike="noStrike">
                          <a:solidFill>
                            <a:srgbClr val="000000"/>
                          </a:solidFill>
                          <a:effectLst/>
                        </a:rPr>
                        <a:t>CH Gayle</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dirty="0">
                          <a:solidFill>
                            <a:srgbClr val="000000"/>
                          </a:solidFill>
                          <a:effectLst/>
                        </a:rPr>
                        <a:t>76.07</a:t>
                      </a:r>
                      <a:endParaRPr lang="en-IN"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918413137"/>
                  </a:ext>
                </a:extLst>
              </a:tr>
              <a:tr h="240986">
                <a:tc>
                  <a:txBody>
                    <a:bodyPr/>
                    <a:lstStyle/>
                    <a:p>
                      <a:pPr algn="ctr" fontAlgn="b"/>
                      <a:r>
                        <a:rPr lang="en-IN" sz="1100" b="0" u="none" strike="noStrike">
                          <a:solidFill>
                            <a:srgbClr val="000000"/>
                          </a:solidFill>
                          <a:effectLst/>
                        </a:rPr>
                        <a:t>ST Jayasuriya</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74.22</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1565897"/>
                  </a:ext>
                </a:extLst>
              </a:tr>
              <a:tr h="240986">
                <a:tc>
                  <a:txBody>
                    <a:bodyPr/>
                    <a:lstStyle/>
                    <a:p>
                      <a:pPr algn="ctr" fontAlgn="b"/>
                      <a:r>
                        <a:rPr lang="en-IN" sz="1100" b="0" u="none" strike="noStrike">
                          <a:solidFill>
                            <a:srgbClr val="000000"/>
                          </a:solidFill>
                          <a:effectLst/>
                        </a:rPr>
                        <a:t>AC Gilchrist</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72.89</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30184402"/>
                  </a:ext>
                </a:extLst>
              </a:tr>
              <a:tr h="240986">
                <a:tc>
                  <a:txBody>
                    <a:bodyPr/>
                    <a:lstStyle/>
                    <a:p>
                      <a:pPr algn="ctr" fontAlgn="b"/>
                      <a:r>
                        <a:rPr lang="en-IN" sz="1100" b="0" u="none" strike="noStrike">
                          <a:solidFill>
                            <a:srgbClr val="000000"/>
                          </a:solidFill>
                          <a:effectLst/>
                        </a:rPr>
                        <a:t>V Sehwag</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72.29</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52071673"/>
                  </a:ext>
                </a:extLst>
              </a:tr>
              <a:tr h="240986">
                <a:tc>
                  <a:txBody>
                    <a:bodyPr/>
                    <a:lstStyle/>
                    <a:p>
                      <a:pPr algn="ctr" fontAlgn="b"/>
                      <a:r>
                        <a:rPr lang="en-IN" sz="1100" b="0" u="none" strike="noStrike">
                          <a:solidFill>
                            <a:srgbClr val="000000"/>
                          </a:solidFill>
                          <a:effectLst/>
                        </a:rPr>
                        <a:t>DR Smith</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70.52</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969571655"/>
                  </a:ext>
                </a:extLst>
              </a:tr>
              <a:tr h="240986">
                <a:tc>
                  <a:txBody>
                    <a:bodyPr/>
                    <a:lstStyle/>
                    <a:p>
                      <a:pPr algn="ctr" fontAlgn="b"/>
                      <a:r>
                        <a:rPr lang="en-IN" sz="1100" b="0" u="none" strike="noStrike">
                          <a:solidFill>
                            <a:srgbClr val="000000"/>
                          </a:solidFill>
                          <a:effectLst/>
                        </a:rPr>
                        <a:t>CA Lynn</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69.53</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23253406"/>
                  </a:ext>
                </a:extLst>
              </a:tr>
              <a:tr h="245792">
                <a:tc>
                  <a:txBody>
                    <a:bodyPr/>
                    <a:lstStyle/>
                    <a:p>
                      <a:pPr algn="ctr" fontAlgn="b"/>
                      <a:r>
                        <a:rPr lang="en-IN" sz="1100" b="0" u="none" strike="noStrike">
                          <a:solidFill>
                            <a:srgbClr val="000000"/>
                          </a:solidFill>
                          <a:effectLst/>
                        </a:rPr>
                        <a:t>Harbhajan Singh</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68.52</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96726097"/>
                  </a:ext>
                </a:extLst>
              </a:tr>
              <a:tr h="240986">
                <a:tc>
                  <a:txBody>
                    <a:bodyPr/>
                    <a:lstStyle/>
                    <a:p>
                      <a:pPr algn="ctr" fontAlgn="b"/>
                      <a:r>
                        <a:rPr lang="en-IN" sz="1100" b="0" u="none" strike="noStrike" dirty="0">
                          <a:solidFill>
                            <a:srgbClr val="000000"/>
                          </a:solidFill>
                          <a:effectLst/>
                        </a:rPr>
                        <a:t>SR Watson</a:t>
                      </a:r>
                      <a:endParaRPr lang="en-IN"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dirty="0">
                          <a:solidFill>
                            <a:srgbClr val="000000"/>
                          </a:solidFill>
                          <a:effectLst/>
                        </a:rPr>
                        <a:t>68.25</a:t>
                      </a:r>
                      <a:endParaRPr lang="en-IN"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960554579"/>
                  </a:ext>
                </a:extLst>
              </a:tr>
            </a:tbl>
          </a:graphicData>
        </a:graphic>
      </p:graphicFrame>
      <p:graphicFrame>
        <p:nvGraphicFramePr>
          <p:cNvPr id="7" name="Chart 6">
            <a:extLst>
              <a:ext uri="{FF2B5EF4-FFF2-40B4-BE49-F238E27FC236}">
                <a16:creationId xmlns:a16="http://schemas.microsoft.com/office/drawing/2014/main" id="{B5BCCBAF-76FB-94D4-B3FA-EC5327777EEB}"/>
              </a:ext>
            </a:extLst>
          </p:cNvPr>
          <p:cNvGraphicFramePr>
            <a:graphicFrameLocks/>
          </p:cNvGraphicFramePr>
          <p:nvPr>
            <p:extLst>
              <p:ext uri="{D42A27DB-BD31-4B8C-83A1-F6EECF244321}">
                <p14:modId xmlns:p14="http://schemas.microsoft.com/office/powerpoint/2010/main" val="3860774035"/>
              </p:ext>
            </p:extLst>
          </p:nvPr>
        </p:nvGraphicFramePr>
        <p:xfrm>
          <a:off x="4321276" y="3976206"/>
          <a:ext cx="5137355" cy="2655652"/>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2E9D2882-6C16-3EB6-CB4F-66349B066D2A}"/>
              </a:ext>
            </a:extLst>
          </p:cNvPr>
          <p:cNvSpPr txBox="1"/>
          <p:nvPr/>
        </p:nvSpPr>
        <p:spPr>
          <a:xfrm>
            <a:off x="403122" y="3105834"/>
            <a:ext cx="8996514" cy="646331"/>
          </a:xfrm>
          <a:prstGeom prst="rect">
            <a:avLst/>
          </a:prstGeom>
          <a:noFill/>
        </p:spPr>
        <p:txBody>
          <a:bodyPr wrap="square" rtlCol="0">
            <a:spAutoFit/>
          </a:bodyPr>
          <a:lstStyle/>
          <a:p>
            <a:r>
              <a:rPr lang="en-US" b="1" dirty="0"/>
              <a:t>Below on the left we have the output of above query, which I have used to create graph on right.</a:t>
            </a:r>
            <a:endParaRPr lang="en-IN" b="1" dirty="0"/>
          </a:p>
        </p:txBody>
      </p:sp>
    </p:spTree>
    <p:extLst>
      <p:ext uri="{BB962C8B-B14F-4D97-AF65-F5344CB8AC3E}">
        <p14:creationId xmlns:p14="http://schemas.microsoft.com/office/powerpoint/2010/main" val="1940109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74D0AD-A5B7-6805-4E0F-92B8B8C5868A}"/>
              </a:ext>
            </a:extLst>
          </p:cNvPr>
          <p:cNvSpPr txBox="1"/>
          <p:nvPr/>
        </p:nvSpPr>
        <p:spPr>
          <a:xfrm>
            <a:off x="206476" y="304800"/>
            <a:ext cx="9842091" cy="707886"/>
          </a:xfrm>
          <a:prstGeom prst="rect">
            <a:avLst/>
          </a:prstGeom>
          <a:noFill/>
        </p:spPr>
        <p:txBody>
          <a:bodyPr wrap="square" rtlCol="0">
            <a:spAutoFit/>
          </a:bodyPr>
          <a:lstStyle/>
          <a:p>
            <a:r>
              <a:rPr lang="en-US" sz="2000" b="1" dirty="0"/>
              <a:t>Fourth Query- </a:t>
            </a:r>
            <a:r>
              <a:rPr lang="en-US" sz="2000" dirty="0"/>
              <a:t>List of 10 bowlers with the best economy who have bowled at least 500 balls in IPL.</a:t>
            </a:r>
            <a:endParaRPr lang="en-IN" sz="2000" dirty="0"/>
          </a:p>
        </p:txBody>
      </p:sp>
      <p:sp>
        <p:nvSpPr>
          <p:cNvPr id="3" name="TextBox 2">
            <a:extLst>
              <a:ext uri="{FF2B5EF4-FFF2-40B4-BE49-F238E27FC236}">
                <a16:creationId xmlns:a16="http://schemas.microsoft.com/office/drawing/2014/main" id="{4FD5D673-3F25-14FE-EAAD-B28FD50D9824}"/>
              </a:ext>
            </a:extLst>
          </p:cNvPr>
          <p:cNvSpPr txBox="1"/>
          <p:nvPr/>
        </p:nvSpPr>
        <p:spPr>
          <a:xfrm>
            <a:off x="383457" y="1150374"/>
            <a:ext cx="9507794" cy="2031325"/>
          </a:xfrm>
          <a:prstGeom prst="rect">
            <a:avLst/>
          </a:prstGeom>
          <a:noFill/>
        </p:spPr>
        <p:txBody>
          <a:bodyPr wrap="square" rtlCol="0">
            <a:spAutoFit/>
          </a:bodyPr>
          <a:lstStyle/>
          <a:p>
            <a:pPr marL="285750" indent="-285750">
              <a:buFont typeface="Arial" panose="020B0604020202020204" pitchFamily="34" charset="0"/>
              <a:buChar char="•"/>
            </a:pPr>
            <a:r>
              <a:rPr lang="en-US" b="1" dirty="0"/>
              <a:t>Below the SQL query which I have used to get the data of 10 bowlers with the best economy who have bowled at least 500 balls in IPL.</a:t>
            </a:r>
          </a:p>
          <a:p>
            <a:endParaRPr lang="en-US" dirty="0"/>
          </a:p>
          <a:p>
            <a:pPr marL="285750" indent="-285750">
              <a:buFont typeface="Arial" panose="020B0604020202020204" pitchFamily="34" charset="0"/>
              <a:buChar char="•"/>
            </a:pPr>
            <a:r>
              <a:rPr lang="en-US" b="1" dirty="0">
                <a:solidFill>
                  <a:srgbClr val="4522DC"/>
                </a:solidFill>
              </a:rPr>
              <a:t>select bowler, round(sum(total_runs)/(count(bowler)/6.0),2) as economy from IPL_Ball group by bowler having count(bowler)&gt;500order by economy limit 10;</a:t>
            </a:r>
          </a:p>
          <a:p>
            <a:pPr marL="285750" indent="-285750">
              <a:buFont typeface="Arial" panose="020B0604020202020204" pitchFamily="34" charset="0"/>
              <a:buChar char="•"/>
            </a:pPr>
            <a:endParaRPr lang="en-US" b="1" dirty="0">
              <a:solidFill>
                <a:srgbClr val="4522DC"/>
              </a:solidFill>
            </a:endParaRPr>
          </a:p>
          <a:p>
            <a:r>
              <a:rPr lang="en-US" dirty="0"/>
              <a:t> </a:t>
            </a:r>
            <a:endParaRPr lang="en-IN" dirty="0"/>
          </a:p>
        </p:txBody>
      </p:sp>
      <p:graphicFrame>
        <p:nvGraphicFramePr>
          <p:cNvPr id="5" name="Table 4">
            <a:extLst>
              <a:ext uri="{FF2B5EF4-FFF2-40B4-BE49-F238E27FC236}">
                <a16:creationId xmlns:a16="http://schemas.microsoft.com/office/drawing/2014/main" id="{260409BE-59CE-CD43-E366-84890EBE8ADF}"/>
              </a:ext>
            </a:extLst>
          </p:cNvPr>
          <p:cNvGraphicFramePr>
            <a:graphicFrameLocks noGrp="1"/>
          </p:cNvGraphicFramePr>
          <p:nvPr>
            <p:extLst>
              <p:ext uri="{D42A27DB-BD31-4B8C-83A1-F6EECF244321}">
                <p14:modId xmlns:p14="http://schemas.microsoft.com/office/powerpoint/2010/main" val="2097037491"/>
              </p:ext>
            </p:extLst>
          </p:nvPr>
        </p:nvGraphicFramePr>
        <p:xfrm>
          <a:off x="481781" y="3873074"/>
          <a:ext cx="2694038" cy="2743202"/>
        </p:xfrm>
        <a:graphic>
          <a:graphicData uri="http://schemas.openxmlformats.org/drawingml/2006/table">
            <a:tbl>
              <a:tblPr>
                <a:tableStyleId>{3C2FFA5D-87B4-456A-9821-1D502468CF0F}</a:tableStyleId>
              </a:tblPr>
              <a:tblGrid>
                <a:gridCol w="1347019">
                  <a:extLst>
                    <a:ext uri="{9D8B030D-6E8A-4147-A177-3AD203B41FA5}">
                      <a16:colId xmlns:a16="http://schemas.microsoft.com/office/drawing/2014/main" val="1617056099"/>
                    </a:ext>
                  </a:extLst>
                </a:gridCol>
                <a:gridCol w="1347019">
                  <a:extLst>
                    <a:ext uri="{9D8B030D-6E8A-4147-A177-3AD203B41FA5}">
                      <a16:colId xmlns:a16="http://schemas.microsoft.com/office/drawing/2014/main" val="1124185363"/>
                    </a:ext>
                  </a:extLst>
                </a:gridCol>
              </a:tblGrid>
              <a:tr h="249382">
                <a:tc>
                  <a:txBody>
                    <a:bodyPr/>
                    <a:lstStyle/>
                    <a:p>
                      <a:pPr algn="ctr" fontAlgn="b"/>
                      <a:r>
                        <a:rPr lang="en-IN" sz="1200" b="1" u="none" strike="noStrike" dirty="0">
                          <a:solidFill>
                            <a:srgbClr val="000000"/>
                          </a:solidFill>
                          <a:effectLst/>
                        </a:rPr>
                        <a:t>bowler</a:t>
                      </a:r>
                      <a:endParaRPr lang="en-IN" sz="12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1" u="none" strike="noStrike" dirty="0">
                          <a:solidFill>
                            <a:srgbClr val="000000"/>
                          </a:solidFill>
                          <a:effectLst/>
                        </a:rPr>
                        <a:t>economy</a:t>
                      </a:r>
                      <a:endParaRPr lang="en-IN" sz="12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51489479"/>
                  </a:ext>
                </a:extLst>
              </a:tr>
              <a:tr h="249382">
                <a:tc>
                  <a:txBody>
                    <a:bodyPr/>
                    <a:lstStyle/>
                    <a:p>
                      <a:pPr algn="ctr" fontAlgn="b"/>
                      <a:r>
                        <a:rPr lang="en-IN" sz="1100" b="0" u="none" strike="noStrike">
                          <a:solidFill>
                            <a:srgbClr val="000000"/>
                          </a:solidFill>
                          <a:effectLst/>
                        </a:rPr>
                        <a:t>Rashid Khan</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6.33</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48639399"/>
                  </a:ext>
                </a:extLst>
              </a:tr>
              <a:tr h="249382">
                <a:tc>
                  <a:txBody>
                    <a:bodyPr/>
                    <a:lstStyle/>
                    <a:p>
                      <a:pPr algn="ctr" fontAlgn="b"/>
                      <a:r>
                        <a:rPr lang="en-IN" sz="1100" b="0" u="none" strike="noStrike">
                          <a:solidFill>
                            <a:srgbClr val="000000"/>
                          </a:solidFill>
                          <a:effectLst/>
                        </a:rPr>
                        <a:t>A Kumble</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6.65</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44166104"/>
                  </a:ext>
                </a:extLst>
              </a:tr>
              <a:tr h="249382">
                <a:tc>
                  <a:txBody>
                    <a:bodyPr/>
                    <a:lstStyle/>
                    <a:p>
                      <a:pPr algn="ctr" fontAlgn="b"/>
                      <a:r>
                        <a:rPr lang="en-IN" sz="1100" b="0" u="none" strike="noStrike">
                          <a:solidFill>
                            <a:srgbClr val="000000"/>
                          </a:solidFill>
                          <a:effectLst/>
                        </a:rPr>
                        <a:t>M Muralitharan</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6.68</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33831410"/>
                  </a:ext>
                </a:extLst>
              </a:tr>
              <a:tr h="249382">
                <a:tc>
                  <a:txBody>
                    <a:bodyPr/>
                    <a:lstStyle/>
                    <a:p>
                      <a:pPr algn="ctr" fontAlgn="b"/>
                      <a:r>
                        <a:rPr lang="en-IN" sz="1100" b="0" u="none" strike="noStrike">
                          <a:solidFill>
                            <a:srgbClr val="000000"/>
                          </a:solidFill>
                          <a:effectLst/>
                        </a:rPr>
                        <a:t>DW Steyn</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6.77</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51588829"/>
                  </a:ext>
                </a:extLst>
              </a:tr>
              <a:tr h="249382">
                <a:tc>
                  <a:txBody>
                    <a:bodyPr/>
                    <a:lstStyle/>
                    <a:p>
                      <a:pPr algn="ctr" fontAlgn="b"/>
                      <a:r>
                        <a:rPr lang="en-IN" sz="1100" b="0" u="none" strike="noStrike">
                          <a:solidFill>
                            <a:srgbClr val="000000"/>
                          </a:solidFill>
                          <a:effectLst/>
                        </a:rPr>
                        <a:t>R Ashwin</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6.77</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47606907"/>
                  </a:ext>
                </a:extLst>
              </a:tr>
              <a:tr h="249382">
                <a:tc>
                  <a:txBody>
                    <a:bodyPr/>
                    <a:lstStyle/>
                    <a:p>
                      <a:pPr algn="ctr" fontAlgn="b"/>
                      <a:r>
                        <a:rPr lang="en-IN" sz="1100" b="0" u="none" strike="noStrike">
                          <a:solidFill>
                            <a:srgbClr val="000000"/>
                          </a:solidFill>
                          <a:effectLst/>
                        </a:rPr>
                        <a:t>SP Narine</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6.82</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024731374"/>
                  </a:ext>
                </a:extLst>
              </a:tr>
              <a:tr h="249382">
                <a:tc>
                  <a:txBody>
                    <a:bodyPr/>
                    <a:lstStyle/>
                    <a:p>
                      <a:pPr algn="ctr" fontAlgn="b"/>
                      <a:r>
                        <a:rPr lang="en-IN" sz="1100" b="0" u="none" strike="noStrike">
                          <a:solidFill>
                            <a:srgbClr val="000000"/>
                          </a:solidFill>
                          <a:effectLst/>
                        </a:rPr>
                        <a:t>DL Vettori</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6.83</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02321178"/>
                  </a:ext>
                </a:extLst>
              </a:tr>
              <a:tr h="249382">
                <a:tc>
                  <a:txBody>
                    <a:bodyPr/>
                    <a:lstStyle/>
                    <a:p>
                      <a:pPr algn="ctr" fontAlgn="b"/>
                      <a:r>
                        <a:rPr lang="en-IN" sz="1100" b="0" u="none" strike="noStrike">
                          <a:solidFill>
                            <a:srgbClr val="000000"/>
                          </a:solidFill>
                          <a:effectLst/>
                        </a:rPr>
                        <a:t>Washington Sundar</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6.89</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47091746"/>
                  </a:ext>
                </a:extLst>
              </a:tr>
              <a:tr h="249382">
                <a:tc>
                  <a:txBody>
                    <a:bodyPr/>
                    <a:lstStyle/>
                    <a:p>
                      <a:pPr algn="ctr" fontAlgn="b"/>
                      <a:r>
                        <a:rPr lang="en-IN" sz="1100" b="0" u="none" strike="noStrike">
                          <a:solidFill>
                            <a:srgbClr val="000000"/>
                          </a:solidFill>
                          <a:effectLst/>
                        </a:rPr>
                        <a:t>J Botha</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6.92</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80966676"/>
                  </a:ext>
                </a:extLst>
              </a:tr>
              <a:tr h="249382">
                <a:tc>
                  <a:txBody>
                    <a:bodyPr/>
                    <a:lstStyle/>
                    <a:p>
                      <a:pPr algn="ctr" fontAlgn="b"/>
                      <a:r>
                        <a:rPr lang="en-IN" sz="1100" b="0" u="none" strike="noStrike">
                          <a:solidFill>
                            <a:srgbClr val="000000"/>
                          </a:solidFill>
                          <a:effectLst/>
                        </a:rPr>
                        <a:t>R Tewatia</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dirty="0">
                          <a:solidFill>
                            <a:srgbClr val="000000"/>
                          </a:solidFill>
                          <a:effectLst/>
                        </a:rPr>
                        <a:t>6.99</a:t>
                      </a:r>
                      <a:endParaRPr lang="en-IN"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33850156"/>
                  </a:ext>
                </a:extLst>
              </a:tr>
            </a:tbl>
          </a:graphicData>
        </a:graphic>
      </p:graphicFrame>
      <p:graphicFrame>
        <p:nvGraphicFramePr>
          <p:cNvPr id="7" name="Chart 6">
            <a:extLst>
              <a:ext uri="{FF2B5EF4-FFF2-40B4-BE49-F238E27FC236}">
                <a16:creationId xmlns:a16="http://schemas.microsoft.com/office/drawing/2014/main" id="{6DFE4F13-B1B8-D63A-88A7-D4CAF02F7B4F}"/>
              </a:ext>
            </a:extLst>
          </p:cNvPr>
          <p:cNvGraphicFramePr>
            <a:graphicFrameLocks/>
          </p:cNvGraphicFramePr>
          <p:nvPr>
            <p:extLst>
              <p:ext uri="{D42A27DB-BD31-4B8C-83A1-F6EECF244321}">
                <p14:modId xmlns:p14="http://schemas.microsoft.com/office/powerpoint/2010/main" val="211941164"/>
              </p:ext>
            </p:extLst>
          </p:nvPr>
        </p:nvGraphicFramePr>
        <p:xfrm>
          <a:off x="3716593" y="3873072"/>
          <a:ext cx="5299590" cy="2743202"/>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5805E772-EA5F-69BF-EE82-BF29692B500F}"/>
              </a:ext>
            </a:extLst>
          </p:cNvPr>
          <p:cNvSpPr txBox="1"/>
          <p:nvPr/>
        </p:nvSpPr>
        <p:spPr>
          <a:xfrm>
            <a:off x="294968" y="2881053"/>
            <a:ext cx="8819535" cy="646331"/>
          </a:xfrm>
          <a:prstGeom prst="rect">
            <a:avLst/>
          </a:prstGeom>
          <a:noFill/>
        </p:spPr>
        <p:txBody>
          <a:bodyPr wrap="square" rtlCol="0">
            <a:spAutoFit/>
          </a:bodyPr>
          <a:lstStyle/>
          <a:p>
            <a:r>
              <a:rPr lang="en-US" b="1" dirty="0"/>
              <a:t>Below on the left we have the output of above query, which I have used to create graph on right.</a:t>
            </a:r>
            <a:endParaRPr lang="en-IN" b="1" dirty="0"/>
          </a:p>
        </p:txBody>
      </p:sp>
    </p:spTree>
    <p:extLst>
      <p:ext uri="{BB962C8B-B14F-4D97-AF65-F5344CB8AC3E}">
        <p14:creationId xmlns:p14="http://schemas.microsoft.com/office/powerpoint/2010/main" val="38010119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3A0823-4022-F93E-17AA-83AE10A561F5}"/>
              </a:ext>
            </a:extLst>
          </p:cNvPr>
          <p:cNvSpPr txBox="1"/>
          <p:nvPr/>
        </p:nvSpPr>
        <p:spPr>
          <a:xfrm>
            <a:off x="324464" y="304799"/>
            <a:ext cx="9340646" cy="707886"/>
          </a:xfrm>
          <a:prstGeom prst="rect">
            <a:avLst/>
          </a:prstGeom>
          <a:noFill/>
        </p:spPr>
        <p:txBody>
          <a:bodyPr wrap="square" rtlCol="0">
            <a:spAutoFit/>
          </a:bodyPr>
          <a:lstStyle/>
          <a:p>
            <a:r>
              <a:rPr lang="en-US" sz="2000" b="1" dirty="0"/>
              <a:t>Fifth Query- </a:t>
            </a:r>
            <a:r>
              <a:rPr lang="en-US" sz="2000" dirty="0"/>
              <a:t>List of 10 bowlers who have the best strike rate and who gave bowled at least 500 balls.</a:t>
            </a:r>
            <a:endParaRPr lang="en-IN" sz="2000" dirty="0"/>
          </a:p>
        </p:txBody>
      </p:sp>
      <p:sp>
        <p:nvSpPr>
          <p:cNvPr id="5" name="TextBox 4">
            <a:extLst>
              <a:ext uri="{FF2B5EF4-FFF2-40B4-BE49-F238E27FC236}">
                <a16:creationId xmlns:a16="http://schemas.microsoft.com/office/drawing/2014/main" id="{6458BCD7-F2CE-7A06-D847-A155E4C30E6F}"/>
              </a:ext>
            </a:extLst>
          </p:cNvPr>
          <p:cNvSpPr txBox="1"/>
          <p:nvPr/>
        </p:nvSpPr>
        <p:spPr>
          <a:xfrm>
            <a:off x="186813" y="1012685"/>
            <a:ext cx="9812594" cy="2308324"/>
          </a:xfrm>
          <a:prstGeom prst="rect">
            <a:avLst/>
          </a:prstGeom>
          <a:noFill/>
        </p:spPr>
        <p:txBody>
          <a:bodyPr wrap="square" rtlCol="0">
            <a:spAutoFit/>
          </a:bodyPr>
          <a:lstStyle/>
          <a:p>
            <a:pPr marL="285750" indent="-285750">
              <a:buFont typeface="Arial" panose="020B0604020202020204" pitchFamily="34" charset="0"/>
              <a:buChar char="•"/>
            </a:pPr>
            <a:r>
              <a:rPr lang="en-US" b="1" dirty="0"/>
              <a:t>Below the SQL query which I have used to get the data of 10 bowlers who have the best strike rate and who gave bowled at least 500 balls.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IN" b="1" dirty="0">
                <a:solidFill>
                  <a:srgbClr val="4522DC"/>
                </a:solidFill>
              </a:rPr>
              <a:t>with validDismissals as (select bowler, is_wicket, case when dismissal_kind in ('bowled','caught','caught and bowled', 'hit wicket', 'lbw','stumped') then 1 else 0 end as is_valid_dismissal from IPL_ball)select bowler, round(count(bowler)*1.0/sum(is_valid_dismissal),2) as bowling_sr from validDismissals group by bowler having count(bowler)&gt;500 order by bowling_sr limit 10;</a:t>
            </a:r>
          </a:p>
        </p:txBody>
      </p:sp>
      <p:graphicFrame>
        <p:nvGraphicFramePr>
          <p:cNvPr id="7" name="Table 6">
            <a:extLst>
              <a:ext uri="{FF2B5EF4-FFF2-40B4-BE49-F238E27FC236}">
                <a16:creationId xmlns:a16="http://schemas.microsoft.com/office/drawing/2014/main" id="{2ABC5E38-754E-7B74-2D73-B4BDE0EF987C}"/>
              </a:ext>
            </a:extLst>
          </p:cNvPr>
          <p:cNvGraphicFramePr>
            <a:graphicFrameLocks noGrp="1"/>
          </p:cNvGraphicFramePr>
          <p:nvPr>
            <p:extLst>
              <p:ext uri="{D42A27DB-BD31-4B8C-83A1-F6EECF244321}">
                <p14:modId xmlns:p14="http://schemas.microsoft.com/office/powerpoint/2010/main" val="1149386861"/>
              </p:ext>
            </p:extLst>
          </p:nvPr>
        </p:nvGraphicFramePr>
        <p:xfrm>
          <a:off x="452284" y="4028895"/>
          <a:ext cx="3215148" cy="2676707"/>
        </p:xfrm>
        <a:graphic>
          <a:graphicData uri="http://schemas.openxmlformats.org/drawingml/2006/table">
            <a:tbl>
              <a:tblPr>
                <a:tableStyleId>{3C2FFA5D-87B4-456A-9821-1D502468CF0F}</a:tableStyleId>
              </a:tblPr>
              <a:tblGrid>
                <a:gridCol w="1607574">
                  <a:extLst>
                    <a:ext uri="{9D8B030D-6E8A-4147-A177-3AD203B41FA5}">
                      <a16:colId xmlns:a16="http://schemas.microsoft.com/office/drawing/2014/main" val="4108451172"/>
                    </a:ext>
                  </a:extLst>
                </a:gridCol>
                <a:gridCol w="1607574">
                  <a:extLst>
                    <a:ext uri="{9D8B030D-6E8A-4147-A177-3AD203B41FA5}">
                      <a16:colId xmlns:a16="http://schemas.microsoft.com/office/drawing/2014/main" val="3813999705"/>
                    </a:ext>
                  </a:extLst>
                </a:gridCol>
              </a:tblGrid>
              <a:tr h="243337">
                <a:tc>
                  <a:txBody>
                    <a:bodyPr/>
                    <a:lstStyle/>
                    <a:p>
                      <a:pPr algn="ctr" fontAlgn="b"/>
                      <a:r>
                        <a:rPr lang="en-IN" sz="1400" b="1" u="none" strike="noStrike" dirty="0">
                          <a:solidFill>
                            <a:srgbClr val="000000"/>
                          </a:solidFill>
                          <a:effectLst/>
                        </a:rPr>
                        <a:t>bowler</a:t>
                      </a:r>
                      <a:endParaRPr lang="en-IN" sz="14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b="1" i="0" u="none" strike="noStrike" dirty="0">
                          <a:solidFill>
                            <a:srgbClr val="000000"/>
                          </a:solidFill>
                          <a:effectLst/>
                          <a:latin typeface="Calibri" panose="020F0502020204030204" pitchFamily="34" charset="0"/>
                        </a:rPr>
                        <a:t>B</a:t>
                      </a:r>
                      <a:r>
                        <a:rPr lang="en-IN" sz="1400" b="1" i="0" u="none" strike="noStrike" dirty="0">
                          <a:solidFill>
                            <a:srgbClr val="000000"/>
                          </a:solidFill>
                          <a:effectLst/>
                          <a:latin typeface="Calibri" panose="020F0502020204030204" pitchFamily="34" charset="0"/>
                        </a:rPr>
                        <a:t>owling sr</a:t>
                      </a:r>
                    </a:p>
                  </a:txBody>
                  <a:tcPr marL="7620" marR="7620" marT="7620" marB="0" anchor="b"/>
                </a:tc>
                <a:extLst>
                  <a:ext uri="{0D108BD9-81ED-4DB2-BD59-A6C34878D82A}">
                    <a16:rowId xmlns:a16="http://schemas.microsoft.com/office/drawing/2014/main" val="2178384153"/>
                  </a:ext>
                </a:extLst>
              </a:tr>
              <a:tr h="243337">
                <a:tc>
                  <a:txBody>
                    <a:bodyPr/>
                    <a:lstStyle/>
                    <a:p>
                      <a:pPr algn="ctr" fontAlgn="b"/>
                      <a:r>
                        <a:rPr lang="en-IN" sz="1100" b="0" u="none" strike="noStrike">
                          <a:solidFill>
                            <a:srgbClr val="000000"/>
                          </a:solidFill>
                          <a:effectLst/>
                        </a:rPr>
                        <a:t>K Rabada</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13.77</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88328553"/>
                  </a:ext>
                </a:extLst>
              </a:tr>
              <a:tr h="243337">
                <a:tc>
                  <a:txBody>
                    <a:bodyPr/>
                    <a:lstStyle/>
                    <a:p>
                      <a:pPr algn="ctr" fontAlgn="b"/>
                      <a:r>
                        <a:rPr lang="en-IN" sz="1100" b="0" u="none" strike="noStrike">
                          <a:solidFill>
                            <a:srgbClr val="000000"/>
                          </a:solidFill>
                          <a:effectLst/>
                        </a:rPr>
                        <a:t>AJ Tye</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16.13</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67013192"/>
                  </a:ext>
                </a:extLst>
              </a:tr>
              <a:tr h="243337">
                <a:tc>
                  <a:txBody>
                    <a:bodyPr/>
                    <a:lstStyle/>
                    <a:p>
                      <a:pPr algn="ctr" fontAlgn="b"/>
                      <a:r>
                        <a:rPr lang="en-IN" sz="1100" b="0" u="none" strike="noStrike">
                          <a:solidFill>
                            <a:srgbClr val="000000"/>
                          </a:solidFill>
                          <a:effectLst/>
                        </a:rPr>
                        <a:t>DE Bollinger</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16.22</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015579148"/>
                  </a:ext>
                </a:extLst>
              </a:tr>
              <a:tr h="243337">
                <a:tc>
                  <a:txBody>
                    <a:bodyPr/>
                    <a:lstStyle/>
                    <a:p>
                      <a:pPr algn="ctr" fontAlgn="b"/>
                      <a:r>
                        <a:rPr lang="en-IN" sz="1100" b="0" u="none" strike="noStrike">
                          <a:solidFill>
                            <a:srgbClr val="000000"/>
                          </a:solidFill>
                          <a:effectLst/>
                        </a:rPr>
                        <a:t>Imran Tahir</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16.43</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184842330"/>
                  </a:ext>
                </a:extLst>
              </a:tr>
              <a:tr h="243337">
                <a:tc>
                  <a:txBody>
                    <a:bodyPr/>
                    <a:lstStyle/>
                    <a:p>
                      <a:pPr algn="ctr" fontAlgn="b"/>
                      <a:r>
                        <a:rPr lang="en-IN" sz="1100" b="0" u="none" strike="noStrike">
                          <a:solidFill>
                            <a:srgbClr val="000000"/>
                          </a:solidFill>
                          <a:effectLst/>
                        </a:rPr>
                        <a:t>SL Malinga</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17.49</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31193738"/>
                  </a:ext>
                </a:extLst>
              </a:tr>
              <a:tr h="243337">
                <a:tc>
                  <a:txBody>
                    <a:bodyPr/>
                    <a:lstStyle/>
                    <a:p>
                      <a:pPr algn="ctr" fontAlgn="b"/>
                      <a:r>
                        <a:rPr lang="en-IN" sz="1100" b="0" u="none" strike="noStrike">
                          <a:solidFill>
                            <a:srgbClr val="000000"/>
                          </a:solidFill>
                          <a:effectLst/>
                        </a:rPr>
                        <a:t>S Aravind</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17.51</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0771164"/>
                  </a:ext>
                </a:extLst>
              </a:tr>
              <a:tr h="243337">
                <a:tc>
                  <a:txBody>
                    <a:bodyPr/>
                    <a:lstStyle/>
                    <a:p>
                      <a:pPr algn="ctr" fontAlgn="b"/>
                      <a:r>
                        <a:rPr lang="en-IN" sz="1100" b="0" u="none" strike="noStrike">
                          <a:solidFill>
                            <a:srgbClr val="000000"/>
                          </a:solidFill>
                          <a:effectLst/>
                        </a:rPr>
                        <a:t>MA Starc</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18</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21881845"/>
                  </a:ext>
                </a:extLst>
              </a:tr>
              <a:tr h="243337">
                <a:tc>
                  <a:txBody>
                    <a:bodyPr/>
                    <a:lstStyle/>
                    <a:p>
                      <a:pPr algn="ctr" fontAlgn="b"/>
                      <a:r>
                        <a:rPr lang="en-IN" sz="1100" b="0" u="none" strike="noStrike">
                          <a:solidFill>
                            <a:srgbClr val="000000"/>
                          </a:solidFill>
                          <a:effectLst/>
                        </a:rPr>
                        <a:t>YS Chahal</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18.08</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78729404"/>
                  </a:ext>
                </a:extLst>
              </a:tr>
              <a:tr h="243337">
                <a:tc>
                  <a:txBody>
                    <a:bodyPr/>
                    <a:lstStyle/>
                    <a:p>
                      <a:pPr algn="ctr" fontAlgn="b"/>
                      <a:r>
                        <a:rPr lang="en-IN" sz="1100" b="0" u="none" strike="noStrike">
                          <a:solidFill>
                            <a:srgbClr val="000000"/>
                          </a:solidFill>
                          <a:effectLst/>
                        </a:rPr>
                        <a:t>KK Cooper</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18.18</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01444550"/>
                  </a:ext>
                </a:extLst>
              </a:tr>
              <a:tr h="243337">
                <a:tc>
                  <a:txBody>
                    <a:bodyPr/>
                    <a:lstStyle/>
                    <a:p>
                      <a:pPr algn="ctr" fontAlgn="b"/>
                      <a:r>
                        <a:rPr lang="en-IN" sz="1100" b="0" u="none" strike="noStrike">
                          <a:solidFill>
                            <a:srgbClr val="000000"/>
                          </a:solidFill>
                          <a:effectLst/>
                        </a:rPr>
                        <a:t>TA Boult</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dirty="0">
                          <a:solidFill>
                            <a:srgbClr val="000000"/>
                          </a:solidFill>
                          <a:effectLst/>
                        </a:rPr>
                        <a:t>18.29</a:t>
                      </a:r>
                      <a:endParaRPr lang="en-IN"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61358667"/>
                  </a:ext>
                </a:extLst>
              </a:tr>
            </a:tbl>
          </a:graphicData>
        </a:graphic>
      </p:graphicFrame>
      <p:graphicFrame>
        <p:nvGraphicFramePr>
          <p:cNvPr id="9" name="Chart 8">
            <a:extLst>
              <a:ext uri="{FF2B5EF4-FFF2-40B4-BE49-F238E27FC236}">
                <a16:creationId xmlns:a16="http://schemas.microsoft.com/office/drawing/2014/main" id="{E25B4292-BCEA-245A-BCC6-E4B8203AE275}"/>
              </a:ext>
            </a:extLst>
          </p:cNvPr>
          <p:cNvGraphicFramePr>
            <a:graphicFrameLocks/>
          </p:cNvGraphicFramePr>
          <p:nvPr>
            <p:extLst>
              <p:ext uri="{D42A27DB-BD31-4B8C-83A1-F6EECF244321}">
                <p14:modId xmlns:p14="http://schemas.microsoft.com/office/powerpoint/2010/main" val="1530506401"/>
              </p:ext>
            </p:extLst>
          </p:nvPr>
        </p:nvGraphicFramePr>
        <p:xfrm>
          <a:off x="3952567" y="3986431"/>
          <a:ext cx="5535561" cy="2761634"/>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EED444CD-A8E6-337D-3B46-8981255AD1CD}"/>
              </a:ext>
            </a:extLst>
          </p:cNvPr>
          <p:cNvSpPr txBox="1"/>
          <p:nvPr/>
        </p:nvSpPr>
        <p:spPr>
          <a:xfrm>
            <a:off x="324463" y="3288481"/>
            <a:ext cx="9586451" cy="646331"/>
          </a:xfrm>
          <a:prstGeom prst="rect">
            <a:avLst/>
          </a:prstGeom>
          <a:noFill/>
        </p:spPr>
        <p:txBody>
          <a:bodyPr wrap="square" rtlCol="0">
            <a:spAutoFit/>
          </a:bodyPr>
          <a:lstStyle/>
          <a:p>
            <a:r>
              <a:rPr lang="en-US" b="1" dirty="0"/>
              <a:t>Below on the left we have the output of the above query, which I have used to create the graph on right.</a:t>
            </a:r>
            <a:endParaRPr lang="en-IN" b="1" dirty="0"/>
          </a:p>
        </p:txBody>
      </p:sp>
    </p:spTree>
    <p:extLst>
      <p:ext uri="{BB962C8B-B14F-4D97-AF65-F5344CB8AC3E}">
        <p14:creationId xmlns:p14="http://schemas.microsoft.com/office/powerpoint/2010/main" val="3721117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E9E60A-7096-8DFF-48A3-084BD5DA426A}"/>
              </a:ext>
            </a:extLst>
          </p:cNvPr>
          <p:cNvSpPr txBox="1"/>
          <p:nvPr/>
        </p:nvSpPr>
        <p:spPr>
          <a:xfrm>
            <a:off x="108155" y="127819"/>
            <a:ext cx="9448799" cy="584775"/>
          </a:xfrm>
          <a:prstGeom prst="rect">
            <a:avLst/>
          </a:prstGeom>
          <a:noFill/>
        </p:spPr>
        <p:txBody>
          <a:bodyPr wrap="square" rtlCol="0">
            <a:spAutoFit/>
          </a:bodyPr>
          <a:lstStyle/>
          <a:p>
            <a:r>
              <a:rPr lang="en-US" sz="1600" b="1" dirty="0"/>
              <a:t>Sixth Query- </a:t>
            </a:r>
            <a:r>
              <a:rPr lang="en-US" sz="1600" dirty="0"/>
              <a:t>List of 10 allrounders who have the best bowling and batting strike rate and who gave faced at least 500 balls and bowled at least 300 balls.  </a:t>
            </a:r>
            <a:endParaRPr lang="en-IN" sz="1600" dirty="0"/>
          </a:p>
        </p:txBody>
      </p:sp>
      <p:sp>
        <p:nvSpPr>
          <p:cNvPr id="4" name="TextBox 3">
            <a:extLst>
              <a:ext uri="{FF2B5EF4-FFF2-40B4-BE49-F238E27FC236}">
                <a16:creationId xmlns:a16="http://schemas.microsoft.com/office/drawing/2014/main" id="{086D0871-B10B-03C7-1935-13B6D4A95696}"/>
              </a:ext>
            </a:extLst>
          </p:cNvPr>
          <p:cNvSpPr txBox="1"/>
          <p:nvPr/>
        </p:nvSpPr>
        <p:spPr>
          <a:xfrm>
            <a:off x="108155" y="712594"/>
            <a:ext cx="10854813" cy="2523768"/>
          </a:xfrm>
          <a:prstGeom prst="rect">
            <a:avLst/>
          </a:prstGeom>
          <a:noFill/>
        </p:spPr>
        <p:txBody>
          <a:bodyPr wrap="square" rtlCol="0">
            <a:spAutoFit/>
          </a:bodyPr>
          <a:lstStyle/>
          <a:p>
            <a:r>
              <a:rPr lang="en-US" sz="1400" dirty="0"/>
              <a:t>create table bats_sr as (select batsman, Round((SUM(batsman_runs)*1.0/Count(ball))*100,2) As Batsman_SR from IPL_Ballwhere extras_type not in ('wides')group by batsman having count (ball)&gt;500order by Batsman_SR desc);</a:t>
            </a:r>
          </a:p>
          <a:p>
            <a:r>
              <a:rPr lang="en-US" sz="1400" dirty="0"/>
              <a:t>select * from bats_sr;</a:t>
            </a:r>
          </a:p>
          <a:p>
            <a:r>
              <a:rPr lang="en-US" sz="1400" dirty="0"/>
              <a:t>create table bowl_sr as (with validDismissals as (select bowler, is_wicket, case when dismissal_kind in ('bowled','caught','caught and bowled', 'hit wicket', ‘lbw’, 'stumped') then 1 else 0 end as is_valid_dismissal from IPL_ball)select bowler, round(count(bowler)*1.0/sum(is_valid_dismissal),2)as bowling_sr from validDismissals group by bowler having count(bowler)&gt;500 order by bowling_sr desc);</a:t>
            </a:r>
          </a:p>
          <a:p>
            <a:r>
              <a:rPr lang="en-US" sz="1400" dirty="0"/>
              <a:t>select * from bowl_sr;</a:t>
            </a:r>
          </a:p>
          <a:p>
            <a:r>
              <a:rPr lang="en-US" sz="1400" dirty="0"/>
              <a:t>select a.batsman as all_rounder, a.batsman_sr, b.bowling_sr from bats_sr a inner join bowl_sr b on a.batsman = b.bowlerorder by a.batsman_sr desc, b.bowling_sr asc limit 10;</a:t>
            </a:r>
          </a:p>
          <a:p>
            <a:endParaRPr lang="en-IN" dirty="0"/>
          </a:p>
        </p:txBody>
      </p:sp>
      <p:graphicFrame>
        <p:nvGraphicFramePr>
          <p:cNvPr id="8" name="Table 7">
            <a:extLst>
              <a:ext uri="{FF2B5EF4-FFF2-40B4-BE49-F238E27FC236}">
                <a16:creationId xmlns:a16="http://schemas.microsoft.com/office/drawing/2014/main" id="{0C35974A-F06D-6B1A-72BF-CDBC0CA2C82C}"/>
              </a:ext>
            </a:extLst>
          </p:cNvPr>
          <p:cNvGraphicFramePr>
            <a:graphicFrameLocks noGrp="1"/>
          </p:cNvGraphicFramePr>
          <p:nvPr>
            <p:extLst>
              <p:ext uri="{D42A27DB-BD31-4B8C-83A1-F6EECF244321}">
                <p14:modId xmlns:p14="http://schemas.microsoft.com/office/powerpoint/2010/main" val="512675350"/>
              </p:ext>
            </p:extLst>
          </p:nvPr>
        </p:nvGraphicFramePr>
        <p:xfrm>
          <a:off x="845574" y="3236361"/>
          <a:ext cx="3539613" cy="3370917"/>
        </p:xfrm>
        <a:graphic>
          <a:graphicData uri="http://schemas.openxmlformats.org/drawingml/2006/table">
            <a:tbl>
              <a:tblPr>
                <a:tableStyleId>{3C2FFA5D-87B4-456A-9821-1D502468CF0F}</a:tableStyleId>
              </a:tblPr>
              <a:tblGrid>
                <a:gridCol w="1454111">
                  <a:extLst>
                    <a:ext uri="{9D8B030D-6E8A-4147-A177-3AD203B41FA5}">
                      <a16:colId xmlns:a16="http://schemas.microsoft.com/office/drawing/2014/main" val="2268939605"/>
                    </a:ext>
                  </a:extLst>
                </a:gridCol>
                <a:gridCol w="1071451">
                  <a:extLst>
                    <a:ext uri="{9D8B030D-6E8A-4147-A177-3AD203B41FA5}">
                      <a16:colId xmlns:a16="http://schemas.microsoft.com/office/drawing/2014/main" val="741150443"/>
                    </a:ext>
                  </a:extLst>
                </a:gridCol>
                <a:gridCol w="1014051">
                  <a:extLst>
                    <a:ext uri="{9D8B030D-6E8A-4147-A177-3AD203B41FA5}">
                      <a16:colId xmlns:a16="http://schemas.microsoft.com/office/drawing/2014/main" val="1361928845"/>
                    </a:ext>
                  </a:extLst>
                </a:gridCol>
              </a:tblGrid>
              <a:tr h="306447">
                <a:tc>
                  <a:txBody>
                    <a:bodyPr/>
                    <a:lstStyle/>
                    <a:p>
                      <a:pPr algn="ctr" fontAlgn="b"/>
                      <a:r>
                        <a:rPr lang="en-IN" sz="1400" b="1" u="none" strike="noStrike" dirty="0">
                          <a:solidFill>
                            <a:srgbClr val="000000"/>
                          </a:solidFill>
                          <a:effectLst/>
                        </a:rPr>
                        <a:t>All _rounder</a:t>
                      </a:r>
                      <a:endParaRPr lang="en-IN" sz="14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b="1" u="none" strike="noStrike" dirty="0">
                          <a:solidFill>
                            <a:srgbClr val="000000"/>
                          </a:solidFill>
                          <a:effectLst/>
                        </a:rPr>
                        <a:t>Batsman_ sr</a:t>
                      </a:r>
                      <a:endParaRPr lang="en-IN" sz="14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b="1" u="none" strike="noStrike" dirty="0">
                          <a:solidFill>
                            <a:srgbClr val="000000"/>
                          </a:solidFill>
                          <a:effectLst/>
                        </a:rPr>
                        <a:t>bowling_sr</a:t>
                      </a:r>
                      <a:endParaRPr lang="en-IN" sz="14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89418618"/>
                  </a:ext>
                </a:extLst>
              </a:tr>
              <a:tr h="306447">
                <a:tc>
                  <a:txBody>
                    <a:bodyPr/>
                    <a:lstStyle/>
                    <a:p>
                      <a:pPr algn="ctr" fontAlgn="b"/>
                      <a:r>
                        <a:rPr lang="en-IN" sz="1200" b="0" u="none" strike="noStrike" dirty="0">
                          <a:solidFill>
                            <a:srgbClr val="000000"/>
                          </a:solidFill>
                          <a:effectLst/>
                        </a:rPr>
                        <a:t>AD Russell</a:t>
                      </a:r>
                      <a:endParaRPr lang="en-IN"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a:solidFill>
                            <a:srgbClr val="000000"/>
                          </a:solidFill>
                          <a:effectLst/>
                        </a:rPr>
                        <a:t>182.33</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a:solidFill>
                            <a:srgbClr val="000000"/>
                          </a:solidFill>
                          <a:effectLst/>
                        </a:rPr>
                        <a:t>19.44</a:t>
                      </a:r>
                      <a:endParaRPr lang="en-IN"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52146995"/>
                  </a:ext>
                </a:extLst>
              </a:tr>
              <a:tr h="306447">
                <a:tc>
                  <a:txBody>
                    <a:bodyPr/>
                    <a:lstStyle/>
                    <a:p>
                      <a:pPr algn="ctr" fontAlgn="b"/>
                      <a:r>
                        <a:rPr lang="en-IN" sz="1200" b="0" u="none" strike="noStrike">
                          <a:solidFill>
                            <a:srgbClr val="000000"/>
                          </a:solidFill>
                          <a:effectLst/>
                        </a:rPr>
                        <a:t>SP Narine</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a:solidFill>
                            <a:srgbClr val="000000"/>
                          </a:solidFill>
                          <a:effectLst/>
                        </a:rPr>
                        <a:t>164.27</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a:solidFill>
                            <a:srgbClr val="000000"/>
                          </a:solidFill>
                          <a:effectLst/>
                        </a:rPr>
                        <a:t>22.24</a:t>
                      </a:r>
                      <a:endParaRPr lang="en-IN"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233572166"/>
                  </a:ext>
                </a:extLst>
              </a:tr>
              <a:tr h="306447">
                <a:tc>
                  <a:txBody>
                    <a:bodyPr/>
                    <a:lstStyle/>
                    <a:p>
                      <a:pPr algn="ctr" fontAlgn="b"/>
                      <a:r>
                        <a:rPr lang="en-IN" sz="1200" b="0" u="none" strike="noStrike">
                          <a:solidFill>
                            <a:srgbClr val="000000"/>
                          </a:solidFill>
                          <a:effectLst/>
                        </a:rPr>
                        <a:t>HH Pandya</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dirty="0">
                          <a:solidFill>
                            <a:srgbClr val="000000"/>
                          </a:solidFill>
                          <a:effectLst/>
                        </a:rPr>
                        <a:t>159.27</a:t>
                      </a:r>
                      <a:endParaRPr lang="en-IN"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a:solidFill>
                            <a:srgbClr val="000000"/>
                          </a:solidFill>
                          <a:effectLst/>
                        </a:rPr>
                        <a:t>21.76</a:t>
                      </a:r>
                      <a:endParaRPr lang="en-IN"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37480579"/>
                  </a:ext>
                </a:extLst>
              </a:tr>
              <a:tr h="306447">
                <a:tc>
                  <a:txBody>
                    <a:bodyPr/>
                    <a:lstStyle/>
                    <a:p>
                      <a:pPr algn="ctr" fontAlgn="b"/>
                      <a:r>
                        <a:rPr lang="en-IN" sz="1200" b="0" u="none" strike="noStrike">
                          <a:solidFill>
                            <a:srgbClr val="000000"/>
                          </a:solidFill>
                          <a:effectLst/>
                        </a:rPr>
                        <a:t>GJ Maxwell</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dirty="0">
                          <a:solidFill>
                            <a:srgbClr val="000000"/>
                          </a:solidFill>
                          <a:effectLst/>
                        </a:rPr>
                        <a:t>154.68</a:t>
                      </a:r>
                      <a:endParaRPr lang="en-IN"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a:solidFill>
                            <a:srgbClr val="000000"/>
                          </a:solidFill>
                          <a:effectLst/>
                        </a:rPr>
                        <a:t>29.37</a:t>
                      </a:r>
                      <a:endParaRPr lang="en-IN"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87436303"/>
                  </a:ext>
                </a:extLst>
              </a:tr>
              <a:tr h="306447">
                <a:tc>
                  <a:txBody>
                    <a:bodyPr/>
                    <a:lstStyle/>
                    <a:p>
                      <a:pPr algn="ctr" fontAlgn="b"/>
                      <a:r>
                        <a:rPr lang="en-IN" sz="1200" b="0" u="none" strike="noStrike">
                          <a:solidFill>
                            <a:srgbClr val="000000"/>
                          </a:solidFill>
                          <a:effectLst/>
                        </a:rPr>
                        <a:t>CH Gayle</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dirty="0">
                          <a:solidFill>
                            <a:srgbClr val="000000"/>
                          </a:solidFill>
                          <a:effectLst/>
                        </a:rPr>
                        <a:t>150.11</a:t>
                      </a:r>
                      <a:endParaRPr lang="en-IN"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a:solidFill>
                            <a:srgbClr val="000000"/>
                          </a:solidFill>
                          <a:effectLst/>
                        </a:rPr>
                        <a:t>32.44</a:t>
                      </a:r>
                      <a:endParaRPr lang="en-IN"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85141200"/>
                  </a:ext>
                </a:extLst>
              </a:tr>
              <a:tr h="306447">
                <a:tc>
                  <a:txBody>
                    <a:bodyPr/>
                    <a:lstStyle/>
                    <a:p>
                      <a:pPr algn="ctr" fontAlgn="b"/>
                      <a:r>
                        <a:rPr lang="en-IN" sz="1200" b="0" u="none" strike="noStrike">
                          <a:solidFill>
                            <a:srgbClr val="000000"/>
                          </a:solidFill>
                          <a:effectLst/>
                        </a:rPr>
                        <a:t>KA Pollard</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a:solidFill>
                            <a:srgbClr val="000000"/>
                          </a:solidFill>
                          <a:effectLst/>
                        </a:rPr>
                        <a:t>149.88</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dirty="0">
                          <a:solidFill>
                            <a:srgbClr val="000000"/>
                          </a:solidFill>
                          <a:effectLst/>
                        </a:rPr>
                        <a:t>23.57</a:t>
                      </a:r>
                      <a:endParaRPr lang="en-IN"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159711558"/>
                  </a:ext>
                </a:extLst>
              </a:tr>
              <a:tr h="306447">
                <a:tc>
                  <a:txBody>
                    <a:bodyPr/>
                    <a:lstStyle/>
                    <a:p>
                      <a:pPr algn="ctr" fontAlgn="b"/>
                      <a:r>
                        <a:rPr lang="en-IN" sz="1200" b="0" u="none" strike="noStrike">
                          <a:solidFill>
                            <a:srgbClr val="000000"/>
                          </a:solidFill>
                          <a:effectLst/>
                        </a:rPr>
                        <a:t>YK Pathan</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a:solidFill>
                            <a:srgbClr val="000000"/>
                          </a:solidFill>
                          <a:effectLst/>
                        </a:rPr>
                        <a:t>142.97</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dirty="0">
                          <a:solidFill>
                            <a:srgbClr val="000000"/>
                          </a:solidFill>
                          <a:effectLst/>
                        </a:rPr>
                        <a:t>28.19</a:t>
                      </a:r>
                      <a:endParaRPr lang="en-IN"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07612436"/>
                  </a:ext>
                </a:extLst>
              </a:tr>
              <a:tr h="306447">
                <a:tc>
                  <a:txBody>
                    <a:bodyPr/>
                    <a:lstStyle/>
                    <a:p>
                      <a:pPr algn="ctr" fontAlgn="b"/>
                      <a:r>
                        <a:rPr lang="en-IN" sz="1200" b="0" u="none" strike="noStrike">
                          <a:solidFill>
                            <a:srgbClr val="000000"/>
                          </a:solidFill>
                          <a:effectLst/>
                        </a:rPr>
                        <a:t>KH Pandya</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a:solidFill>
                            <a:srgbClr val="000000"/>
                          </a:solidFill>
                          <a:effectLst/>
                        </a:rPr>
                        <a:t>142.45</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dirty="0">
                          <a:solidFill>
                            <a:srgbClr val="000000"/>
                          </a:solidFill>
                          <a:effectLst/>
                        </a:rPr>
                        <a:t>27.89</a:t>
                      </a:r>
                      <a:endParaRPr lang="en-IN"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909899444"/>
                  </a:ext>
                </a:extLst>
              </a:tr>
              <a:tr h="306447">
                <a:tc>
                  <a:txBody>
                    <a:bodyPr/>
                    <a:lstStyle/>
                    <a:p>
                      <a:pPr algn="ctr" fontAlgn="b"/>
                      <a:r>
                        <a:rPr lang="en-IN" sz="1200" b="0" u="none" strike="noStrike">
                          <a:solidFill>
                            <a:srgbClr val="000000"/>
                          </a:solidFill>
                          <a:effectLst/>
                        </a:rPr>
                        <a:t>JA Morkel</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a:solidFill>
                            <a:srgbClr val="000000"/>
                          </a:solidFill>
                          <a:effectLst/>
                        </a:rPr>
                        <a:t>141.98</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dirty="0">
                          <a:solidFill>
                            <a:srgbClr val="000000"/>
                          </a:solidFill>
                          <a:effectLst/>
                        </a:rPr>
                        <a:t>21.26</a:t>
                      </a:r>
                      <a:endParaRPr lang="en-IN"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10010681"/>
                  </a:ext>
                </a:extLst>
              </a:tr>
              <a:tr h="306447">
                <a:tc>
                  <a:txBody>
                    <a:bodyPr/>
                    <a:lstStyle/>
                    <a:p>
                      <a:pPr algn="ctr" fontAlgn="b"/>
                      <a:r>
                        <a:rPr lang="en-IN" sz="1200" b="0" u="none" strike="noStrike">
                          <a:solidFill>
                            <a:srgbClr val="000000"/>
                          </a:solidFill>
                          <a:effectLst/>
                        </a:rPr>
                        <a:t>Harbhajan Singh</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a:solidFill>
                            <a:srgbClr val="000000"/>
                          </a:solidFill>
                          <a:effectLst/>
                        </a:rPr>
                        <a:t>138.17</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dirty="0">
                          <a:solidFill>
                            <a:srgbClr val="000000"/>
                          </a:solidFill>
                          <a:effectLst/>
                        </a:rPr>
                        <a:t>23.01</a:t>
                      </a:r>
                      <a:endParaRPr lang="en-IN"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28303655"/>
                  </a:ext>
                </a:extLst>
              </a:tr>
            </a:tbl>
          </a:graphicData>
        </a:graphic>
      </p:graphicFrame>
      <p:graphicFrame>
        <p:nvGraphicFramePr>
          <p:cNvPr id="10" name="Chart 9">
            <a:extLst>
              <a:ext uri="{FF2B5EF4-FFF2-40B4-BE49-F238E27FC236}">
                <a16:creationId xmlns:a16="http://schemas.microsoft.com/office/drawing/2014/main" id="{4D387EC1-8629-934F-1094-0A3C1745B6E7}"/>
              </a:ext>
            </a:extLst>
          </p:cNvPr>
          <p:cNvGraphicFramePr>
            <a:graphicFrameLocks/>
          </p:cNvGraphicFramePr>
          <p:nvPr>
            <p:extLst>
              <p:ext uri="{D42A27DB-BD31-4B8C-83A1-F6EECF244321}">
                <p14:modId xmlns:p14="http://schemas.microsoft.com/office/powerpoint/2010/main" val="1174202687"/>
              </p:ext>
            </p:extLst>
          </p:nvPr>
        </p:nvGraphicFramePr>
        <p:xfrm>
          <a:off x="4576915" y="3236360"/>
          <a:ext cx="5982929" cy="337091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53475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ADABD3-32F0-4A8D-6729-8C591FFF99DE}"/>
              </a:ext>
            </a:extLst>
          </p:cNvPr>
          <p:cNvSpPr txBox="1"/>
          <p:nvPr/>
        </p:nvSpPr>
        <p:spPr>
          <a:xfrm>
            <a:off x="1799302" y="449272"/>
            <a:ext cx="9026013" cy="369332"/>
          </a:xfrm>
          <a:prstGeom prst="rect">
            <a:avLst/>
          </a:prstGeom>
          <a:noFill/>
        </p:spPr>
        <p:txBody>
          <a:bodyPr wrap="square" rtlCol="0">
            <a:spAutoFit/>
          </a:bodyPr>
          <a:lstStyle/>
          <a:p>
            <a:r>
              <a:rPr lang="en-US" b="1">
                <a:solidFill>
                  <a:schemeClr val="accent2"/>
                </a:solidFill>
              </a:rPr>
              <a:t>The most important criteria for </a:t>
            </a:r>
            <a:r>
              <a:rPr lang="en-US" b="1" dirty="0">
                <a:solidFill>
                  <a:schemeClr val="accent2"/>
                </a:solidFill>
              </a:rPr>
              <a:t>selecting WICKETKEEPERS in the IPL</a:t>
            </a:r>
            <a:endParaRPr lang="en-IN" b="1" dirty="0">
              <a:solidFill>
                <a:schemeClr val="accent2"/>
              </a:solidFill>
            </a:endParaRPr>
          </a:p>
        </p:txBody>
      </p:sp>
      <p:sp>
        <p:nvSpPr>
          <p:cNvPr id="5" name="TextBox 4">
            <a:extLst>
              <a:ext uri="{FF2B5EF4-FFF2-40B4-BE49-F238E27FC236}">
                <a16:creationId xmlns:a16="http://schemas.microsoft.com/office/drawing/2014/main" id="{4C7F68D2-4732-08C3-DEBC-BA0B52EE8317}"/>
              </a:ext>
            </a:extLst>
          </p:cNvPr>
          <p:cNvSpPr txBox="1"/>
          <p:nvPr/>
        </p:nvSpPr>
        <p:spPr>
          <a:xfrm>
            <a:off x="1327356" y="993058"/>
            <a:ext cx="8426245" cy="4893647"/>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rgbClr val="4522DC"/>
                </a:solidFill>
              </a:rPr>
              <a:t>Glove Work</a:t>
            </a:r>
            <a:r>
              <a:rPr lang="en-US" sz="1600" b="1" dirty="0">
                <a:solidFill>
                  <a:srgbClr val="4522DC"/>
                </a:solidFill>
              </a:rPr>
              <a:t>: </a:t>
            </a:r>
            <a:r>
              <a:rPr lang="en-US" sz="1600" dirty="0"/>
              <a:t>A wicket keeper’s glove work is fundamental. This involves not only catching the ball but also collecting the ball cleanly, reducing the chances of conceding byes, and affecting quick stumpings and run-outs.</a:t>
            </a:r>
          </a:p>
          <a:p>
            <a:pPr marL="285750" indent="-285750">
              <a:buFont typeface="Arial" panose="020B0604020202020204" pitchFamily="34" charset="0"/>
              <a:buChar char="•"/>
            </a:pPr>
            <a:r>
              <a:rPr lang="en-US" b="1" dirty="0">
                <a:solidFill>
                  <a:srgbClr val="4522DC"/>
                </a:solidFill>
              </a:rPr>
              <a:t>Batting ability :</a:t>
            </a:r>
            <a:r>
              <a:rPr lang="en-US" sz="1600" dirty="0"/>
              <a:t>Prioritize wicketkeepers who can score quickly and hit boundaries, contributing to the team’s run total.</a:t>
            </a:r>
          </a:p>
          <a:p>
            <a:pPr marL="285750" indent="-285750">
              <a:buFont typeface="Arial" panose="020B0604020202020204" pitchFamily="34" charset="0"/>
              <a:buChar char="•"/>
            </a:pPr>
            <a:r>
              <a:rPr lang="en-US" b="1" dirty="0">
                <a:solidFill>
                  <a:srgbClr val="4522DC"/>
                </a:solidFill>
              </a:rPr>
              <a:t>Experience:</a:t>
            </a:r>
            <a:r>
              <a:rPr lang="en-US" dirty="0">
                <a:solidFill>
                  <a:srgbClr val="4522DC"/>
                </a:solidFill>
              </a:rPr>
              <a:t> </a:t>
            </a:r>
            <a:r>
              <a:rPr lang="en-US" sz="1600" dirty="0"/>
              <a:t>Consider wicketkeepers with T20 experience who can handle pressure situations effectively.</a:t>
            </a:r>
          </a:p>
          <a:p>
            <a:pPr marL="285750" indent="-285750">
              <a:buFont typeface="Arial" panose="020B0604020202020204" pitchFamily="34" charset="0"/>
              <a:buChar char="•"/>
            </a:pPr>
            <a:r>
              <a:rPr lang="en-US" b="1" dirty="0">
                <a:solidFill>
                  <a:srgbClr val="4522DC"/>
                </a:solidFill>
              </a:rPr>
              <a:t>Consistency</a:t>
            </a:r>
            <a:r>
              <a:rPr lang="en-US" sz="1600" b="1" dirty="0">
                <a:solidFill>
                  <a:srgbClr val="4522DC"/>
                </a:solidFill>
              </a:rPr>
              <a:t>: </a:t>
            </a:r>
            <a:r>
              <a:rPr lang="en-US" sz="1600" dirty="0"/>
              <a:t>Look for wicketkeepers with a consistent record, both in batting and wicketkeeping, to ensure stable performance throughout the tournament.</a:t>
            </a:r>
          </a:p>
          <a:p>
            <a:pPr marL="285750" indent="-285750">
              <a:buFont typeface="Arial" panose="020B0604020202020204" pitchFamily="34" charset="0"/>
              <a:buChar char="•"/>
            </a:pPr>
            <a:r>
              <a:rPr lang="en-US" b="1" dirty="0">
                <a:solidFill>
                  <a:srgbClr val="4522DC"/>
                </a:solidFill>
              </a:rPr>
              <a:t>Footwork</a:t>
            </a:r>
            <a:r>
              <a:rPr lang="en-US" sz="1600" b="1" dirty="0">
                <a:solidFill>
                  <a:srgbClr val="4522DC"/>
                </a:solidFill>
              </a:rPr>
              <a:t>:</a:t>
            </a:r>
            <a:r>
              <a:rPr lang="en-US" sz="1600" dirty="0"/>
              <a:t> Good footwork is crucial for a wicketkeepers to move quickly behind the stumps, anticipate the direction of the ball, and adjust their position accordingly.</a:t>
            </a:r>
          </a:p>
          <a:p>
            <a:pPr marL="285750" indent="-285750">
              <a:buFont typeface="Arial" panose="020B0604020202020204" pitchFamily="34" charset="0"/>
              <a:buChar char="•"/>
            </a:pPr>
            <a:r>
              <a:rPr lang="en-US" b="1" dirty="0">
                <a:solidFill>
                  <a:srgbClr val="4522DC"/>
                </a:solidFill>
              </a:rPr>
              <a:t>Leadership:</a:t>
            </a:r>
            <a:r>
              <a:rPr lang="en-US" dirty="0"/>
              <a:t> </a:t>
            </a:r>
            <a:r>
              <a:rPr lang="en-US" sz="1600" dirty="0"/>
              <a:t>In some cases, the wicketkeeper also serves as a captain or a key leader on the field. Leadership skill can be valuable in motivating the team and providing guidance during pressure situation.</a:t>
            </a:r>
          </a:p>
          <a:p>
            <a:pPr marL="285750" indent="-285750">
              <a:buFont typeface="Arial" panose="020B0604020202020204" pitchFamily="34" charset="0"/>
              <a:buChar char="•"/>
            </a:pPr>
            <a:r>
              <a:rPr lang="en-US" b="1" dirty="0">
                <a:solidFill>
                  <a:srgbClr val="4522DC"/>
                </a:solidFill>
              </a:rPr>
              <a:t>Communication</a:t>
            </a:r>
            <a:r>
              <a:rPr lang="en-US" sz="1600" b="1" dirty="0">
                <a:solidFill>
                  <a:srgbClr val="4522DC"/>
                </a:solidFill>
              </a:rPr>
              <a:t>:</a:t>
            </a:r>
            <a:r>
              <a:rPr lang="en-US" sz="1600" dirty="0"/>
              <a:t>  A great wicketkeeper is an excellent communicator on the field. They need to constantly be in touch with the bowlers, providing feedback and advice, and coordinating field placements.</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1045098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890192-4DA4-5E6C-368D-ECC3073AA8F8}"/>
              </a:ext>
            </a:extLst>
          </p:cNvPr>
          <p:cNvSpPr txBox="1"/>
          <p:nvPr/>
        </p:nvSpPr>
        <p:spPr>
          <a:xfrm>
            <a:off x="786581" y="1577454"/>
            <a:ext cx="7669161" cy="984885"/>
          </a:xfrm>
          <a:prstGeom prst="rect">
            <a:avLst/>
          </a:prstGeom>
          <a:noFill/>
        </p:spPr>
        <p:txBody>
          <a:bodyPr wrap="square" rtlCol="0">
            <a:spAutoFit/>
          </a:bodyPr>
          <a:lstStyle/>
          <a:p>
            <a:r>
              <a:rPr lang="en-US" sz="2000" b="1" i="0" dirty="0">
                <a:effectLst/>
                <a:highlight>
                  <a:srgbClr val="FFFFFF"/>
                </a:highlight>
                <a:latin typeface="Inter var experimental"/>
              </a:rPr>
              <a:t>1. Get the count of cities that have hosted an IPL match</a:t>
            </a:r>
          </a:p>
          <a:p>
            <a:endParaRPr lang="en-US" sz="2000" b="1" i="0" dirty="0">
              <a:solidFill>
                <a:srgbClr val="484848"/>
              </a:solidFill>
              <a:effectLst/>
              <a:highlight>
                <a:srgbClr val="FFFFFF"/>
              </a:highlight>
              <a:latin typeface="Inter var experimental"/>
            </a:endParaRPr>
          </a:p>
          <a:p>
            <a:r>
              <a:rPr lang="en-US" b="1" dirty="0"/>
              <a:t>  Query:  </a:t>
            </a:r>
            <a:r>
              <a:rPr lang="en-US" dirty="0"/>
              <a:t>select count(distinct city) as city_count from IPL_matches;</a:t>
            </a:r>
            <a:endParaRPr lang="en-IN" dirty="0"/>
          </a:p>
        </p:txBody>
      </p:sp>
      <p:graphicFrame>
        <p:nvGraphicFramePr>
          <p:cNvPr id="4" name="Table 3">
            <a:extLst>
              <a:ext uri="{FF2B5EF4-FFF2-40B4-BE49-F238E27FC236}">
                <a16:creationId xmlns:a16="http://schemas.microsoft.com/office/drawing/2014/main" id="{C1B90D55-D01C-896A-D7CD-B91665E24215}"/>
              </a:ext>
            </a:extLst>
          </p:cNvPr>
          <p:cNvGraphicFramePr>
            <a:graphicFrameLocks noGrp="1"/>
          </p:cNvGraphicFramePr>
          <p:nvPr>
            <p:extLst>
              <p:ext uri="{D42A27DB-BD31-4B8C-83A1-F6EECF244321}">
                <p14:modId xmlns:p14="http://schemas.microsoft.com/office/powerpoint/2010/main" val="99806661"/>
              </p:ext>
            </p:extLst>
          </p:nvPr>
        </p:nvGraphicFramePr>
        <p:xfrm>
          <a:off x="1574058" y="3063240"/>
          <a:ext cx="2545658" cy="868680"/>
        </p:xfrm>
        <a:graphic>
          <a:graphicData uri="http://schemas.openxmlformats.org/drawingml/2006/table">
            <a:tbl>
              <a:tblPr>
                <a:tableStyleId>{3C2FFA5D-87B4-456A-9821-1D502468CF0F}</a:tableStyleId>
              </a:tblPr>
              <a:tblGrid>
                <a:gridCol w="2545658">
                  <a:extLst>
                    <a:ext uri="{9D8B030D-6E8A-4147-A177-3AD203B41FA5}">
                      <a16:colId xmlns:a16="http://schemas.microsoft.com/office/drawing/2014/main" val="552200731"/>
                    </a:ext>
                  </a:extLst>
                </a:gridCol>
              </a:tblGrid>
              <a:tr h="385671">
                <a:tc>
                  <a:txBody>
                    <a:bodyPr/>
                    <a:lstStyle/>
                    <a:p>
                      <a:pPr algn="ctr" fontAlgn="b"/>
                      <a:r>
                        <a:rPr lang="en-IN" sz="2800" b="0" u="none" strike="noStrike" dirty="0">
                          <a:solidFill>
                            <a:srgbClr val="000000"/>
                          </a:solidFill>
                          <a:effectLst/>
                        </a:rPr>
                        <a:t>city_count</a:t>
                      </a:r>
                      <a:endParaRPr lang="en-IN" sz="2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23124681"/>
                  </a:ext>
                </a:extLst>
              </a:tr>
              <a:tr h="385671">
                <a:tc>
                  <a:txBody>
                    <a:bodyPr/>
                    <a:lstStyle/>
                    <a:p>
                      <a:pPr algn="ctr" fontAlgn="b"/>
                      <a:r>
                        <a:rPr lang="en-IN" sz="2800" b="0" u="none" strike="noStrike" dirty="0">
                          <a:solidFill>
                            <a:srgbClr val="000000"/>
                          </a:solidFill>
                          <a:effectLst/>
                        </a:rPr>
                        <a:t>33</a:t>
                      </a:r>
                      <a:endParaRPr lang="en-IN" sz="2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16859841"/>
                  </a:ext>
                </a:extLst>
              </a:tr>
            </a:tbl>
          </a:graphicData>
        </a:graphic>
      </p:graphicFrame>
      <p:sp>
        <p:nvSpPr>
          <p:cNvPr id="5" name="TextBox 4">
            <a:extLst>
              <a:ext uri="{FF2B5EF4-FFF2-40B4-BE49-F238E27FC236}">
                <a16:creationId xmlns:a16="http://schemas.microsoft.com/office/drawing/2014/main" id="{65A3AF19-A65C-22C5-1447-21F2D874A793}"/>
              </a:ext>
            </a:extLst>
          </p:cNvPr>
          <p:cNvSpPr txBox="1"/>
          <p:nvPr/>
        </p:nvSpPr>
        <p:spPr>
          <a:xfrm>
            <a:off x="786581" y="599768"/>
            <a:ext cx="7384025" cy="523220"/>
          </a:xfrm>
          <a:prstGeom prst="rect">
            <a:avLst/>
          </a:prstGeom>
          <a:noFill/>
        </p:spPr>
        <p:txBody>
          <a:bodyPr wrap="square" rtlCol="0">
            <a:spAutoFit/>
          </a:bodyPr>
          <a:lstStyle/>
          <a:p>
            <a:r>
              <a:rPr lang="en-US" sz="2800" b="1" i="0" dirty="0">
                <a:effectLst/>
                <a:highlight>
                  <a:srgbClr val="FFFFFF"/>
                </a:highlight>
                <a:latin typeface="Inter var experimental"/>
              </a:rPr>
              <a:t>Additional Questions for Final Assessment</a:t>
            </a:r>
            <a:endParaRPr lang="en-IN" sz="2800" b="1" dirty="0"/>
          </a:p>
        </p:txBody>
      </p:sp>
    </p:spTree>
    <p:extLst>
      <p:ext uri="{BB962C8B-B14F-4D97-AF65-F5344CB8AC3E}">
        <p14:creationId xmlns:p14="http://schemas.microsoft.com/office/powerpoint/2010/main" val="3123463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6325C-65D9-F690-0F69-A648A46C11A8}"/>
              </a:ext>
            </a:extLst>
          </p:cNvPr>
          <p:cNvSpPr txBox="1"/>
          <p:nvPr/>
        </p:nvSpPr>
        <p:spPr>
          <a:xfrm>
            <a:off x="440942" y="108156"/>
            <a:ext cx="9065342" cy="1015663"/>
          </a:xfrm>
          <a:prstGeom prst="rect">
            <a:avLst/>
          </a:prstGeom>
          <a:noFill/>
        </p:spPr>
        <p:txBody>
          <a:bodyPr wrap="square" rtlCol="0">
            <a:spAutoFit/>
          </a:bodyPr>
          <a:lstStyle/>
          <a:p>
            <a:r>
              <a:rPr lang="en-US" sz="2000" b="1" i="0" dirty="0">
                <a:effectLst/>
                <a:highlight>
                  <a:srgbClr val="FFFFFF"/>
                </a:highlight>
                <a:latin typeface="Inter var experimental"/>
              </a:rPr>
              <a:t>2. Create table </a:t>
            </a:r>
            <a:r>
              <a:rPr lang="en-US" sz="2000" b="1" i="1" dirty="0">
                <a:effectLst/>
                <a:highlight>
                  <a:srgbClr val="FFFFFF"/>
                </a:highlight>
                <a:latin typeface="Inter var experimental"/>
              </a:rPr>
              <a:t>deliveries_v02 </a:t>
            </a:r>
            <a:r>
              <a:rPr lang="en-US" sz="2000" b="1" i="0" dirty="0">
                <a:effectLst/>
                <a:highlight>
                  <a:srgbClr val="FFFFFF"/>
                </a:highlight>
                <a:latin typeface="Inter var experimental"/>
              </a:rPr>
              <a:t>with all the columns of the table ‘</a:t>
            </a:r>
            <a:r>
              <a:rPr lang="en-US" sz="2000" b="1" i="1" dirty="0">
                <a:effectLst/>
                <a:highlight>
                  <a:srgbClr val="FFFFFF"/>
                </a:highlight>
                <a:latin typeface="Inter var experimental"/>
              </a:rPr>
              <a:t>deliveries’ </a:t>
            </a:r>
            <a:r>
              <a:rPr lang="en-US" sz="2000" b="1" i="0" dirty="0">
                <a:effectLst/>
                <a:highlight>
                  <a:srgbClr val="FFFFFF"/>
                </a:highlight>
                <a:latin typeface="Inter var experimental"/>
              </a:rPr>
              <a:t>and an additional column </a:t>
            </a:r>
            <a:r>
              <a:rPr lang="en-US" sz="2000" b="1" i="1" dirty="0">
                <a:effectLst/>
                <a:highlight>
                  <a:srgbClr val="FFFFFF"/>
                </a:highlight>
                <a:latin typeface="Inter var experimental"/>
              </a:rPr>
              <a:t>ball_result </a:t>
            </a:r>
            <a:r>
              <a:rPr lang="en-US" sz="2000" b="1" i="0" dirty="0">
                <a:effectLst/>
                <a:highlight>
                  <a:srgbClr val="FFFFFF"/>
                </a:highlight>
                <a:latin typeface="Inter var experimental"/>
              </a:rPr>
              <a:t>containing values </a:t>
            </a:r>
            <a:r>
              <a:rPr lang="en-US" sz="2000" b="1" i="1" dirty="0">
                <a:effectLst/>
                <a:highlight>
                  <a:srgbClr val="FFFFFF"/>
                </a:highlight>
                <a:latin typeface="Inter var experimental"/>
              </a:rPr>
              <a:t>boundary</a:t>
            </a:r>
            <a:r>
              <a:rPr lang="en-US" sz="2000" b="1" i="0" dirty="0">
                <a:effectLst/>
                <a:highlight>
                  <a:srgbClr val="FFFFFF"/>
                </a:highlight>
                <a:latin typeface="Inter var experimental"/>
              </a:rPr>
              <a:t>, </a:t>
            </a:r>
            <a:r>
              <a:rPr lang="en-US" sz="2000" b="1" i="1" dirty="0">
                <a:effectLst/>
                <a:highlight>
                  <a:srgbClr val="FFFFFF"/>
                </a:highlight>
                <a:latin typeface="Inter var experimental"/>
              </a:rPr>
              <a:t>dot </a:t>
            </a:r>
            <a:r>
              <a:rPr lang="en-US" sz="2000" b="1" i="0" dirty="0">
                <a:effectLst/>
                <a:highlight>
                  <a:srgbClr val="FFFFFF"/>
                </a:highlight>
                <a:latin typeface="Inter var experimental"/>
              </a:rPr>
              <a:t>or </a:t>
            </a:r>
            <a:r>
              <a:rPr lang="en-US" sz="2000" b="1" i="1" dirty="0">
                <a:effectLst/>
                <a:highlight>
                  <a:srgbClr val="FFFFFF"/>
                </a:highlight>
                <a:latin typeface="Inter var experimental"/>
              </a:rPr>
              <a:t>other </a:t>
            </a:r>
            <a:r>
              <a:rPr lang="en-US" sz="2000" b="1" i="0" dirty="0">
                <a:effectLst/>
                <a:highlight>
                  <a:srgbClr val="FFFFFF"/>
                </a:highlight>
                <a:latin typeface="Inter var experimental"/>
              </a:rPr>
              <a:t>depending on the </a:t>
            </a:r>
            <a:r>
              <a:rPr lang="en-US" sz="2000" b="1" i="1" dirty="0">
                <a:effectLst/>
                <a:highlight>
                  <a:srgbClr val="FFFFFF"/>
                </a:highlight>
                <a:latin typeface="Inter var experimental"/>
              </a:rPr>
              <a:t>total_run </a:t>
            </a:r>
            <a:r>
              <a:rPr lang="en-US" sz="2000" b="1" i="0" dirty="0">
                <a:effectLst/>
                <a:highlight>
                  <a:srgbClr val="FFFFFF"/>
                </a:highlight>
                <a:latin typeface="Inter var experimental"/>
              </a:rPr>
              <a:t>(boundary for &gt;= 4, dot for 0 and other for any other number)</a:t>
            </a:r>
            <a:endParaRPr lang="en-IN" sz="2000" b="1" dirty="0"/>
          </a:p>
        </p:txBody>
      </p:sp>
      <p:sp>
        <p:nvSpPr>
          <p:cNvPr id="3" name="TextBox 2">
            <a:extLst>
              <a:ext uri="{FF2B5EF4-FFF2-40B4-BE49-F238E27FC236}">
                <a16:creationId xmlns:a16="http://schemas.microsoft.com/office/drawing/2014/main" id="{3D81B319-F07B-55ED-0AE5-615FFECA6A50}"/>
              </a:ext>
            </a:extLst>
          </p:cNvPr>
          <p:cNvSpPr txBox="1"/>
          <p:nvPr/>
        </p:nvSpPr>
        <p:spPr>
          <a:xfrm>
            <a:off x="440942" y="1199535"/>
            <a:ext cx="8514735" cy="1200329"/>
          </a:xfrm>
          <a:prstGeom prst="rect">
            <a:avLst/>
          </a:prstGeom>
          <a:noFill/>
        </p:spPr>
        <p:txBody>
          <a:bodyPr wrap="square" rtlCol="0">
            <a:spAutoFit/>
          </a:bodyPr>
          <a:lstStyle/>
          <a:p>
            <a:r>
              <a:rPr lang="en-US" b="1" dirty="0"/>
              <a:t>Query:  </a:t>
            </a:r>
            <a:r>
              <a:rPr lang="en-US" dirty="0"/>
              <a:t>create table deliveries_v02 as select *, case when total_runs&gt;=4 then 'boundary’ when total_runs = 0 then 'dot’ else 'other’ end as ball_result from IPL_Ball;</a:t>
            </a:r>
          </a:p>
          <a:p>
            <a:r>
              <a:rPr lang="en-US" dirty="0"/>
              <a:t>select * from deliveries_v02;</a:t>
            </a:r>
            <a:endParaRPr lang="en-IN" dirty="0"/>
          </a:p>
        </p:txBody>
      </p:sp>
      <p:pic>
        <p:nvPicPr>
          <p:cNvPr id="6" name="Picture 5">
            <a:extLst>
              <a:ext uri="{FF2B5EF4-FFF2-40B4-BE49-F238E27FC236}">
                <a16:creationId xmlns:a16="http://schemas.microsoft.com/office/drawing/2014/main" id="{E4FBC68A-D891-0C8E-F3D8-BAA43A0BBDA8}"/>
              </a:ext>
            </a:extLst>
          </p:cNvPr>
          <p:cNvPicPr>
            <a:picLocks noChangeAspect="1"/>
          </p:cNvPicPr>
          <p:nvPr/>
        </p:nvPicPr>
        <p:blipFill>
          <a:blip r:embed="rId2"/>
          <a:stretch>
            <a:fillRect/>
          </a:stretch>
        </p:blipFill>
        <p:spPr>
          <a:xfrm>
            <a:off x="440942" y="3429000"/>
            <a:ext cx="9735445" cy="3303639"/>
          </a:xfrm>
          <a:prstGeom prst="rect">
            <a:avLst/>
          </a:prstGeom>
        </p:spPr>
      </p:pic>
      <p:sp>
        <p:nvSpPr>
          <p:cNvPr id="7" name="TextBox 6">
            <a:extLst>
              <a:ext uri="{FF2B5EF4-FFF2-40B4-BE49-F238E27FC236}">
                <a16:creationId xmlns:a16="http://schemas.microsoft.com/office/drawing/2014/main" id="{3222DB2E-F8AD-2B2C-50D8-C275086AB40D}"/>
              </a:ext>
            </a:extLst>
          </p:cNvPr>
          <p:cNvSpPr txBox="1"/>
          <p:nvPr/>
        </p:nvSpPr>
        <p:spPr>
          <a:xfrm>
            <a:off x="440942" y="2729766"/>
            <a:ext cx="8178929" cy="369332"/>
          </a:xfrm>
          <a:prstGeom prst="rect">
            <a:avLst/>
          </a:prstGeom>
          <a:noFill/>
        </p:spPr>
        <p:txBody>
          <a:bodyPr wrap="square" rtlCol="0">
            <a:spAutoFit/>
          </a:bodyPr>
          <a:lstStyle/>
          <a:p>
            <a:r>
              <a:rPr lang="en-US" b="1" dirty="0"/>
              <a:t>Below the output of the above SQL Query.</a:t>
            </a:r>
            <a:endParaRPr lang="en-IN" b="1" dirty="0"/>
          </a:p>
        </p:txBody>
      </p:sp>
    </p:spTree>
    <p:extLst>
      <p:ext uri="{BB962C8B-B14F-4D97-AF65-F5344CB8AC3E}">
        <p14:creationId xmlns:p14="http://schemas.microsoft.com/office/powerpoint/2010/main" val="43881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E25F60-0AE7-81FB-803F-8BC2B3BF0667}"/>
              </a:ext>
            </a:extLst>
          </p:cNvPr>
          <p:cNvSpPr txBox="1"/>
          <p:nvPr/>
        </p:nvSpPr>
        <p:spPr>
          <a:xfrm>
            <a:off x="403122" y="324464"/>
            <a:ext cx="9438968" cy="984885"/>
          </a:xfrm>
          <a:prstGeom prst="rect">
            <a:avLst/>
          </a:prstGeom>
          <a:noFill/>
        </p:spPr>
        <p:txBody>
          <a:bodyPr wrap="square" rtlCol="0">
            <a:spAutoFit/>
          </a:bodyPr>
          <a:lstStyle/>
          <a:p>
            <a:r>
              <a:rPr lang="en-US" sz="2000" b="1" i="0" dirty="0">
                <a:effectLst/>
                <a:highlight>
                  <a:srgbClr val="FFFFFF"/>
                </a:highlight>
                <a:latin typeface="Inter var experimental"/>
              </a:rPr>
              <a:t>3.  Write a query to fetch the total number of boundaries and dot balls from the </a:t>
            </a:r>
            <a:r>
              <a:rPr lang="en-US" sz="2000" b="1" i="1" dirty="0">
                <a:effectLst/>
                <a:highlight>
                  <a:srgbClr val="FFFFFF"/>
                </a:highlight>
                <a:latin typeface="Inter var experimental"/>
              </a:rPr>
              <a:t>deliveries_v02 </a:t>
            </a:r>
            <a:r>
              <a:rPr lang="en-US" sz="2000" b="1" i="0" dirty="0">
                <a:effectLst/>
                <a:highlight>
                  <a:srgbClr val="FFFFFF"/>
                </a:highlight>
                <a:latin typeface="Inter var experimental"/>
              </a:rPr>
              <a:t>table.</a:t>
            </a:r>
          </a:p>
          <a:p>
            <a:endParaRPr lang="en-IN" dirty="0"/>
          </a:p>
        </p:txBody>
      </p:sp>
      <p:sp>
        <p:nvSpPr>
          <p:cNvPr id="3" name="TextBox 2">
            <a:extLst>
              <a:ext uri="{FF2B5EF4-FFF2-40B4-BE49-F238E27FC236}">
                <a16:creationId xmlns:a16="http://schemas.microsoft.com/office/drawing/2014/main" id="{1A863D1F-8D35-1D6F-F8BD-F0D4D5D72FA3}"/>
              </a:ext>
            </a:extLst>
          </p:cNvPr>
          <p:cNvSpPr txBox="1"/>
          <p:nvPr/>
        </p:nvSpPr>
        <p:spPr>
          <a:xfrm>
            <a:off x="403122" y="1425677"/>
            <a:ext cx="8160775" cy="646331"/>
          </a:xfrm>
          <a:prstGeom prst="rect">
            <a:avLst/>
          </a:prstGeom>
          <a:noFill/>
        </p:spPr>
        <p:txBody>
          <a:bodyPr wrap="square" rtlCol="0">
            <a:spAutoFit/>
          </a:bodyPr>
          <a:lstStyle/>
          <a:p>
            <a:r>
              <a:rPr lang="en-US" b="1" dirty="0"/>
              <a:t>Query:  </a:t>
            </a:r>
            <a:r>
              <a:rPr lang="en-US" dirty="0"/>
              <a:t>select ball_result, count(ball_result) from deliveries_v02 where ball_result = 'boundary' or ball_result = 'dot' group by ball_result;</a:t>
            </a:r>
            <a:endParaRPr lang="en-IN" dirty="0"/>
          </a:p>
        </p:txBody>
      </p:sp>
      <p:graphicFrame>
        <p:nvGraphicFramePr>
          <p:cNvPr id="5" name="Table 4">
            <a:extLst>
              <a:ext uri="{FF2B5EF4-FFF2-40B4-BE49-F238E27FC236}">
                <a16:creationId xmlns:a16="http://schemas.microsoft.com/office/drawing/2014/main" id="{4BE9E503-25EF-EDD9-3F25-4CF97E37F7E3}"/>
              </a:ext>
            </a:extLst>
          </p:cNvPr>
          <p:cNvGraphicFramePr>
            <a:graphicFrameLocks noGrp="1"/>
          </p:cNvGraphicFramePr>
          <p:nvPr>
            <p:extLst>
              <p:ext uri="{D42A27DB-BD31-4B8C-83A1-F6EECF244321}">
                <p14:modId xmlns:p14="http://schemas.microsoft.com/office/powerpoint/2010/main" val="2228159168"/>
              </p:ext>
            </p:extLst>
          </p:nvPr>
        </p:nvGraphicFramePr>
        <p:xfrm>
          <a:off x="2753928" y="2461905"/>
          <a:ext cx="3174924" cy="1225193"/>
        </p:xfrm>
        <a:graphic>
          <a:graphicData uri="http://schemas.openxmlformats.org/drawingml/2006/table">
            <a:tbl>
              <a:tblPr>
                <a:tableStyleId>{3C2FFA5D-87B4-456A-9821-1D502468CF0F}</a:tableStyleId>
              </a:tblPr>
              <a:tblGrid>
                <a:gridCol w="1587462">
                  <a:extLst>
                    <a:ext uri="{9D8B030D-6E8A-4147-A177-3AD203B41FA5}">
                      <a16:colId xmlns:a16="http://schemas.microsoft.com/office/drawing/2014/main" val="3947410812"/>
                    </a:ext>
                  </a:extLst>
                </a:gridCol>
                <a:gridCol w="1587462">
                  <a:extLst>
                    <a:ext uri="{9D8B030D-6E8A-4147-A177-3AD203B41FA5}">
                      <a16:colId xmlns:a16="http://schemas.microsoft.com/office/drawing/2014/main" val="2116802095"/>
                    </a:ext>
                  </a:extLst>
                </a:gridCol>
              </a:tblGrid>
              <a:tr h="592835">
                <a:tc>
                  <a:txBody>
                    <a:bodyPr/>
                    <a:lstStyle/>
                    <a:p>
                      <a:pPr algn="ctr" fontAlgn="b"/>
                      <a:r>
                        <a:rPr lang="en-IN" sz="2000" b="1" u="none" strike="noStrike" dirty="0">
                          <a:solidFill>
                            <a:srgbClr val="000000"/>
                          </a:solidFill>
                          <a:effectLst/>
                        </a:rPr>
                        <a:t>ball_result</a:t>
                      </a:r>
                      <a:endParaRPr lang="en-IN"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2000" b="1" u="none" strike="noStrike" dirty="0">
                          <a:solidFill>
                            <a:srgbClr val="000000"/>
                          </a:solidFill>
                          <a:effectLst/>
                        </a:rPr>
                        <a:t>count</a:t>
                      </a:r>
                      <a:endParaRPr lang="en-IN" sz="20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21014996"/>
                  </a:ext>
                </a:extLst>
              </a:tr>
              <a:tr h="316179">
                <a:tc>
                  <a:txBody>
                    <a:bodyPr/>
                    <a:lstStyle/>
                    <a:p>
                      <a:pPr algn="ctr" fontAlgn="b"/>
                      <a:r>
                        <a:rPr lang="en-IN" sz="2000" b="0" u="none" strike="noStrike" dirty="0">
                          <a:solidFill>
                            <a:srgbClr val="000000"/>
                          </a:solidFill>
                          <a:effectLst/>
                        </a:rPr>
                        <a:t>boundary</a:t>
                      </a:r>
                      <a:endParaRPr lang="en-IN" sz="20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2000" b="0" u="none" strike="noStrike" dirty="0">
                          <a:solidFill>
                            <a:srgbClr val="000000"/>
                          </a:solidFill>
                          <a:effectLst/>
                        </a:rPr>
                        <a:t>31468</a:t>
                      </a:r>
                      <a:endParaRPr lang="en-IN"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64155752"/>
                  </a:ext>
                </a:extLst>
              </a:tr>
              <a:tr h="316179">
                <a:tc>
                  <a:txBody>
                    <a:bodyPr/>
                    <a:lstStyle/>
                    <a:p>
                      <a:pPr algn="ctr" fontAlgn="b"/>
                      <a:r>
                        <a:rPr lang="en-IN" sz="2000" b="0" u="none" strike="noStrike">
                          <a:solidFill>
                            <a:srgbClr val="000000"/>
                          </a:solidFill>
                          <a:effectLst/>
                        </a:rPr>
                        <a:t>dot</a:t>
                      </a:r>
                      <a:endParaRPr lang="en-IN" sz="20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2000" b="0" u="none" strike="noStrike" dirty="0">
                          <a:solidFill>
                            <a:srgbClr val="000000"/>
                          </a:solidFill>
                          <a:effectLst/>
                        </a:rPr>
                        <a:t>67841</a:t>
                      </a:r>
                      <a:endParaRPr lang="en-IN"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96162461"/>
                  </a:ext>
                </a:extLst>
              </a:tr>
            </a:tbl>
          </a:graphicData>
        </a:graphic>
      </p:graphicFrame>
    </p:spTree>
    <p:extLst>
      <p:ext uri="{BB962C8B-B14F-4D97-AF65-F5344CB8AC3E}">
        <p14:creationId xmlns:p14="http://schemas.microsoft.com/office/powerpoint/2010/main" val="450546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834563-D50A-7B7A-8D44-D8CC315B1FC0}"/>
              </a:ext>
            </a:extLst>
          </p:cNvPr>
          <p:cNvSpPr txBox="1"/>
          <p:nvPr/>
        </p:nvSpPr>
        <p:spPr>
          <a:xfrm>
            <a:off x="324465" y="255639"/>
            <a:ext cx="8839200" cy="1292662"/>
          </a:xfrm>
          <a:prstGeom prst="rect">
            <a:avLst/>
          </a:prstGeom>
          <a:noFill/>
        </p:spPr>
        <p:txBody>
          <a:bodyPr wrap="square" rtlCol="0">
            <a:spAutoFit/>
          </a:bodyPr>
          <a:lstStyle/>
          <a:p>
            <a:r>
              <a:rPr lang="en-US" sz="2000" b="1" i="0" dirty="0">
                <a:effectLst/>
                <a:highlight>
                  <a:srgbClr val="FFFFFF"/>
                </a:highlight>
                <a:latin typeface="Inter var experimental"/>
              </a:rPr>
              <a:t>Q4.  Write a query to fetch the total number of boundaries scored by each team from the </a:t>
            </a:r>
            <a:r>
              <a:rPr lang="en-US" sz="2000" b="1" i="1" dirty="0">
                <a:effectLst/>
                <a:highlight>
                  <a:srgbClr val="FFFFFF"/>
                </a:highlight>
                <a:latin typeface="Inter var experimental"/>
              </a:rPr>
              <a:t>deliveries_v02 </a:t>
            </a:r>
            <a:r>
              <a:rPr lang="en-US" sz="2000" b="1" i="0" dirty="0">
                <a:effectLst/>
                <a:highlight>
                  <a:srgbClr val="FFFFFF"/>
                </a:highlight>
                <a:latin typeface="Inter var experimental"/>
              </a:rPr>
              <a:t>table and order it in descending order of the number of boundaries scored.</a:t>
            </a:r>
          </a:p>
          <a:p>
            <a:endParaRPr lang="en-IN" dirty="0"/>
          </a:p>
        </p:txBody>
      </p:sp>
      <p:sp>
        <p:nvSpPr>
          <p:cNvPr id="3" name="TextBox 2">
            <a:extLst>
              <a:ext uri="{FF2B5EF4-FFF2-40B4-BE49-F238E27FC236}">
                <a16:creationId xmlns:a16="http://schemas.microsoft.com/office/drawing/2014/main" id="{4A41ED99-F63C-965A-000D-74ABF7AE9053}"/>
              </a:ext>
            </a:extLst>
          </p:cNvPr>
          <p:cNvSpPr txBox="1"/>
          <p:nvPr/>
        </p:nvSpPr>
        <p:spPr>
          <a:xfrm>
            <a:off x="324465" y="1307690"/>
            <a:ext cx="8583562" cy="923330"/>
          </a:xfrm>
          <a:prstGeom prst="rect">
            <a:avLst/>
          </a:prstGeom>
          <a:noFill/>
        </p:spPr>
        <p:txBody>
          <a:bodyPr wrap="square" rtlCol="0">
            <a:spAutoFit/>
          </a:bodyPr>
          <a:lstStyle/>
          <a:p>
            <a:r>
              <a:rPr lang="en-US" b="1" dirty="0"/>
              <a:t>Query:  </a:t>
            </a:r>
            <a:r>
              <a:rPr lang="en-US" dirty="0"/>
              <a:t>select batting_team, count(ball_result) as no_of_boundaries from deliveries_v02 where ball_result = 'boundary' group by batting_team order by no_of_boundaries desc;</a:t>
            </a:r>
            <a:endParaRPr lang="en-IN" dirty="0"/>
          </a:p>
        </p:txBody>
      </p:sp>
      <p:graphicFrame>
        <p:nvGraphicFramePr>
          <p:cNvPr id="5" name="Table 4">
            <a:extLst>
              <a:ext uri="{FF2B5EF4-FFF2-40B4-BE49-F238E27FC236}">
                <a16:creationId xmlns:a16="http://schemas.microsoft.com/office/drawing/2014/main" id="{61D1E4B8-22CE-94F2-C8B8-A515AE0D9F17}"/>
              </a:ext>
            </a:extLst>
          </p:cNvPr>
          <p:cNvGraphicFramePr>
            <a:graphicFrameLocks noGrp="1"/>
          </p:cNvGraphicFramePr>
          <p:nvPr>
            <p:extLst>
              <p:ext uri="{D42A27DB-BD31-4B8C-83A1-F6EECF244321}">
                <p14:modId xmlns:p14="http://schemas.microsoft.com/office/powerpoint/2010/main" val="1872726872"/>
              </p:ext>
            </p:extLst>
          </p:nvPr>
        </p:nvGraphicFramePr>
        <p:xfrm>
          <a:off x="412955" y="3429001"/>
          <a:ext cx="3441291" cy="3173360"/>
        </p:xfrm>
        <a:graphic>
          <a:graphicData uri="http://schemas.openxmlformats.org/drawingml/2006/table">
            <a:tbl>
              <a:tblPr>
                <a:tableStyleId>{3C2FFA5D-87B4-456A-9821-1D502468CF0F}</a:tableStyleId>
              </a:tblPr>
              <a:tblGrid>
                <a:gridCol w="2077462">
                  <a:extLst>
                    <a:ext uri="{9D8B030D-6E8A-4147-A177-3AD203B41FA5}">
                      <a16:colId xmlns:a16="http://schemas.microsoft.com/office/drawing/2014/main" val="693801166"/>
                    </a:ext>
                  </a:extLst>
                </a:gridCol>
                <a:gridCol w="1363829">
                  <a:extLst>
                    <a:ext uri="{9D8B030D-6E8A-4147-A177-3AD203B41FA5}">
                      <a16:colId xmlns:a16="http://schemas.microsoft.com/office/drawing/2014/main" val="2191018997"/>
                    </a:ext>
                  </a:extLst>
                </a:gridCol>
              </a:tblGrid>
              <a:tr h="198335">
                <a:tc>
                  <a:txBody>
                    <a:bodyPr/>
                    <a:lstStyle/>
                    <a:p>
                      <a:pPr algn="ctr" fontAlgn="b"/>
                      <a:r>
                        <a:rPr lang="en-IN" sz="1200" b="1" u="none" strike="noStrike" dirty="0">
                          <a:solidFill>
                            <a:srgbClr val="000000"/>
                          </a:solidFill>
                          <a:effectLst/>
                        </a:rPr>
                        <a:t>batting_team</a:t>
                      </a:r>
                      <a:endParaRPr lang="en-IN" sz="12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1" u="none" strike="noStrike" dirty="0">
                          <a:solidFill>
                            <a:srgbClr val="000000"/>
                          </a:solidFill>
                          <a:effectLst/>
                        </a:rPr>
                        <a:t>no_of_boundaries</a:t>
                      </a:r>
                      <a:endParaRPr lang="en-IN" sz="12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99430711"/>
                  </a:ext>
                </a:extLst>
              </a:tr>
              <a:tr h="198335">
                <a:tc>
                  <a:txBody>
                    <a:bodyPr/>
                    <a:lstStyle/>
                    <a:p>
                      <a:pPr algn="ctr" fontAlgn="b"/>
                      <a:r>
                        <a:rPr lang="en-IN" sz="1100" b="0" u="none" strike="noStrike" dirty="0">
                          <a:solidFill>
                            <a:srgbClr val="000000"/>
                          </a:solidFill>
                          <a:effectLst/>
                        </a:rPr>
                        <a:t>Mumbai Indians</a:t>
                      </a:r>
                      <a:endParaRPr lang="en-IN"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4118</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60986613"/>
                  </a:ext>
                </a:extLst>
              </a:tr>
              <a:tr h="198335">
                <a:tc>
                  <a:txBody>
                    <a:bodyPr/>
                    <a:lstStyle/>
                    <a:p>
                      <a:pPr algn="ctr" fontAlgn="b"/>
                      <a:r>
                        <a:rPr lang="en-IN" sz="1100" b="0" u="none" strike="noStrike">
                          <a:solidFill>
                            <a:srgbClr val="000000"/>
                          </a:solidFill>
                          <a:effectLst/>
                        </a:rPr>
                        <a:t>Royal Challengers Bangalore</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3800</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56031066"/>
                  </a:ext>
                </a:extLst>
              </a:tr>
              <a:tr h="198335">
                <a:tc>
                  <a:txBody>
                    <a:bodyPr/>
                    <a:lstStyle/>
                    <a:p>
                      <a:pPr algn="ctr" fontAlgn="b"/>
                      <a:r>
                        <a:rPr lang="en-IN" sz="1100" b="0" u="none" strike="noStrike">
                          <a:solidFill>
                            <a:srgbClr val="000000"/>
                          </a:solidFill>
                          <a:effectLst/>
                        </a:rPr>
                        <a:t>Kings XI Punjab</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3780</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21504986"/>
                  </a:ext>
                </a:extLst>
              </a:tr>
              <a:tr h="198335">
                <a:tc>
                  <a:txBody>
                    <a:bodyPr/>
                    <a:lstStyle/>
                    <a:p>
                      <a:pPr algn="ctr" fontAlgn="b"/>
                      <a:r>
                        <a:rPr lang="en-IN" sz="1100" b="0" u="none" strike="noStrike">
                          <a:solidFill>
                            <a:srgbClr val="000000"/>
                          </a:solidFill>
                          <a:effectLst/>
                        </a:rPr>
                        <a:t>Kolkata Knight Riders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3739</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126624957"/>
                  </a:ext>
                </a:extLst>
              </a:tr>
              <a:tr h="198335">
                <a:tc>
                  <a:txBody>
                    <a:bodyPr/>
                    <a:lstStyle/>
                    <a:p>
                      <a:pPr algn="ctr" fontAlgn="b"/>
                      <a:r>
                        <a:rPr lang="en-IN" sz="1100" b="0" u="none" strike="noStrike">
                          <a:solidFill>
                            <a:srgbClr val="000000"/>
                          </a:solidFill>
                          <a:effectLst/>
                        </a:rPr>
                        <a:t>Chennai Super Kings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3496</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137086840"/>
                  </a:ext>
                </a:extLst>
              </a:tr>
              <a:tr h="198335">
                <a:tc>
                  <a:txBody>
                    <a:bodyPr/>
                    <a:lstStyle/>
                    <a:p>
                      <a:pPr algn="ctr" fontAlgn="b"/>
                      <a:r>
                        <a:rPr lang="en-IN" sz="1100" b="0" u="none" strike="noStrike">
                          <a:solidFill>
                            <a:srgbClr val="000000"/>
                          </a:solidFill>
                          <a:effectLst/>
                        </a:rPr>
                        <a:t>Rajasthan Royals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3041</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48485115"/>
                  </a:ext>
                </a:extLst>
              </a:tr>
              <a:tr h="198335">
                <a:tc>
                  <a:txBody>
                    <a:bodyPr/>
                    <a:lstStyle/>
                    <a:p>
                      <a:pPr algn="ctr" fontAlgn="b"/>
                      <a:r>
                        <a:rPr lang="en-IN" sz="1100" b="0" u="none" strike="noStrike">
                          <a:solidFill>
                            <a:srgbClr val="000000"/>
                          </a:solidFill>
                          <a:effectLst/>
                        </a:rPr>
                        <a:t>Delhi Daredevils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3022</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31607744"/>
                  </a:ext>
                </a:extLst>
              </a:tr>
              <a:tr h="198335">
                <a:tc>
                  <a:txBody>
                    <a:bodyPr/>
                    <a:lstStyle/>
                    <a:p>
                      <a:pPr algn="ctr" fontAlgn="b"/>
                      <a:r>
                        <a:rPr lang="en-IN" sz="1100" b="0" u="none" strike="noStrike">
                          <a:solidFill>
                            <a:srgbClr val="000000"/>
                          </a:solidFill>
                          <a:effectLst/>
                        </a:rPr>
                        <a:t>Sunrisers Hyderabad</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2306</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51953019"/>
                  </a:ext>
                </a:extLst>
              </a:tr>
              <a:tr h="198335">
                <a:tc>
                  <a:txBody>
                    <a:bodyPr/>
                    <a:lstStyle/>
                    <a:p>
                      <a:pPr algn="ctr" fontAlgn="b"/>
                      <a:r>
                        <a:rPr lang="en-IN" sz="1100" b="0" u="none" strike="noStrike">
                          <a:solidFill>
                            <a:srgbClr val="000000"/>
                          </a:solidFill>
                          <a:effectLst/>
                        </a:rPr>
                        <a:t>Deccan Chargers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1387</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73974130"/>
                  </a:ext>
                </a:extLst>
              </a:tr>
              <a:tr h="198335">
                <a:tc>
                  <a:txBody>
                    <a:bodyPr/>
                    <a:lstStyle/>
                    <a:p>
                      <a:pPr algn="ctr" fontAlgn="b"/>
                      <a:r>
                        <a:rPr lang="en-IN" sz="1100" b="0" u="none" strike="noStrike">
                          <a:solidFill>
                            <a:srgbClr val="000000"/>
                          </a:solidFill>
                          <a:effectLst/>
                        </a:rPr>
                        <a:t>Pune Warriors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733</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62086539"/>
                  </a:ext>
                </a:extLst>
              </a:tr>
              <a:tr h="198335">
                <a:tc>
                  <a:txBody>
                    <a:bodyPr/>
                    <a:lstStyle/>
                    <a:p>
                      <a:pPr algn="ctr" fontAlgn="b"/>
                      <a:r>
                        <a:rPr lang="en-IN" sz="1100" b="0" u="none" strike="noStrike">
                          <a:solidFill>
                            <a:srgbClr val="000000"/>
                          </a:solidFill>
                          <a:effectLst/>
                        </a:rPr>
                        <a:t>Delhi Capitals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659</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54030825"/>
                  </a:ext>
                </a:extLst>
              </a:tr>
              <a:tr h="198335">
                <a:tc>
                  <a:txBody>
                    <a:bodyPr/>
                    <a:lstStyle/>
                    <a:p>
                      <a:pPr algn="ctr" fontAlgn="b"/>
                      <a:r>
                        <a:rPr lang="en-IN" sz="1100" b="0" u="none" strike="noStrike">
                          <a:solidFill>
                            <a:srgbClr val="000000"/>
                          </a:solidFill>
                          <a:effectLst/>
                        </a:rPr>
                        <a:t>Gujarat Lions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624</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91104333"/>
                  </a:ext>
                </a:extLst>
              </a:tr>
              <a:tr h="198335">
                <a:tc>
                  <a:txBody>
                    <a:bodyPr/>
                    <a:lstStyle/>
                    <a:p>
                      <a:pPr algn="ctr" fontAlgn="b"/>
                      <a:r>
                        <a:rPr lang="en-IN" sz="1100" b="0" u="none" strike="noStrike">
                          <a:solidFill>
                            <a:srgbClr val="000000"/>
                          </a:solidFill>
                          <a:effectLst/>
                        </a:rPr>
                        <a:t>Rising Pune Supergiant</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290</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88677782"/>
                  </a:ext>
                </a:extLst>
              </a:tr>
              <a:tr h="198335">
                <a:tc>
                  <a:txBody>
                    <a:bodyPr/>
                    <a:lstStyle/>
                    <a:p>
                      <a:pPr algn="ctr" fontAlgn="b"/>
                      <a:r>
                        <a:rPr lang="en-IN" sz="1100" b="0" u="none" strike="noStrike">
                          <a:solidFill>
                            <a:srgbClr val="000000"/>
                          </a:solidFill>
                          <a:effectLst/>
                        </a:rPr>
                        <a:t>Rising Pune Supergiants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242</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90069255"/>
                  </a:ext>
                </a:extLst>
              </a:tr>
              <a:tr h="198335">
                <a:tc>
                  <a:txBody>
                    <a:bodyPr/>
                    <a:lstStyle/>
                    <a:p>
                      <a:pPr algn="ctr" fontAlgn="b"/>
                      <a:r>
                        <a:rPr lang="en-IN" sz="1100" b="0" u="none" strike="noStrike">
                          <a:solidFill>
                            <a:srgbClr val="000000"/>
                          </a:solidFill>
                          <a:effectLst/>
                        </a:rPr>
                        <a:t>Kochi Tuskers Kerala</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dirty="0">
                          <a:solidFill>
                            <a:srgbClr val="000000"/>
                          </a:solidFill>
                          <a:effectLst/>
                        </a:rPr>
                        <a:t>231</a:t>
                      </a:r>
                      <a:endParaRPr lang="en-IN"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51627357"/>
                  </a:ext>
                </a:extLst>
              </a:tr>
            </a:tbl>
          </a:graphicData>
        </a:graphic>
      </p:graphicFrame>
      <p:graphicFrame>
        <p:nvGraphicFramePr>
          <p:cNvPr id="7" name="Chart 6">
            <a:extLst>
              <a:ext uri="{FF2B5EF4-FFF2-40B4-BE49-F238E27FC236}">
                <a16:creationId xmlns:a16="http://schemas.microsoft.com/office/drawing/2014/main" id="{5F14A02A-01B5-2732-1339-6016AD976670}"/>
              </a:ext>
            </a:extLst>
          </p:cNvPr>
          <p:cNvGraphicFramePr>
            <a:graphicFrameLocks/>
          </p:cNvGraphicFramePr>
          <p:nvPr>
            <p:extLst>
              <p:ext uri="{D42A27DB-BD31-4B8C-83A1-F6EECF244321}">
                <p14:modId xmlns:p14="http://schemas.microsoft.com/office/powerpoint/2010/main" val="3829570658"/>
              </p:ext>
            </p:extLst>
          </p:nvPr>
        </p:nvGraphicFramePr>
        <p:xfrm>
          <a:off x="4129547" y="3390900"/>
          <a:ext cx="5683045" cy="3249557"/>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0C670E67-66E9-5DEB-E71B-AF7005FB3D7E}"/>
              </a:ext>
            </a:extLst>
          </p:cNvPr>
          <p:cNvSpPr txBox="1"/>
          <p:nvPr/>
        </p:nvSpPr>
        <p:spPr>
          <a:xfrm>
            <a:off x="324465" y="2423114"/>
            <a:ext cx="8839200" cy="646331"/>
          </a:xfrm>
          <a:prstGeom prst="rect">
            <a:avLst/>
          </a:prstGeom>
          <a:noFill/>
        </p:spPr>
        <p:txBody>
          <a:bodyPr wrap="square" rtlCol="0">
            <a:spAutoFit/>
          </a:bodyPr>
          <a:lstStyle/>
          <a:p>
            <a:r>
              <a:rPr lang="en-US" b="1" dirty="0"/>
              <a:t>Below on the left output of the above query, which I have used to create graph on the right.</a:t>
            </a:r>
            <a:endParaRPr lang="en-IN" b="1" dirty="0"/>
          </a:p>
        </p:txBody>
      </p:sp>
    </p:spTree>
    <p:extLst>
      <p:ext uri="{BB962C8B-B14F-4D97-AF65-F5344CB8AC3E}">
        <p14:creationId xmlns:p14="http://schemas.microsoft.com/office/powerpoint/2010/main" val="1285589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7D8426-2805-4D64-4A70-9A3C59C1AD70}"/>
              </a:ext>
            </a:extLst>
          </p:cNvPr>
          <p:cNvSpPr txBox="1"/>
          <p:nvPr/>
        </p:nvSpPr>
        <p:spPr>
          <a:xfrm>
            <a:off x="285135" y="214128"/>
            <a:ext cx="8436078" cy="984885"/>
          </a:xfrm>
          <a:prstGeom prst="rect">
            <a:avLst/>
          </a:prstGeom>
          <a:noFill/>
        </p:spPr>
        <p:txBody>
          <a:bodyPr wrap="square" rtlCol="0">
            <a:spAutoFit/>
          </a:bodyPr>
          <a:lstStyle/>
          <a:p>
            <a:r>
              <a:rPr lang="en-US" sz="2000" b="1" i="0" dirty="0">
                <a:solidFill>
                  <a:srgbClr val="484848"/>
                </a:solidFill>
                <a:effectLst/>
                <a:highlight>
                  <a:srgbClr val="FFFFFF"/>
                </a:highlight>
                <a:latin typeface="Inter var experimental"/>
              </a:rPr>
              <a:t>Q5. Write a query to fetch the total number of dot balls bowled by each team and order it in descending order of the total number of dot balls bowled.</a:t>
            </a:r>
          </a:p>
          <a:p>
            <a:endParaRPr lang="en-IN" dirty="0"/>
          </a:p>
        </p:txBody>
      </p:sp>
      <p:sp>
        <p:nvSpPr>
          <p:cNvPr id="3" name="TextBox 2">
            <a:extLst>
              <a:ext uri="{FF2B5EF4-FFF2-40B4-BE49-F238E27FC236}">
                <a16:creationId xmlns:a16="http://schemas.microsoft.com/office/drawing/2014/main" id="{6A46B614-34CE-73AC-06A7-9F107FAFBAC5}"/>
              </a:ext>
            </a:extLst>
          </p:cNvPr>
          <p:cNvSpPr txBox="1"/>
          <p:nvPr/>
        </p:nvSpPr>
        <p:spPr>
          <a:xfrm>
            <a:off x="285135" y="1004550"/>
            <a:ext cx="8278761" cy="923330"/>
          </a:xfrm>
          <a:prstGeom prst="rect">
            <a:avLst/>
          </a:prstGeom>
          <a:noFill/>
        </p:spPr>
        <p:txBody>
          <a:bodyPr wrap="square" rtlCol="0">
            <a:spAutoFit/>
          </a:bodyPr>
          <a:lstStyle/>
          <a:p>
            <a:r>
              <a:rPr lang="en-US" b="1" dirty="0"/>
              <a:t>Query:</a:t>
            </a:r>
            <a:r>
              <a:rPr lang="en-US" dirty="0"/>
              <a:t> select bowling_team, count(ball_result) as no_of_dot_balls from deliveries_v02where ball_result = 'dot' group by bowling_team order by no_of_dot_balls desc;</a:t>
            </a:r>
            <a:endParaRPr lang="en-IN" dirty="0"/>
          </a:p>
        </p:txBody>
      </p:sp>
      <p:graphicFrame>
        <p:nvGraphicFramePr>
          <p:cNvPr id="5" name="Table 4">
            <a:extLst>
              <a:ext uri="{FF2B5EF4-FFF2-40B4-BE49-F238E27FC236}">
                <a16:creationId xmlns:a16="http://schemas.microsoft.com/office/drawing/2014/main" id="{1F956733-97AB-1F28-4610-A51422F75BFF}"/>
              </a:ext>
            </a:extLst>
          </p:cNvPr>
          <p:cNvGraphicFramePr>
            <a:graphicFrameLocks noGrp="1"/>
          </p:cNvGraphicFramePr>
          <p:nvPr>
            <p:extLst>
              <p:ext uri="{D42A27DB-BD31-4B8C-83A1-F6EECF244321}">
                <p14:modId xmlns:p14="http://schemas.microsoft.com/office/powerpoint/2010/main" val="2333731543"/>
              </p:ext>
            </p:extLst>
          </p:nvPr>
        </p:nvGraphicFramePr>
        <p:xfrm>
          <a:off x="344130" y="2890684"/>
          <a:ext cx="3500283" cy="3834596"/>
        </p:xfrm>
        <a:graphic>
          <a:graphicData uri="http://schemas.openxmlformats.org/drawingml/2006/table">
            <a:tbl>
              <a:tblPr>
                <a:tableStyleId>{3C2FFA5D-87B4-456A-9821-1D502468CF0F}</a:tableStyleId>
              </a:tblPr>
              <a:tblGrid>
                <a:gridCol w="2193957">
                  <a:extLst>
                    <a:ext uri="{9D8B030D-6E8A-4147-A177-3AD203B41FA5}">
                      <a16:colId xmlns:a16="http://schemas.microsoft.com/office/drawing/2014/main" val="2261311906"/>
                    </a:ext>
                  </a:extLst>
                </a:gridCol>
                <a:gridCol w="1306326">
                  <a:extLst>
                    <a:ext uri="{9D8B030D-6E8A-4147-A177-3AD203B41FA5}">
                      <a16:colId xmlns:a16="http://schemas.microsoft.com/office/drawing/2014/main" val="645229118"/>
                    </a:ext>
                  </a:extLst>
                </a:gridCol>
              </a:tblGrid>
              <a:tr h="234388">
                <a:tc>
                  <a:txBody>
                    <a:bodyPr/>
                    <a:lstStyle/>
                    <a:p>
                      <a:pPr algn="ctr" fontAlgn="b"/>
                      <a:r>
                        <a:rPr lang="en-IN" sz="1200" b="1" u="none" strike="noStrike" dirty="0">
                          <a:solidFill>
                            <a:srgbClr val="000000"/>
                          </a:solidFill>
                          <a:effectLst/>
                        </a:rPr>
                        <a:t>bowling_team</a:t>
                      </a:r>
                      <a:endParaRPr lang="en-IN" sz="12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1" u="none" strike="noStrike" dirty="0">
                          <a:solidFill>
                            <a:srgbClr val="000000"/>
                          </a:solidFill>
                          <a:effectLst/>
                        </a:rPr>
                        <a:t>no_of_dot_balls</a:t>
                      </a:r>
                      <a:endParaRPr lang="en-IN" sz="12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40221052"/>
                  </a:ext>
                </a:extLst>
              </a:tr>
              <a:tr h="225013">
                <a:tc>
                  <a:txBody>
                    <a:bodyPr/>
                    <a:lstStyle/>
                    <a:p>
                      <a:pPr algn="ctr" fontAlgn="b"/>
                      <a:r>
                        <a:rPr lang="en-IN" sz="1100" b="0" u="none" strike="noStrike">
                          <a:solidFill>
                            <a:srgbClr val="000000"/>
                          </a:solidFill>
                          <a:effectLst/>
                        </a:rPr>
                        <a:t>Mumbai Indians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dirty="0">
                          <a:solidFill>
                            <a:srgbClr val="000000"/>
                          </a:solidFill>
                          <a:effectLst/>
                        </a:rPr>
                        <a:t>8714</a:t>
                      </a:r>
                      <a:endParaRPr lang="en-IN"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14686020"/>
                  </a:ext>
                </a:extLst>
              </a:tr>
              <a:tr h="225013">
                <a:tc>
                  <a:txBody>
                    <a:bodyPr/>
                    <a:lstStyle/>
                    <a:p>
                      <a:pPr algn="ctr" fontAlgn="b"/>
                      <a:r>
                        <a:rPr lang="en-IN" sz="1100" b="0" u="none" strike="noStrike" dirty="0">
                          <a:solidFill>
                            <a:srgbClr val="000000"/>
                          </a:solidFill>
                          <a:effectLst/>
                        </a:rPr>
                        <a:t>Royal Challengers Bangalore</a:t>
                      </a:r>
                      <a:endParaRPr lang="en-IN"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7955</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36425273"/>
                  </a:ext>
                </a:extLst>
              </a:tr>
              <a:tr h="225013">
                <a:tc>
                  <a:txBody>
                    <a:bodyPr/>
                    <a:lstStyle/>
                    <a:p>
                      <a:pPr algn="ctr" fontAlgn="b"/>
                      <a:r>
                        <a:rPr lang="en-IN" sz="1100" b="0" u="none" strike="noStrike">
                          <a:solidFill>
                            <a:srgbClr val="000000"/>
                          </a:solidFill>
                          <a:effectLst/>
                        </a:rPr>
                        <a:t>Kolkata Knight Riders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7894</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50000277"/>
                  </a:ext>
                </a:extLst>
              </a:tr>
              <a:tr h="225013">
                <a:tc>
                  <a:txBody>
                    <a:bodyPr/>
                    <a:lstStyle/>
                    <a:p>
                      <a:pPr algn="ctr" fontAlgn="b"/>
                      <a:r>
                        <a:rPr lang="en-IN" sz="1100" b="0" u="none" strike="noStrike" dirty="0">
                          <a:solidFill>
                            <a:srgbClr val="000000"/>
                          </a:solidFill>
                          <a:effectLst/>
                        </a:rPr>
                        <a:t>Kings XI Punjab</a:t>
                      </a:r>
                      <a:endParaRPr lang="en-IN"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7679</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16266431"/>
                  </a:ext>
                </a:extLst>
              </a:tr>
              <a:tr h="225013">
                <a:tc>
                  <a:txBody>
                    <a:bodyPr/>
                    <a:lstStyle/>
                    <a:p>
                      <a:pPr algn="ctr" fontAlgn="b"/>
                      <a:r>
                        <a:rPr lang="en-IN" sz="1100" b="0" u="none" strike="noStrike">
                          <a:solidFill>
                            <a:srgbClr val="000000"/>
                          </a:solidFill>
                          <a:effectLst/>
                        </a:rPr>
                        <a:t>Chennai Super Kings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7593</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82496237"/>
                  </a:ext>
                </a:extLst>
              </a:tr>
              <a:tr h="225013">
                <a:tc>
                  <a:txBody>
                    <a:bodyPr/>
                    <a:lstStyle/>
                    <a:p>
                      <a:pPr algn="ctr" fontAlgn="b"/>
                      <a:r>
                        <a:rPr lang="en-IN" sz="1100" b="0" u="none" strike="noStrike">
                          <a:solidFill>
                            <a:srgbClr val="000000"/>
                          </a:solidFill>
                          <a:effectLst/>
                        </a:rPr>
                        <a:t>Rajasthan Royals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6665</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719860636"/>
                  </a:ext>
                </a:extLst>
              </a:tr>
              <a:tr h="225013">
                <a:tc>
                  <a:txBody>
                    <a:bodyPr/>
                    <a:lstStyle/>
                    <a:p>
                      <a:pPr algn="ctr" fontAlgn="b"/>
                      <a:r>
                        <a:rPr lang="en-IN" sz="1100" b="0" u="none" strike="noStrike">
                          <a:solidFill>
                            <a:srgbClr val="000000"/>
                          </a:solidFill>
                          <a:effectLst/>
                        </a:rPr>
                        <a:t>Delhi Daredevils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6520</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980352190"/>
                  </a:ext>
                </a:extLst>
              </a:tr>
              <a:tr h="225013">
                <a:tc>
                  <a:txBody>
                    <a:bodyPr/>
                    <a:lstStyle/>
                    <a:p>
                      <a:pPr algn="ctr" fontAlgn="b"/>
                      <a:r>
                        <a:rPr lang="en-IN" sz="1100" b="0" u="none" strike="noStrike">
                          <a:solidFill>
                            <a:srgbClr val="000000"/>
                          </a:solidFill>
                          <a:effectLst/>
                        </a:rPr>
                        <a:t>Sunrisers Hyderabad</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5248</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749301405"/>
                  </a:ext>
                </a:extLst>
              </a:tr>
              <a:tr h="225013">
                <a:tc>
                  <a:txBody>
                    <a:bodyPr/>
                    <a:lstStyle/>
                    <a:p>
                      <a:pPr algn="ctr" fontAlgn="b"/>
                      <a:r>
                        <a:rPr lang="en-IN" sz="1100" b="0" u="none" strike="noStrike">
                          <a:solidFill>
                            <a:srgbClr val="000000"/>
                          </a:solidFill>
                          <a:effectLst/>
                        </a:rPr>
                        <a:t>Deccan Chargers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3306</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23276648"/>
                  </a:ext>
                </a:extLst>
              </a:tr>
              <a:tr h="225013">
                <a:tc>
                  <a:txBody>
                    <a:bodyPr/>
                    <a:lstStyle/>
                    <a:p>
                      <a:pPr algn="ctr" fontAlgn="b"/>
                      <a:r>
                        <a:rPr lang="en-IN" sz="1100" b="0" u="none" strike="noStrike">
                          <a:solidFill>
                            <a:srgbClr val="000000"/>
                          </a:solidFill>
                          <a:effectLst/>
                        </a:rPr>
                        <a:t>Pune Warriors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1900</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94595200"/>
                  </a:ext>
                </a:extLst>
              </a:tr>
              <a:tr h="225013">
                <a:tc>
                  <a:txBody>
                    <a:bodyPr/>
                    <a:lstStyle/>
                    <a:p>
                      <a:pPr algn="ctr" fontAlgn="b"/>
                      <a:r>
                        <a:rPr lang="en-IN" sz="1100" b="0" u="none" strike="noStrike">
                          <a:solidFill>
                            <a:srgbClr val="000000"/>
                          </a:solidFill>
                          <a:effectLst/>
                        </a:rPr>
                        <a:t>Delhi Capitals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1338</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48306626"/>
                  </a:ext>
                </a:extLst>
              </a:tr>
              <a:tr h="225013">
                <a:tc>
                  <a:txBody>
                    <a:bodyPr/>
                    <a:lstStyle/>
                    <a:p>
                      <a:pPr algn="ctr" fontAlgn="b"/>
                      <a:r>
                        <a:rPr lang="en-IN" sz="1100" b="0" u="none" strike="noStrike">
                          <a:solidFill>
                            <a:srgbClr val="000000"/>
                          </a:solidFill>
                          <a:effectLst/>
                        </a:rPr>
                        <a:t>Gujarat Lions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1095</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88186364"/>
                  </a:ext>
                </a:extLst>
              </a:tr>
              <a:tr h="225013">
                <a:tc>
                  <a:txBody>
                    <a:bodyPr/>
                    <a:lstStyle/>
                    <a:p>
                      <a:pPr algn="ctr" fontAlgn="b"/>
                      <a:r>
                        <a:rPr lang="en-IN" sz="1100" b="0" u="none" strike="noStrike">
                          <a:solidFill>
                            <a:srgbClr val="000000"/>
                          </a:solidFill>
                          <a:effectLst/>
                        </a:rPr>
                        <a:t>Rising Pune Supergiant</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698</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3158877"/>
                  </a:ext>
                </a:extLst>
              </a:tr>
              <a:tr h="225013">
                <a:tc>
                  <a:txBody>
                    <a:bodyPr/>
                    <a:lstStyle/>
                    <a:p>
                      <a:pPr algn="ctr" fontAlgn="b"/>
                      <a:r>
                        <a:rPr lang="en-IN" sz="1100" b="0" u="none" strike="noStrike">
                          <a:solidFill>
                            <a:srgbClr val="000000"/>
                          </a:solidFill>
                          <a:effectLst/>
                        </a:rPr>
                        <a:t>Kochi Tuskers Kerala</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626</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97456159"/>
                  </a:ext>
                </a:extLst>
              </a:tr>
              <a:tr h="225013">
                <a:tc>
                  <a:txBody>
                    <a:bodyPr/>
                    <a:lstStyle/>
                    <a:p>
                      <a:pPr algn="ctr" fontAlgn="b"/>
                      <a:r>
                        <a:rPr lang="en-IN" sz="1100" b="0" u="none" strike="noStrike">
                          <a:solidFill>
                            <a:srgbClr val="000000"/>
                          </a:solidFill>
                          <a:effectLst/>
                        </a:rPr>
                        <a:t>Rising Pune Supergiants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a:solidFill>
                            <a:srgbClr val="000000"/>
                          </a:solidFill>
                          <a:effectLst/>
                        </a:rPr>
                        <a:t>539</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997791696"/>
                  </a:ext>
                </a:extLst>
              </a:tr>
              <a:tr h="225013">
                <a:tc>
                  <a:txBody>
                    <a:bodyPr/>
                    <a:lstStyle/>
                    <a:p>
                      <a:pPr algn="ctr" fontAlgn="b"/>
                      <a:r>
                        <a:rPr lang="en-IN" sz="1100" b="0" u="none" strike="noStrike">
                          <a:solidFill>
                            <a:srgbClr val="000000"/>
                          </a:solidFill>
                          <a:effectLst/>
                        </a:rPr>
                        <a:t>NA</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100" b="0" u="none" strike="noStrike" dirty="0">
                          <a:solidFill>
                            <a:srgbClr val="000000"/>
                          </a:solidFill>
                          <a:effectLst/>
                        </a:rPr>
                        <a:t>71</a:t>
                      </a:r>
                      <a:endParaRPr lang="en-IN"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81531248"/>
                  </a:ext>
                </a:extLst>
              </a:tr>
            </a:tbl>
          </a:graphicData>
        </a:graphic>
      </p:graphicFrame>
      <p:graphicFrame>
        <p:nvGraphicFramePr>
          <p:cNvPr id="7" name="Chart 6">
            <a:extLst>
              <a:ext uri="{FF2B5EF4-FFF2-40B4-BE49-F238E27FC236}">
                <a16:creationId xmlns:a16="http://schemas.microsoft.com/office/drawing/2014/main" id="{D1879D55-6EC9-08AC-58C4-DBD9D3D6A958}"/>
              </a:ext>
            </a:extLst>
          </p:cNvPr>
          <p:cNvGraphicFramePr>
            <a:graphicFrameLocks/>
          </p:cNvGraphicFramePr>
          <p:nvPr>
            <p:extLst>
              <p:ext uri="{D42A27DB-BD31-4B8C-83A1-F6EECF244321}">
                <p14:modId xmlns:p14="http://schemas.microsoft.com/office/powerpoint/2010/main" val="384846421"/>
              </p:ext>
            </p:extLst>
          </p:nvPr>
        </p:nvGraphicFramePr>
        <p:xfrm>
          <a:off x="4021394" y="2890684"/>
          <a:ext cx="6912077" cy="3834587"/>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45E1F8C5-0820-F762-8163-185EC2123561}"/>
              </a:ext>
            </a:extLst>
          </p:cNvPr>
          <p:cNvSpPr txBox="1"/>
          <p:nvPr/>
        </p:nvSpPr>
        <p:spPr>
          <a:xfrm>
            <a:off x="285135" y="2161817"/>
            <a:ext cx="8632722" cy="923330"/>
          </a:xfrm>
          <a:prstGeom prst="rect">
            <a:avLst/>
          </a:prstGeom>
          <a:noFill/>
        </p:spPr>
        <p:txBody>
          <a:bodyPr wrap="square" rtlCol="0">
            <a:spAutoFit/>
          </a:bodyPr>
          <a:lstStyle/>
          <a:p>
            <a:r>
              <a:rPr lang="en-US" b="1" dirty="0"/>
              <a:t>Below on the left we have the output of the above query, which I have used to create the graph on right.</a:t>
            </a:r>
            <a:endParaRPr lang="en-IN" b="1" dirty="0"/>
          </a:p>
          <a:p>
            <a:endParaRPr lang="en-IN" dirty="0"/>
          </a:p>
        </p:txBody>
      </p:sp>
    </p:spTree>
    <p:extLst>
      <p:ext uri="{BB962C8B-B14F-4D97-AF65-F5344CB8AC3E}">
        <p14:creationId xmlns:p14="http://schemas.microsoft.com/office/powerpoint/2010/main" val="309041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0054C4-549F-0C88-721E-CCE2EB2C54D5}"/>
              </a:ext>
            </a:extLst>
          </p:cNvPr>
          <p:cNvSpPr txBox="1"/>
          <p:nvPr/>
        </p:nvSpPr>
        <p:spPr>
          <a:xfrm>
            <a:off x="255639" y="304801"/>
            <a:ext cx="9438967" cy="984885"/>
          </a:xfrm>
          <a:prstGeom prst="rect">
            <a:avLst/>
          </a:prstGeom>
          <a:noFill/>
        </p:spPr>
        <p:txBody>
          <a:bodyPr wrap="square" rtlCol="0">
            <a:spAutoFit/>
          </a:bodyPr>
          <a:lstStyle/>
          <a:p>
            <a:r>
              <a:rPr lang="en-US" sz="2000" b="1" i="0" dirty="0">
                <a:effectLst/>
                <a:highlight>
                  <a:srgbClr val="FFFFFF"/>
                </a:highlight>
                <a:latin typeface="Inter var experimental"/>
              </a:rPr>
              <a:t>Q6. Write a query to fetch the total number of dismissals by dismissal kinds where dismissal kind is not NA.</a:t>
            </a:r>
          </a:p>
          <a:p>
            <a:endParaRPr lang="en-IN" dirty="0"/>
          </a:p>
        </p:txBody>
      </p:sp>
      <p:sp>
        <p:nvSpPr>
          <p:cNvPr id="3" name="TextBox 2">
            <a:extLst>
              <a:ext uri="{FF2B5EF4-FFF2-40B4-BE49-F238E27FC236}">
                <a16:creationId xmlns:a16="http://schemas.microsoft.com/office/drawing/2014/main" id="{46C9B786-7C2C-45AF-1EBD-19ED161D7F0F}"/>
              </a:ext>
            </a:extLst>
          </p:cNvPr>
          <p:cNvSpPr txBox="1"/>
          <p:nvPr/>
        </p:nvSpPr>
        <p:spPr>
          <a:xfrm>
            <a:off x="255639" y="1161866"/>
            <a:ext cx="9144000" cy="646331"/>
          </a:xfrm>
          <a:prstGeom prst="rect">
            <a:avLst/>
          </a:prstGeom>
          <a:noFill/>
        </p:spPr>
        <p:txBody>
          <a:bodyPr wrap="square" rtlCol="0">
            <a:spAutoFit/>
          </a:bodyPr>
          <a:lstStyle/>
          <a:p>
            <a:r>
              <a:rPr lang="en-US" b="1" dirty="0"/>
              <a:t>Query:</a:t>
            </a:r>
            <a:r>
              <a:rPr lang="en-US" dirty="0"/>
              <a:t> select dismissal_kind, count(dismissal_kind) from deliveries_v02 where not dismissal_kind = 'NA' group by dismissal_kind;</a:t>
            </a:r>
            <a:endParaRPr lang="en-IN" dirty="0"/>
          </a:p>
        </p:txBody>
      </p:sp>
      <p:graphicFrame>
        <p:nvGraphicFramePr>
          <p:cNvPr id="5" name="Table 4">
            <a:extLst>
              <a:ext uri="{FF2B5EF4-FFF2-40B4-BE49-F238E27FC236}">
                <a16:creationId xmlns:a16="http://schemas.microsoft.com/office/drawing/2014/main" id="{CC6BE65C-8A54-51B5-40BC-1D2314F063EF}"/>
              </a:ext>
            </a:extLst>
          </p:cNvPr>
          <p:cNvGraphicFramePr>
            <a:graphicFrameLocks noGrp="1"/>
          </p:cNvGraphicFramePr>
          <p:nvPr>
            <p:extLst>
              <p:ext uri="{D42A27DB-BD31-4B8C-83A1-F6EECF244321}">
                <p14:modId xmlns:p14="http://schemas.microsoft.com/office/powerpoint/2010/main" val="1474663151"/>
              </p:ext>
            </p:extLst>
          </p:nvPr>
        </p:nvGraphicFramePr>
        <p:xfrm>
          <a:off x="603531" y="3352800"/>
          <a:ext cx="2877087" cy="3200400"/>
        </p:xfrm>
        <a:graphic>
          <a:graphicData uri="http://schemas.openxmlformats.org/drawingml/2006/table">
            <a:tbl>
              <a:tblPr>
                <a:tableStyleId>{3C2FFA5D-87B4-456A-9821-1D502468CF0F}</a:tableStyleId>
              </a:tblPr>
              <a:tblGrid>
                <a:gridCol w="1904551">
                  <a:extLst>
                    <a:ext uri="{9D8B030D-6E8A-4147-A177-3AD203B41FA5}">
                      <a16:colId xmlns:a16="http://schemas.microsoft.com/office/drawing/2014/main" val="1134598574"/>
                    </a:ext>
                  </a:extLst>
                </a:gridCol>
                <a:gridCol w="972536">
                  <a:extLst>
                    <a:ext uri="{9D8B030D-6E8A-4147-A177-3AD203B41FA5}">
                      <a16:colId xmlns:a16="http://schemas.microsoft.com/office/drawing/2014/main" val="1373000940"/>
                    </a:ext>
                  </a:extLst>
                </a:gridCol>
              </a:tblGrid>
              <a:tr h="320040">
                <a:tc>
                  <a:txBody>
                    <a:bodyPr/>
                    <a:lstStyle/>
                    <a:p>
                      <a:pPr algn="ctr" fontAlgn="b"/>
                      <a:r>
                        <a:rPr lang="en-IN" sz="1400" b="1" u="none" strike="noStrike" dirty="0">
                          <a:solidFill>
                            <a:srgbClr val="000000"/>
                          </a:solidFill>
                          <a:effectLst/>
                        </a:rPr>
                        <a:t>dismissal_kind</a:t>
                      </a:r>
                      <a:endParaRPr lang="en-IN" sz="14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b="1" u="none" strike="noStrike" dirty="0">
                          <a:solidFill>
                            <a:srgbClr val="000000"/>
                          </a:solidFill>
                          <a:effectLst/>
                        </a:rPr>
                        <a:t>count</a:t>
                      </a:r>
                      <a:endParaRPr lang="en-IN" sz="14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14726741"/>
                  </a:ext>
                </a:extLst>
              </a:tr>
              <a:tr h="320040">
                <a:tc>
                  <a:txBody>
                    <a:bodyPr/>
                    <a:lstStyle/>
                    <a:p>
                      <a:pPr algn="ctr" fontAlgn="b"/>
                      <a:r>
                        <a:rPr lang="en-IN" sz="1200" b="0" u="none" strike="noStrike" dirty="0">
                          <a:solidFill>
                            <a:srgbClr val="000000"/>
                          </a:solidFill>
                          <a:effectLst/>
                        </a:rPr>
                        <a:t>bowled</a:t>
                      </a:r>
                      <a:endParaRPr lang="en-IN"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a:solidFill>
                            <a:srgbClr val="000000"/>
                          </a:solidFill>
                          <a:effectLst/>
                        </a:rPr>
                        <a:t>1700</a:t>
                      </a:r>
                      <a:endParaRPr lang="en-IN"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34975198"/>
                  </a:ext>
                </a:extLst>
              </a:tr>
              <a:tr h="320040">
                <a:tc>
                  <a:txBody>
                    <a:bodyPr/>
                    <a:lstStyle/>
                    <a:p>
                      <a:pPr algn="ctr" fontAlgn="b"/>
                      <a:r>
                        <a:rPr lang="en-IN" sz="1200" b="0" u="none" strike="noStrike" dirty="0">
                          <a:solidFill>
                            <a:srgbClr val="000000"/>
                          </a:solidFill>
                          <a:effectLst/>
                        </a:rPr>
                        <a:t>caught</a:t>
                      </a:r>
                      <a:endParaRPr lang="en-IN"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a:solidFill>
                            <a:srgbClr val="000000"/>
                          </a:solidFill>
                          <a:effectLst/>
                        </a:rPr>
                        <a:t>5743</a:t>
                      </a:r>
                      <a:endParaRPr lang="en-IN"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30303677"/>
                  </a:ext>
                </a:extLst>
              </a:tr>
              <a:tr h="320040">
                <a:tc>
                  <a:txBody>
                    <a:bodyPr/>
                    <a:lstStyle/>
                    <a:p>
                      <a:pPr algn="ctr" fontAlgn="b"/>
                      <a:r>
                        <a:rPr lang="en-IN" sz="1200" b="0" u="none" strike="noStrike">
                          <a:solidFill>
                            <a:srgbClr val="000000"/>
                          </a:solidFill>
                          <a:effectLst/>
                        </a:rPr>
                        <a:t>caught and bowled</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a:solidFill>
                            <a:srgbClr val="000000"/>
                          </a:solidFill>
                          <a:effectLst/>
                        </a:rPr>
                        <a:t>269</a:t>
                      </a:r>
                      <a:endParaRPr lang="en-IN"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52640154"/>
                  </a:ext>
                </a:extLst>
              </a:tr>
              <a:tr h="320040">
                <a:tc>
                  <a:txBody>
                    <a:bodyPr/>
                    <a:lstStyle/>
                    <a:p>
                      <a:pPr algn="ctr" fontAlgn="b"/>
                      <a:r>
                        <a:rPr lang="en-IN" sz="1200" b="0" u="none" strike="noStrike" dirty="0">
                          <a:solidFill>
                            <a:srgbClr val="000000"/>
                          </a:solidFill>
                          <a:effectLst/>
                        </a:rPr>
                        <a:t>hit wicket</a:t>
                      </a:r>
                      <a:endParaRPr lang="en-IN"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a:solidFill>
                            <a:srgbClr val="000000"/>
                          </a:solidFill>
                          <a:effectLst/>
                        </a:rPr>
                        <a:t>12</a:t>
                      </a:r>
                      <a:endParaRPr lang="en-IN"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21396742"/>
                  </a:ext>
                </a:extLst>
              </a:tr>
              <a:tr h="320040">
                <a:tc>
                  <a:txBody>
                    <a:bodyPr/>
                    <a:lstStyle/>
                    <a:p>
                      <a:pPr algn="ctr" fontAlgn="b"/>
                      <a:r>
                        <a:rPr lang="en-IN" sz="1200" b="0" u="none" strike="noStrike" dirty="0">
                          <a:solidFill>
                            <a:srgbClr val="000000"/>
                          </a:solidFill>
                          <a:effectLst/>
                        </a:rPr>
                        <a:t>lbw</a:t>
                      </a:r>
                      <a:endParaRPr lang="en-IN"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a:solidFill>
                            <a:srgbClr val="000000"/>
                          </a:solidFill>
                          <a:effectLst/>
                        </a:rPr>
                        <a:t>571</a:t>
                      </a:r>
                      <a:endParaRPr lang="en-IN"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82141034"/>
                  </a:ext>
                </a:extLst>
              </a:tr>
              <a:tr h="320040">
                <a:tc>
                  <a:txBody>
                    <a:bodyPr/>
                    <a:lstStyle/>
                    <a:p>
                      <a:pPr algn="ctr" fontAlgn="b"/>
                      <a:r>
                        <a:rPr lang="en-IN" sz="1200" b="0" u="none" strike="noStrike" dirty="0">
                          <a:solidFill>
                            <a:srgbClr val="000000"/>
                          </a:solidFill>
                          <a:effectLst/>
                        </a:rPr>
                        <a:t>obstructing the field</a:t>
                      </a:r>
                      <a:endParaRPr lang="en-IN"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dirty="0">
                          <a:solidFill>
                            <a:srgbClr val="000000"/>
                          </a:solidFill>
                          <a:effectLst/>
                        </a:rPr>
                        <a:t>2</a:t>
                      </a:r>
                      <a:endParaRPr lang="en-IN"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727335040"/>
                  </a:ext>
                </a:extLst>
              </a:tr>
              <a:tr h="320040">
                <a:tc>
                  <a:txBody>
                    <a:bodyPr/>
                    <a:lstStyle/>
                    <a:p>
                      <a:pPr algn="ctr" fontAlgn="b"/>
                      <a:r>
                        <a:rPr lang="en-IN" sz="1200" b="0" u="none" strike="noStrike">
                          <a:solidFill>
                            <a:srgbClr val="000000"/>
                          </a:solidFill>
                          <a:effectLst/>
                        </a:rPr>
                        <a:t>retired hurt</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dirty="0">
                          <a:solidFill>
                            <a:srgbClr val="000000"/>
                          </a:solidFill>
                          <a:effectLst/>
                        </a:rPr>
                        <a:t>11</a:t>
                      </a:r>
                      <a:endParaRPr lang="en-IN"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909225170"/>
                  </a:ext>
                </a:extLst>
              </a:tr>
              <a:tr h="320040">
                <a:tc>
                  <a:txBody>
                    <a:bodyPr/>
                    <a:lstStyle/>
                    <a:p>
                      <a:pPr algn="ctr" fontAlgn="b"/>
                      <a:r>
                        <a:rPr lang="en-IN" sz="1200" b="0" u="none" strike="noStrike">
                          <a:solidFill>
                            <a:srgbClr val="000000"/>
                          </a:solidFill>
                          <a:effectLst/>
                        </a:rPr>
                        <a:t>run out</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dirty="0">
                          <a:solidFill>
                            <a:srgbClr val="000000"/>
                          </a:solidFill>
                          <a:effectLst/>
                        </a:rPr>
                        <a:t>893</a:t>
                      </a:r>
                      <a:endParaRPr lang="en-IN"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16511049"/>
                  </a:ext>
                </a:extLst>
              </a:tr>
              <a:tr h="320040">
                <a:tc>
                  <a:txBody>
                    <a:bodyPr/>
                    <a:lstStyle/>
                    <a:p>
                      <a:pPr algn="ctr" fontAlgn="b"/>
                      <a:r>
                        <a:rPr lang="en-IN" sz="1200" b="0" u="none" strike="noStrike">
                          <a:solidFill>
                            <a:srgbClr val="000000"/>
                          </a:solidFill>
                          <a:effectLst/>
                        </a:rPr>
                        <a:t>stumped</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dirty="0">
                          <a:solidFill>
                            <a:srgbClr val="000000"/>
                          </a:solidFill>
                          <a:effectLst/>
                        </a:rPr>
                        <a:t>294</a:t>
                      </a:r>
                      <a:endParaRPr lang="en-IN"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58734411"/>
                  </a:ext>
                </a:extLst>
              </a:tr>
            </a:tbl>
          </a:graphicData>
        </a:graphic>
      </p:graphicFrame>
      <p:graphicFrame>
        <p:nvGraphicFramePr>
          <p:cNvPr id="7" name="Chart 6">
            <a:extLst>
              <a:ext uri="{FF2B5EF4-FFF2-40B4-BE49-F238E27FC236}">
                <a16:creationId xmlns:a16="http://schemas.microsoft.com/office/drawing/2014/main" id="{8A71CE03-D09A-D2C0-DBE5-6767DF2B4FC7}"/>
              </a:ext>
            </a:extLst>
          </p:cNvPr>
          <p:cNvGraphicFramePr>
            <a:graphicFrameLocks/>
          </p:cNvGraphicFramePr>
          <p:nvPr>
            <p:extLst>
              <p:ext uri="{D42A27DB-BD31-4B8C-83A1-F6EECF244321}">
                <p14:modId xmlns:p14="http://schemas.microsoft.com/office/powerpoint/2010/main" val="2068950150"/>
              </p:ext>
            </p:extLst>
          </p:nvPr>
        </p:nvGraphicFramePr>
        <p:xfrm>
          <a:off x="4139382" y="3352800"/>
          <a:ext cx="4572000" cy="3200399"/>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A7BEB75C-89FB-D42E-509B-B2D07E7ABE07}"/>
              </a:ext>
            </a:extLst>
          </p:cNvPr>
          <p:cNvSpPr txBox="1"/>
          <p:nvPr/>
        </p:nvSpPr>
        <p:spPr>
          <a:xfrm>
            <a:off x="255639" y="2404091"/>
            <a:ext cx="8308258" cy="923330"/>
          </a:xfrm>
          <a:prstGeom prst="rect">
            <a:avLst/>
          </a:prstGeom>
          <a:noFill/>
        </p:spPr>
        <p:txBody>
          <a:bodyPr wrap="square" rtlCol="0">
            <a:spAutoFit/>
          </a:bodyPr>
          <a:lstStyle/>
          <a:p>
            <a:r>
              <a:rPr lang="en-US" b="1" dirty="0"/>
              <a:t>Below on the left we have the output of the above query, which I have used to create the graph on right.</a:t>
            </a:r>
            <a:endParaRPr lang="en-IN" b="1" dirty="0"/>
          </a:p>
          <a:p>
            <a:endParaRPr lang="en-IN" dirty="0"/>
          </a:p>
        </p:txBody>
      </p:sp>
    </p:spTree>
    <p:extLst>
      <p:ext uri="{BB962C8B-B14F-4D97-AF65-F5344CB8AC3E}">
        <p14:creationId xmlns:p14="http://schemas.microsoft.com/office/powerpoint/2010/main" val="3973652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2B1FD0-9513-2BFC-6D4B-AF1869D3D934}"/>
              </a:ext>
            </a:extLst>
          </p:cNvPr>
          <p:cNvSpPr txBox="1"/>
          <p:nvPr/>
        </p:nvSpPr>
        <p:spPr>
          <a:xfrm>
            <a:off x="511277" y="363794"/>
            <a:ext cx="8288594" cy="984885"/>
          </a:xfrm>
          <a:prstGeom prst="rect">
            <a:avLst/>
          </a:prstGeom>
          <a:noFill/>
        </p:spPr>
        <p:txBody>
          <a:bodyPr wrap="square" rtlCol="0">
            <a:spAutoFit/>
          </a:bodyPr>
          <a:lstStyle/>
          <a:p>
            <a:r>
              <a:rPr lang="en-US" sz="2000" b="1" i="0" dirty="0">
                <a:effectLst/>
                <a:highlight>
                  <a:srgbClr val="FFFFFF"/>
                </a:highlight>
                <a:latin typeface="Inter var experimental"/>
              </a:rPr>
              <a:t>Q7. Write a query to get the top 5 bowlers who conceded maximum extra runs from the </a:t>
            </a:r>
            <a:r>
              <a:rPr lang="en-US" sz="2000" b="1" i="1" dirty="0">
                <a:effectLst/>
                <a:highlight>
                  <a:srgbClr val="FFFFFF"/>
                </a:highlight>
                <a:latin typeface="Inter var experimental"/>
              </a:rPr>
              <a:t>deliveries </a:t>
            </a:r>
            <a:r>
              <a:rPr lang="en-US" sz="2000" b="1" i="0" dirty="0">
                <a:effectLst/>
                <a:highlight>
                  <a:srgbClr val="FFFFFF"/>
                </a:highlight>
                <a:latin typeface="Inter var experimental"/>
              </a:rPr>
              <a:t>table</a:t>
            </a:r>
          </a:p>
          <a:p>
            <a:endParaRPr lang="en-IN" dirty="0"/>
          </a:p>
        </p:txBody>
      </p:sp>
      <p:sp>
        <p:nvSpPr>
          <p:cNvPr id="3" name="TextBox 2">
            <a:extLst>
              <a:ext uri="{FF2B5EF4-FFF2-40B4-BE49-F238E27FC236}">
                <a16:creationId xmlns:a16="http://schemas.microsoft.com/office/drawing/2014/main" id="{7546A1B4-D9DD-1C16-EF11-183DC6319EB3}"/>
              </a:ext>
            </a:extLst>
          </p:cNvPr>
          <p:cNvSpPr txBox="1"/>
          <p:nvPr/>
        </p:nvSpPr>
        <p:spPr>
          <a:xfrm>
            <a:off x="511277" y="1348679"/>
            <a:ext cx="8790039" cy="646331"/>
          </a:xfrm>
          <a:prstGeom prst="rect">
            <a:avLst/>
          </a:prstGeom>
          <a:noFill/>
        </p:spPr>
        <p:txBody>
          <a:bodyPr wrap="square" rtlCol="0">
            <a:spAutoFit/>
          </a:bodyPr>
          <a:lstStyle/>
          <a:p>
            <a:r>
              <a:rPr lang="en-US" b="1" dirty="0"/>
              <a:t>Query: </a:t>
            </a:r>
            <a:r>
              <a:rPr lang="en-US" dirty="0"/>
              <a:t>select bowler, sum (extra_runs) as conceded_extra_runs from deliveries_v02 group by bowler order by conceded_extra_runs desc limit 5;</a:t>
            </a:r>
            <a:endParaRPr lang="en-IN" dirty="0"/>
          </a:p>
        </p:txBody>
      </p:sp>
      <p:graphicFrame>
        <p:nvGraphicFramePr>
          <p:cNvPr id="5" name="Table 4">
            <a:extLst>
              <a:ext uri="{FF2B5EF4-FFF2-40B4-BE49-F238E27FC236}">
                <a16:creationId xmlns:a16="http://schemas.microsoft.com/office/drawing/2014/main" id="{CAF5D14E-8496-6963-4C95-3DEAE3314627}"/>
              </a:ext>
            </a:extLst>
          </p:cNvPr>
          <p:cNvGraphicFramePr>
            <a:graphicFrameLocks noGrp="1"/>
          </p:cNvGraphicFramePr>
          <p:nvPr>
            <p:extLst>
              <p:ext uri="{D42A27DB-BD31-4B8C-83A1-F6EECF244321}">
                <p14:modId xmlns:p14="http://schemas.microsoft.com/office/powerpoint/2010/main" val="465191695"/>
              </p:ext>
            </p:extLst>
          </p:nvPr>
        </p:nvGraphicFramePr>
        <p:xfrm>
          <a:off x="779488" y="3352800"/>
          <a:ext cx="2819118" cy="2989002"/>
        </p:xfrm>
        <a:graphic>
          <a:graphicData uri="http://schemas.openxmlformats.org/drawingml/2006/table">
            <a:tbl>
              <a:tblPr>
                <a:tableStyleId>{3C2FFA5D-87B4-456A-9821-1D502468CF0F}</a:tableStyleId>
              </a:tblPr>
              <a:tblGrid>
                <a:gridCol w="921493">
                  <a:extLst>
                    <a:ext uri="{9D8B030D-6E8A-4147-A177-3AD203B41FA5}">
                      <a16:colId xmlns:a16="http://schemas.microsoft.com/office/drawing/2014/main" val="4076205434"/>
                    </a:ext>
                  </a:extLst>
                </a:gridCol>
                <a:gridCol w="1897625">
                  <a:extLst>
                    <a:ext uri="{9D8B030D-6E8A-4147-A177-3AD203B41FA5}">
                      <a16:colId xmlns:a16="http://schemas.microsoft.com/office/drawing/2014/main" val="851375807"/>
                    </a:ext>
                  </a:extLst>
                </a:gridCol>
              </a:tblGrid>
              <a:tr h="516542">
                <a:tc>
                  <a:txBody>
                    <a:bodyPr/>
                    <a:lstStyle/>
                    <a:p>
                      <a:pPr algn="ctr" fontAlgn="b"/>
                      <a:r>
                        <a:rPr lang="en-IN" sz="1200" b="1" u="none" strike="noStrike" dirty="0">
                          <a:solidFill>
                            <a:srgbClr val="000000"/>
                          </a:solidFill>
                          <a:effectLst/>
                        </a:rPr>
                        <a:t>bowler</a:t>
                      </a:r>
                      <a:endParaRPr lang="en-IN" sz="12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1" u="none" strike="noStrike" dirty="0">
                          <a:solidFill>
                            <a:srgbClr val="000000"/>
                          </a:solidFill>
                          <a:effectLst/>
                        </a:rPr>
                        <a:t>conceded_extra_runs</a:t>
                      </a:r>
                      <a:endParaRPr lang="en-IN" sz="12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32221574"/>
                  </a:ext>
                </a:extLst>
              </a:tr>
              <a:tr h="494492">
                <a:tc>
                  <a:txBody>
                    <a:bodyPr/>
                    <a:lstStyle/>
                    <a:p>
                      <a:pPr algn="ctr" fontAlgn="b"/>
                      <a:r>
                        <a:rPr lang="en-IN" sz="1200" b="0" u="none" strike="noStrike" dirty="0">
                          <a:solidFill>
                            <a:srgbClr val="000000"/>
                          </a:solidFill>
                          <a:effectLst/>
                        </a:rPr>
                        <a:t>SL Malinga</a:t>
                      </a:r>
                      <a:endParaRPr lang="en-IN"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dirty="0">
                          <a:solidFill>
                            <a:srgbClr val="000000"/>
                          </a:solidFill>
                          <a:effectLst/>
                        </a:rPr>
                        <a:t>293</a:t>
                      </a:r>
                      <a:endParaRPr lang="en-IN"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99970920"/>
                  </a:ext>
                </a:extLst>
              </a:tr>
              <a:tr h="494492">
                <a:tc>
                  <a:txBody>
                    <a:bodyPr/>
                    <a:lstStyle/>
                    <a:p>
                      <a:pPr algn="ctr" fontAlgn="b"/>
                      <a:r>
                        <a:rPr lang="en-IN" sz="1200" b="0" u="none" strike="noStrike" dirty="0">
                          <a:solidFill>
                            <a:srgbClr val="000000"/>
                          </a:solidFill>
                          <a:effectLst/>
                        </a:rPr>
                        <a:t>P Kumar</a:t>
                      </a:r>
                      <a:endParaRPr lang="en-IN"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a:solidFill>
                            <a:srgbClr val="000000"/>
                          </a:solidFill>
                          <a:effectLst/>
                        </a:rPr>
                        <a:t>236</a:t>
                      </a:r>
                      <a:endParaRPr lang="en-IN"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32467538"/>
                  </a:ext>
                </a:extLst>
              </a:tr>
              <a:tr h="494492">
                <a:tc>
                  <a:txBody>
                    <a:bodyPr/>
                    <a:lstStyle/>
                    <a:p>
                      <a:pPr algn="ctr" fontAlgn="b"/>
                      <a:r>
                        <a:rPr lang="en-IN" sz="1200" b="0" u="none" strike="noStrike">
                          <a:solidFill>
                            <a:srgbClr val="000000"/>
                          </a:solidFill>
                          <a:effectLst/>
                        </a:rPr>
                        <a:t>UT Yadav</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dirty="0">
                          <a:solidFill>
                            <a:srgbClr val="000000"/>
                          </a:solidFill>
                          <a:effectLst/>
                        </a:rPr>
                        <a:t>226</a:t>
                      </a:r>
                      <a:endParaRPr lang="en-IN"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8779530"/>
                  </a:ext>
                </a:extLst>
              </a:tr>
              <a:tr h="494492">
                <a:tc>
                  <a:txBody>
                    <a:bodyPr/>
                    <a:lstStyle/>
                    <a:p>
                      <a:pPr algn="ctr" fontAlgn="b"/>
                      <a:r>
                        <a:rPr lang="en-IN" sz="1200" b="0" u="none" strike="noStrike">
                          <a:solidFill>
                            <a:srgbClr val="000000"/>
                          </a:solidFill>
                          <a:effectLst/>
                        </a:rPr>
                        <a:t>DJ Bravo</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dirty="0">
                          <a:solidFill>
                            <a:srgbClr val="000000"/>
                          </a:solidFill>
                          <a:effectLst/>
                        </a:rPr>
                        <a:t>210</a:t>
                      </a:r>
                      <a:endParaRPr lang="en-IN"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1169853"/>
                  </a:ext>
                </a:extLst>
              </a:tr>
              <a:tr h="494492">
                <a:tc>
                  <a:txBody>
                    <a:bodyPr/>
                    <a:lstStyle/>
                    <a:p>
                      <a:pPr algn="ctr" fontAlgn="b"/>
                      <a:r>
                        <a:rPr lang="en-IN" sz="1200" b="0" u="none" strike="noStrike">
                          <a:solidFill>
                            <a:srgbClr val="000000"/>
                          </a:solidFill>
                          <a:effectLst/>
                        </a:rPr>
                        <a:t>B Kumar</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dirty="0">
                          <a:solidFill>
                            <a:srgbClr val="000000"/>
                          </a:solidFill>
                          <a:effectLst/>
                        </a:rPr>
                        <a:t>201</a:t>
                      </a:r>
                      <a:endParaRPr lang="en-IN"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47604220"/>
                  </a:ext>
                </a:extLst>
              </a:tr>
            </a:tbl>
          </a:graphicData>
        </a:graphic>
      </p:graphicFrame>
      <p:graphicFrame>
        <p:nvGraphicFramePr>
          <p:cNvPr id="7" name="Chart 6">
            <a:extLst>
              <a:ext uri="{FF2B5EF4-FFF2-40B4-BE49-F238E27FC236}">
                <a16:creationId xmlns:a16="http://schemas.microsoft.com/office/drawing/2014/main" id="{99F14451-668C-4F21-DC47-ECA38AD4FAE9}"/>
              </a:ext>
            </a:extLst>
          </p:cNvPr>
          <p:cNvGraphicFramePr>
            <a:graphicFrameLocks/>
          </p:cNvGraphicFramePr>
          <p:nvPr>
            <p:extLst>
              <p:ext uri="{D42A27DB-BD31-4B8C-83A1-F6EECF244321}">
                <p14:modId xmlns:p14="http://schemas.microsoft.com/office/powerpoint/2010/main" val="298365267"/>
              </p:ext>
            </p:extLst>
          </p:nvPr>
        </p:nvGraphicFramePr>
        <p:xfrm>
          <a:off x="3908321" y="3352800"/>
          <a:ext cx="5058697" cy="2989004"/>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D8F468BD-42DC-257F-C054-C89C08841F29}"/>
              </a:ext>
            </a:extLst>
          </p:cNvPr>
          <p:cNvSpPr txBox="1"/>
          <p:nvPr/>
        </p:nvSpPr>
        <p:spPr>
          <a:xfrm>
            <a:off x="501444" y="2300748"/>
            <a:ext cx="8465574" cy="923330"/>
          </a:xfrm>
          <a:prstGeom prst="rect">
            <a:avLst/>
          </a:prstGeom>
          <a:noFill/>
        </p:spPr>
        <p:txBody>
          <a:bodyPr wrap="square" rtlCol="0">
            <a:spAutoFit/>
          </a:bodyPr>
          <a:lstStyle/>
          <a:p>
            <a:r>
              <a:rPr lang="en-US" b="1" dirty="0"/>
              <a:t>Below on the left we have the output of the above query, which I have used to create the graph on right.</a:t>
            </a:r>
            <a:endParaRPr lang="en-IN" b="1" dirty="0"/>
          </a:p>
          <a:p>
            <a:endParaRPr lang="en-IN" dirty="0"/>
          </a:p>
        </p:txBody>
      </p:sp>
    </p:spTree>
    <p:extLst>
      <p:ext uri="{BB962C8B-B14F-4D97-AF65-F5344CB8AC3E}">
        <p14:creationId xmlns:p14="http://schemas.microsoft.com/office/powerpoint/2010/main" val="3851546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F71A5E-4B01-4DBC-2893-842C65810EDC}"/>
              </a:ext>
            </a:extLst>
          </p:cNvPr>
          <p:cNvSpPr txBox="1"/>
          <p:nvPr/>
        </p:nvSpPr>
        <p:spPr>
          <a:xfrm>
            <a:off x="491613" y="294967"/>
            <a:ext cx="9547122" cy="1292662"/>
          </a:xfrm>
          <a:prstGeom prst="rect">
            <a:avLst/>
          </a:prstGeom>
          <a:noFill/>
        </p:spPr>
        <p:txBody>
          <a:bodyPr wrap="square" rtlCol="0">
            <a:spAutoFit/>
          </a:bodyPr>
          <a:lstStyle/>
          <a:p>
            <a:r>
              <a:rPr lang="en-US" sz="2000" b="1" i="0" dirty="0">
                <a:effectLst/>
                <a:highlight>
                  <a:srgbClr val="FFFFFF"/>
                </a:highlight>
                <a:latin typeface="Inter var experimental"/>
              </a:rPr>
              <a:t>Q8. Write a query to create a table named </a:t>
            </a:r>
            <a:r>
              <a:rPr lang="en-US" sz="2000" b="1" i="1" dirty="0">
                <a:effectLst/>
                <a:highlight>
                  <a:srgbClr val="FFFFFF"/>
                </a:highlight>
                <a:latin typeface="Inter var experimental"/>
              </a:rPr>
              <a:t>deliveries_v03 </a:t>
            </a:r>
            <a:r>
              <a:rPr lang="en-US" sz="2000" b="1" i="0" dirty="0">
                <a:effectLst/>
                <a:highlight>
                  <a:srgbClr val="FFFFFF"/>
                </a:highlight>
                <a:latin typeface="Inter var experimental"/>
              </a:rPr>
              <a:t>with all the columns of </a:t>
            </a:r>
            <a:r>
              <a:rPr lang="en-US" sz="2000" b="1" i="1" dirty="0">
                <a:effectLst/>
                <a:highlight>
                  <a:srgbClr val="FFFFFF"/>
                </a:highlight>
                <a:latin typeface="Inter var experimental"/>
              </a:rPr>
              <a:t>deliveries_v02 </a:t>
            </a:r>
            <a:r>
              <a:rPr lang="en-US" sz="2000" b="1" i="0" dirty="0">
                <a:effectLst/>
                <a:highlight>
                  <a:srgbClr val="FFFFFF"/>
                </a:highlight>
                <a:latin typeface="Inter var experimental"/>
              </a:rPr>
              <a:t>table and two additional column (named </a:t>
            </a:r>
            <a:r>
              <a:rPr lang="en-US" sz="2000" b="1" i="1" dirty="0">
                <a:effectLst/>
                <a:highlight>
                  <a:srgbClr val="FFFFFF"/>
                </a:highlight>
                <a:latin typeface="Inter var experimental"/>
              </a:rPr>
              <a:t>venue </a:t>
            </a:r>
            <a:r>
              <a:rPr lang="en-US" sz="2000" b="1" i="0" dirty="0">
                <a:effectLst/>
                <a:highlight>
                  <a:srgbClr val="FFFFFF"/>
                </a:highlight>
                <a:latin typeface="Inter var experimental"/>
              </a:rPr>
              <a:t>and </a:t>
            </a:r>
            <a:r>
              <a:rPr lang="en-US" sz="2000" b="1" i="1" dirty="0">
                <a:effectLst/>
                <a:highlight>
                  <a:srgbClr val="FFFFFF"/>
                </a:highlight>
                <a:latin typeface="Inter var experimental"/>
              </a:rPr>
              <a:t>match_date</a:t>
            </a:r>
            <a:r>
              <a:rPr lang="en-US" sz="2000" b="1" i="0" dirty="0">
                <a:effectLst/>
                <a:highlight>
                  <a:srgbClr val="FFFFFF"/>
                </a:highlight>
                <a:latin typeface="Inter var experimental"/>
              </a:rPr>
              <a:t>) of </a:t>
            </a:r>
            <a:r>
              <a:rPr lang="en-US" sz="2000" b="1" i="1" dirty="0">
                <a:effectLst/>
                <a:highlight>
                  <a:srgbClr val="FFFFFF"/>
                </a:highlight>
                <a:latin typeface="Inter var experimental"/>
              </a:rPr>
              <a:t>venue </a:t>
            </a:r>
            <a:r>
              <a:rPr lang="en-US" sz="2000" b="1" i="0" dirty="0">
                <a:effectLst/>
                <a:highlight>
                  <a:srgbClr val="FFFFFF"/>
                </a:highlight>
                <a:latin typeface="Inter var experimental"/>
              </a:rPr>
              <a:t>and </a:t>
            </a:r>
            <a:r>
              <a:rPr lang="en-US" sz="2000" b="1" i="1" dirty="0">
                <a:effectLst/>
                <a:highlight>
                  <a:srgbClr val="FFFFFF"/>
                </a:highlight>
                <a:latin typeface="Inter var experimental"/>
              </a:rPr>
              <a:t>date </a:t>
            </a:r>
            <a:r>
              <a:rPr lang="en-US" sz="2000" b="1" i="0" dirty="0">
                <a:effectLst/>
                <a:highlight>
                  <a:srgbClr val="FFFFFF"/>
                </a:highlight>
                <a:latin typeface="Inter var experimental"/>
              </a:rPr>
              <a:t>from table </a:t>
            </a:r>
            <a:r>
              <a:rPr lang="en-US" sz="2000" b="1" i="1" dirty="0">
                <a:effectLst/>
                <a:highlight>
                  <a:srgbClr val="FFFFFF"/>
                </a:highlight>
                <a:latin typeface="Inter var experimental"/>
              </a:rPr>
              <a:t>matches</a:t>
            </a:r>
            <a:endParaRPr lang="en-US" sz="2000" b="1" i="0" dirty="0">
              <a:effectLst/>
              <a:highlight>
                <a:srgbClr val="FFFFFF"/>
              </a:highlight>
              <a:latin typeface="Inter var experimental"/>
            </a:endParaRPr>
          </a:p>
          <a:p>
            <a:endParaRPr lang="en-IN" dirty="0"/>
          </a:p>
        </p:txBody>
      </p:sp>
      <p:sp>
        <p:nvSpPr>
          <p:cNvPr id="3" name="TextBox 2">
            <a:extLst>
              <a:ext uri="{FF2B5EF4-FFF2-40B4-BE49-F238E27FC236}">
                <a16:creationId xmlns:a16="http://schemas.microsoft.com/office/drawing/2014/main" id="{EA1B5C1E-D473-FA61-1E95-A33678844086}"/>
              </a:ext>
            </a:extLst>
          </p:cNvPr>
          <p:cNvSpPr txBox="1"/>
          <p:nvPr/>
        </p:nvSpPr>
        <p:spPr>
          <a:xfrm>
            <a:off x="491613" y="1416638"/>
            <a:ext cx="9104671" cy="1200329"/>
          </a:xfrm>
          <a:prstGeom prst="rect">
            <a:avLst/>
          </a:prstGeom>
          <a:noFill/>
        </p:spPr>
        <p:txBody>
          <a:bodyPr wrap="square" rtlCol="0">
            <a:spAutoFit/>
          </a:bodyPr>
          <a:lstStyle/>
          <a:p>
            <a:r>
              <a:rPr lang="en-US" b="1" dirty="0"/>
              <a:t>Query:</a:t>
            </a:r>
            <a:r>
              <a:rPr lang="en-US" dirty="0"/>
              <a:t> create table deliveries_v03 as select d.*, m.venue,  m.date as match_date from deliveries_v02 d left join IPL_matches m on d.id = m.id;</a:t>
            </a:r>
          </a:p>
          <a:p>
            <a:endParaRPr lang="en-US" dirty="0"/>
          </a:p>
          <a:p>
            <a:r>
              <a:rPr lang="en-US" dirty="0"/>
              <a:t>select * from deliveries_v03; </a:t>
            </a:r>
            <a:endParaRPr lang="en-IN" dirty="0"/>
          </a:p>
        </p:txBody>
      </p:sp>
      <p:pic>
        <p:nvPicPr>
          <p:cNvPr id="6" name="Picture 5">
            <a:extLst>
              <a:ext uri="{FF2B5EF4-FFF2-40B4-BE49-F238E27FC236}">
                <a16:creationId xmlns:a16="http://schemas.microsoft.com/office/drawing/2014/main" id="{9F880778-E561-BF54-D415-4CEDB9B8BFB3}"/>
              </a:ext>
            </a:extLst>
          </p:cNvPr>
          <p:cNvPicPr>
            <a:picLocks noChangeAspect="1"/>
          </p:cNvPicPr>
          <p:nvPr/>
        </p:nvPicPr>
        <p:blipFill>
          <a:blip r:embed="rId2"/>
          <a:stretch>
            <a:fillRect/>
          </a:stretch>
        </p:blipFill>
        <p:spPr>
          <a:xfrm>
            <a:off x="317568" y="2872138"/>
            <a:ext cx="10960032" cy="3284505"/>
          </a:xfrm>
          <a:prstGeom prst="rect">
            <a:avLst/>
          </a:prstGeom>
        </p:spPr>
      </p:pic>
    </p:spTree>
    <p:extLst>
      <p:ext uri="{BB962C8B-B14F-4D97-AF65-F5344CB8AC3E}">
        <p14:creationId xmlns:p14="http://schemas.microsoft.com/office/powerpoint/2010/main" val="2493343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773E69-3699-C4B9-B890-621305D91B92}"/>
              </a:ext>
            </a:extLst>
          </p:cNvPr>
          <p:cNvSpPr txBox="1"/>
          <p:nvPr/>
        </p:nvSpPr>
        <p:spPr>
          <a:xfrm>
            <a:off x="275303" y="132486"/>
            <a:ext cx="9291484" cy="984885"/>
          </a:xfrm>
          <a:prstGeom prst="rect">
            <a:avLst/>
          </a:prstGeom>
          <a:noFill/>
        </p:spPr>
        <p:txBody>
          <a:bodyPr wrap="square" rtlCol="0">
            <a:spAutoFit/>
          </a:bodyPr>
          <a:lstStyle/>
          <a:p>
            <a:r>
              <a:rPr lang="en-US" sz="2000" b="1" i="0" dirty="0">
                <a:effectLst/>
                <a:highlight>
                  <a:srgbClr val="FFFFFF"/>
                </a:highlight>
                <a:latin typeface="Inter var experimental"/>
              </a:rPr>
              <a:t>Q9. Write a query to fetch the total runs scored for each venue and order it in the descending order of total runs scored.</a:t>
            </a:r>
          </a:p>
          <a:p>
            <a:endParaRPr lang="en-IN" dirty="0"/>
          </a:p>
        </p:txBody>
      </p:sp>
      <p:sp>
        <p:nvSpPr>
          <p:cNvPr id="3" name="TextBox 2">
            <a:extLst>
              <a:ext uri="{FF2B5EF4-FFF2-40B4-BE49-F238E27FC236}">
                <a16:creationId xmlns:a16="http://schemas.microsoft.com/office/drawing/2014/main" id="{1F684E73-51EC-1DE8-8428-B224F2063DE6}"/>
              </a:ext>
            </a:extLst>
          </p:cNvPr>
          <p:cNvSpPr txBox="1"/>
          <p:nvPr/>
        </p:nvSpPr>
        <p:spPr>
          <a:xfrm>
            <a:off x="275303" y="794205"/>
            <a:ext cx="9065342" cy="646331"/>
          </a:xfrm>
          <a:prstGeom prst="rect">
            <a:avLst/>
          </a:prstGeom>
          <a:noFill/>
        </p:spPr>
        <p:txBody>
          <a:bodyPr wrap="square" rtlCol="0">
            <a:spAutoFit/>
          </a:bodyPr>
          <a:lstStyle/>
          <a:p>
            <a:r>
              <a:rPr lang="en-US" b="1" dirty="0"/>
              <a:t>Query: </a:t>
            </a:r>
            <a:r>
              <a:rPr lang="en-US" dirty="0"/>
              <a:t>select venue, sum(total_runs) as total_runs from deliveries_v03 group by venue order by total_runs desc;</a:t>
            </a:r>
            <a:endParaRPr lang="en-IN" dirty="0"/>
          </a:p>
        </p:txBody>
      </p:sp>
      <p:graphicFrame>
        <p:nvGraphicFramePr>
          <p:cNvPr id="5" name="Table 4">
            <a:extLst>
              <a:ext uri="{FF2B5EF4-FFF2-40B4-BE49-F238E27FC236}">
                <a16:creationId xmlns:a16="http://schemas.microsoft.com/office/drawing/2014/main" id="{7A758D37-23E1-8395-FEB2-7CFDB03E4DF8}"/>
              </a:ext>
            </a:extLst>
          </p:cNvPr>
          <p:cNvGraphicFramePr>
            <a:graphicFrameLocks noGrp="1"/>
          </p:cNvGraphicFramePr>
          <p:nvPr>
            <p:extLst>
              <p:ext uri="{D42A27DB-BD31-4B8C-83A1-F6EECF244321}">
                <p14:modId xmlns:p14="http://schemas.microsoft.com/office/powerpoint/2010/main" val="134153314"/>
              </p:ext>
            </p:extLst>
          </p:nvPr>
        </p:nvGraphicFramePr>
        <p:xfrm>
          <a:off x="501445" y="1440537"/>
          <a:ext cx="4581832" cy="5417466"/>
        </p:xfrm>
        <a:graphic>
          <a:graphicData uri="http://schemas.openxmlformats.org/drawingml/2006/table">
            <a:tbl>
              <a:tblPr>
                <a:tableStyleId>{3C2FFA5D-87B4-456A-9821-1D502468CF0F}</a:tableStyleId>
              </a:tblPr>
              <a:tblGrid>
                <a:gridCol w="3592738">
                  <a:extLst>
                    <a:ext uri="{9D8B030D-6E8A-4147-A177-3AD203B41FA5}">
                      <a16:colId xmlns:a16="http://schemas.microsoft.com/office/drawing/2014/main" val="807319871"/>
                    </a:ext>
                  </a:extLst>
                </a:gridCol>
                <a:gridCol w="989094">
                  <a:extLst>
                    <a:ext uri="{9D8B030D-6E8A-4147-A177-3AD203B41FA5}">
                      <a16:colId xmlns:a16="http://schemas.microsoft.com/office/drawing/2014/main" val="962334091"/>
                    </a:ext>
                  </a:extLst>
                </a:gridCol>
              </a:tblGrid>
              <a:tr h="146418">
                <a:tc>
                  <a:txBody>
                    <a:bodyPr/>
                    <a:lstStyle/>
                    <a:p>
                      <a:pPr algn="ctr" fontAlgn="b"/>
                      <a:r>
                        <a:rPr lang="en-IN" sz="900" b="1" u="none" strike="noStrike" dirty="0">
                          <a:solidFill>
                            <a:srgbClr val="000000"/>
                          </a:solidFill>
                          <a:effectLst/>
                        </a:rPr>
                        <a:t>venue</a:t>
                      </a:r>
                      <a:endParaRPr lang="en-IN" sz="900" b="1" i="0" u="none" strike="noStrike" dirty="0">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1" u="none" strike="noStrike" dirty="0">
                          <a:solidFill>
                            <a:srgbClr val="000000"/>
                          </a:solidFill>
                          <a:effectLst/>
                        </a:rPr>
                        <a:t>total_runs</a:t>
                      </a:r>
                      <a:endParaRPr lang="en-IN" sz="900" b="1" i="0" u="none" strike="noStrike" dirty="0">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437904875"/>
                  </a:ext>
                </a:extLst>
              </a:tr>
              <a:tr h="146418">
                <a:tc>
                  <a:txBody>
                    <a:bodyPr/>
                    <a:lstStyle/>
                    <a:p>
                      <a:pPr algn="ctr" fontAlgn="b"/>
                      <a:r>
                        <a:rPr lang="en-IN" sz="900" b="0" u="none" strike="noStrike" dirty="0">
                          <a:solidFill>
                            <a:srgbClr val="000000"/>
                          </a:solidFill>
                          <a:effectLst/>
                        </a:rPr>
                        <a:t>Eden Gardens</a:t>
                      </a:r>
                      <a:endParaRPr lang="en-IN" sz="900" b="0" i="0" u="none" strike="noStrike" dirty="0">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23658</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1076598825"/>
                  </a:ext>
                </a:extLst>
              </a:tr>
              <a:tr h="146418">
                <a:tc>
                  <a:txBody>
                    <a:bodyPr/>
                    <a:lstStyle/>
                    <a:p>
                      <a:pPr algn="ctr" fontAlgn="b"/>
                      <a:r>
                        <a:rPr lang="en-IN" sz="900" b="0" u="none" strike="noStrike" dirty="0">
                          <a:solidFill>
                            <a:srgbClr val="000000"/>
                          </a:solidFill>
                          <a:effectLst/>
                        </a:rPr>
                        <a:t>Wankhede Stadium</a:t>
                      </a:r>
                      <a:endParaRPr lang="en-IN" sz="900" b="0" i="0" u="none" strike="noStrike" dirty="0">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23390</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626791544"/>
                  </a:ext>
                </a:extLst>
              </a:tr>
              <a:tr h="146418">
                <a:tc>
                  <a:txBody>
                    <a:bodyPr/>
                    <a:lstStyle/>
                    <a:p>
                      <a:pPr algn="ctr" fontAlgn="b"/>
                      <a:r>
                        <a:rPr lang="en-IN" sz="900" b="0" u="none" strike="noStrike" dirty="0">
                          <a:solidFill>
                            <a:srgbClr val="000000"/>
                          </a:solidFill>
                          <a:effectLst/>
                        </a:rPr>
                        <a:t>Feroz Shah Kotla</a:t>
                      </a:r>
                      <a:endParaRPr lang="en-IN" sz="900" b="0" i="0" u="none" strike="noStrike" dirty="0">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22947</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2859930876"/>
                  </a:ext>
                </a:extLst>
              </a:tr>
              <a:tr h="146418">
                <a:tc>
                  <a:txBody>
                    <a:bodyPr/>
                    <a:lstStyle/>
                    <a:p>
                      <a:pPr algn="ctr" fontAlgn="b"/>
                      <a:r>
                        <a:rPr lang="en-IN" sz="900" b="0" u="none" strike="noStrike" dirty="0">
                          <a:solidFill>
                            <a:srgbClr val="000000"/>
                          </a:solidFill>
                          <a:effectLst/>
                        </a:rPr>
                        <a:t>M Chinnaswamy Stadium</a:t>
                      </a:r>
                      <a:endParaRPr lang="en-IN" sz="900" b="0" i="0" u="none" strike="noStrike" dirty="0">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20237</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1525150654"/>
                  </a:ext>
                </a:extLst>
              </a:tr>
              <a:tr h="146418">
                <a:tc>
                  <a:txBody>
                    <a:bodyPr/>
                    <a:lstStyle/>
                    <a:p>
                      <a:pPr algn="ctr" fontAlgn="b"/>
                      <a:r>
                        <a:rPr lang="sv-SE" sz="900" b="0" u="none" strike="noStrike" dirty="0">
                          <a:solidFill>
                            <a:srgbClr val="000000"/>
                          </a:solidFill>
                          <a:effectLst/>
                        </a:rPr>
                        <a:t>Rajiv Gandhi International Stadium, Uppal</a:t>
                      </a:r>
                      <a:endParaRPr lang="sv-SE" sz="900" b="0" i="0" u="none" strike="noStrike" dirty="0">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19484</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3538724721"/>
                  </a:ext>
                </a:extLst>
              </a:tr>
              <a:tr h="146418">
                <a:tc>
                  <a:txBody>
                    <a:bodyPr/>
                    <a:lstStyle/>
                    <a:p>
                      <a:pPr algn="ctr" fontAlgn="b"/>
                      <a:r>
                        <a:rPr lang="en-IN" sz="900" b="0" u="none" strike="noStrike">
                          <a:solidFill>
                            <a:srgbClr val="000000"/>
                          </a:solidFill>
                          <a:effectLst/>
                        </a:rPr>
                        <a:t>MA Chidambaram Stadium, Chepauk</a:t>
                      </a:r>
                      <a:endParaRPr lang="en-IN"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17821</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2290173530"/>
                  </a:ext>
                </a:extLst>
              </a:tr>
              <a:tr h="146418">
                <a:tc>
                  <a:txBody>
                    <a:bodyPr/>
                    <a:lstStyle/>
                    <a:p>
                      <a:pPr algn="ctr" fontAlgn="b"/>
                      <a:r>
                        <a:rPr lang="en-IN" sz="900" b="0" u="none" strike="noStrike" dirty="0">
                          <a:solidFill>
                            <a:srgbClr val="000000"/>
                          </a:solidFill>
                          <a:effectLst/>
                        </a:rPr>
                        <a:t>Sawai Mansingh Stadium</a:t>
                      </a:r>
                      <a:endParaRPr lang="en-IN" sz="900" b="0" i="0" u="none" strike="noStrike" dirty="0">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14264</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2556568538"/>
                  </a:ext>
                </a:extLst>
              </a:tr>
              <a:tr h="146418">
                <a:tc>
                  <a:txBody>
                    <a:bodyPr/>
                    <a:lstStyle/>
                    <a:p>
                      <a:pPr algn="ctr" fontAlgn="b"/>
                      <a:r>
                        <a:rPr lang="sv-SE" sz="900" b="0" u="none" strike="noStrike">
                          <a:solidFill>
                            <a:srgbClr val="000000"/>
                          </a:solidFill>
                          <a:effectLst/>
                        </a:rPr>
                        <a:t>Punjab Cricket Association Stadium, Mohali</a:t>
                      </a:r>
                      <a:endParaRPr lang="sv-SE"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dirty="0">
                          <a:solidFill>
                            <a:srgbClr val="000000"/>
                          </a:solidFill>
                          <a:effectLst/>
                        </a:rPr>
                        <a:t>10987</a:t>
                      </a:r>
                      <a:endParaRPr lang="en-IN" sz="900" b="0" i="0" u="none" strike="noStrike" dirty="0">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2654474254"/>
                  </a:ext>
                </a:extLst>
              </a:tr>
              <a:tr h="146418">
                <a:tc>
                  <a:txBody>
                    <a:bodyPr/>
                    <a:lstStyle/>
                    <a:p>
                      <a:pPr algn="ctr" fontAlgn="b"/>
                      <a:r>
                        <a:rPr lang="en-IN" sz="900" b="0" u="none" strike="noStrike">
                          <a:solidFill>
                            <a:srgbClr val="000000"/>
                          </a:solidFill>
                          <a:effectLst/>
                        </a:rPr>
                        <a:t>Dubai International Cricket Stadium</a:t>
                      </a:r>
                      <a:endParaRPr lang="en-IN"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10402</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3593651193"/>
                  </a:ext>
                </a:extLst>
              </a:tr>
              <a:tr h="146418">
                <a:tc>
                  <a:txBody>
                    <a:bodyPr/>
                    <a:lstStyle/>
                    <a:p>
                      <a:pPr algn="ctr" fontAlgn="b"/>
                      <a:r>
                        <a:rPr lang="en-IN" sz="900" b="0" u="none" strike="noStrike">
                          <a:solidFill>
                            <a:srgbClr val="000000"/>
                          </a:solidFill>
                          <a:effectLst/>
                        </a:rPr>
                        <a:t>Sheikh Zayed Stadium</a:t>
                      </a:r>
                      <a:endParaRPr lang="en-IN"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dirty="0">
                          <a:solidFill>
                            <a:srgbClr val="000000"/>
                          </a:solidFill>
                          <a:effectLst/>
                        </a:rPr>
                        <a:t>8830</a:t>
                      </a:r>
                      <a:endParaRPr lang="en-IN" sz="900" b="0" i="0" u="none" strike="noStrike" dirty="0">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2207041510"/>
                  </a:ext>
                </a:extLst>
              </a:tr>
              <a:tr h="146418">
                <a:tc>
                  <a:txBody>
                    <a:bodyPr/>
                    <a:lstStyle/>
                    <a:p>
                      <a:pPr algn="ctr" fontAlgn="b"/>
                      <a:r>
                        <a:rPr lang="sv-SE" sz="900" b="0" u="none" strike="noStrike">
                          <a:solidFill>
                            <a:srgbClr val="000000"/>
                          </a:solidFill>
                          <a:effectLst/>
                        </a:rPr>
                        <a:t>Punjab Cricket Association IS Bindra Stadium, Mohali</a:t>
                      </a:r>
                      <a:endParaRPr lang="sv-SE"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7021</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1610506334"/>
                  </a:ext>
                </a:extLst>
              </a:tr>
              <a:tr h="146418">
                <a:tc>
                  <a:txBody>
                    <a:bodyPr/>
                    <a:lstStyle/>
                    <a:p>
                      <a:pPr algn="ctr" fontAlgn="b"/>
                      <a:r>
                        <a:rPr lang="en-IN" sz="900" b="0" u="none" strike="noStrike">
                          <a:solidFill>
                            <a:srgbClr val="000000"/>
                          </a:solidFill>
                          <a:effectLst/>
                        </a:rPr>
                        <a:t>Maharashtra Cricket Association Stadium</a:t>
                      </a:r>
                      <a:endParaRPr lang="en-IN"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6780</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1103419579"/>
                  </a:ext>
                </a:extLst>
              </a:tr>
              <a:tr h="146418">
                <a:tc>
                  <a:txBody>
                    <a:bodyPr/>
                    <a:lstStyle/>
                    <a:p>
                      <a:pPr algn="ctr" fontAlgn="b"/>
                      <a:r>
                        <a:rPr lang="en-IN" sz="900" b="0" u="none" strike="noStrike">
                          <a:solidFill>
                            <a:srgbClr val="000000"/>
                          </a:solidFill>
                          <a:effectLst/>
                        </a:rPr>
                        <a:t>Sharjah Cricket Stadium</a:t>
                      </a:r>
                      <a:endParaRPr lang="en-IN"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5924</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3238960670"/>
                  </a:ext>
                </a:extLst>
              </a:tr>
              <a:tr h="146418">
                <a:tc>
                  <a:txBody>
                    <a:bodyPr/>
                    <a:lstStyle/>
                    <a:p>
                      <a:pPr algn="ctr" fontAlgn="b"/>
                      <a:r>
                        <a:rPr lang="en-IN" sz="900" b="0" u="none" strike="noStrike" dirty="0">
                          <a:solidFill>
                            <a:srgbClr val="000000"/>
                          </a:solidFill>
                          <a:effectLst/>
                        </a:rPr>
                        <a:t>M.Chinnaswamy Stadium</a:t>
                      </a:r>
                      <a:endParaRPr lang="en-IN" sz="900" b="0" i="0" u="none" strike="noStrike" dirty="0">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5127</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768054139"/>
                  </a:ext>
                </a:extLst>
              </a:tr>
              <a:tr h="146418">
                <a:tc>
                  <a:txBody>
                    <a:bodyPr/>
                    <a:lstStyle/>
                    <a:p>
                      <a:pPr algn="ctr" fontAlgn="b"/>
                      <a:r>
                        <a:rPr lang="en-US" sz="900" b="0" u="none" strike="noStrike" dirty="0">
                          <a:solidFill>
                            <a:srgbClr val="000000"/>
                          </a:solidFill>
                          <a:effectLst/>
                        </a:rPr>
                        <a:t>Dr DY Patil Sports Academy</a:t>
                      </a:r>
                      <a:endParaRPr lang="en-US" sz="900" b="0" i="0" u="none" strike="noStrike" dirty="0">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dirty="0">
                          <a:solidFill>
                            <a:srgbClr val="000000"/>
                          </a:solidFill>
                          <a:effectLst/>
                        </a:rPr>
                        <a:t>4810</a:t>
                      </a:r>
                      <a:endParaRPr lang="en-IN" sz="900" b="0" i="0" u="none" strike="noStrike" dirty="0">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4271959756"/>
                  </a:ext>
                </a:extLst>
              </a:tr>
              <a:tr h="146418">
                <a:tc>
                  <a:txBody>
                    <a:bodyPr/>
                    <a:lstStyle/>
                    <a:p>
                      <a:pPr algn="ctr" fontAlgn="b"/>
                      <a:r>
                        <a:rPr lang="en-IN" sz="900" b="0" u="none" strike="noStrike">
                          <a:solidFill>
                            <a:srgbClr val="000000"/>
                          </a:solidFill>
                          <a:effectLst/>
                        </a:rPr>
                        <a:t>Subrata Roy Sahara Stadium</a:t>
                      </a:r>
                      <a:endParaRPr lang="en-IN"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4755</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3630610983"/>
                  </a:ext>
                </a:extLst>
              </a:tr>
              <a:tr h="146418">
                <a:tc>
                  <a:txBody>
                    <a:bodyPr/>
                    <a:lstStyle/>
                    <a:p>
                      <a:pPr algn="ctr" fontAlgn="b"/>
                      <a:r>
                        <a:rPr lang="en-IN" sz="900" b="0" u="none" strike="noStrike">
                          <a:solidFill>
                            <a:srgbClr val="000000"/>
                          </a:solidFill>
                          <a:effectLst/>
                        </a:rPr>
                        <a:t>Kingsmead</a:t>
                      </a:r>
                      <a:endParaRPr lang="en-IN"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4353</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2150397184"/>
                  </a:ext>
                </a:extLst>
              </a:tr>
              <a:tr h="146418">
                <a:tc>
                  <a:txBody>
                    <a:bodyPr/>
                    <a:lstStyle/>
                    <a:p>
                      <a:pPr algn="ctr" fontAlgn="b"/>
                      <a:r>
                        <a:rPr lang="en-IN" sz="900" b="0" u="none" strike="noStrike">
                          <a:solidFill>
                            <a:srgbClr val="000000"/>
                          </a:solidFill>
                          <a:effectLst/>
                        </a:rPr>
                        <a:t>Brabourne Stadium</a:t>
                      </a:r>
                      <a:endParaRPr lang="en-IN"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3842</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3487416187"/>
                  </a:ext>
                </a:extLst>
              </a:tr>
              <a:tr h="146418">
                <a:tc>
                  <a:txBody>
                    <a:bodyPr/>
                    <a:lstStyle/>
                    <a:p>
                      <a:pPr algn="ctr" fontAlgn="b"/>
                      <a:r>
                        <a:rPr lang="en-IN" sz="900" b="0" u="none" strike="noStrike">
                          <a:solidFill>
                            <a:srgbClr val="000000"/>
                          </a:solidFill>
                          <a:effectLst/>
                        </a:rPr>
                        <a:t>Dr. Y.S. Rajasekhara Reddy ACA-VDCA Cricket Stadium</a:t>
                      </a:r>
                      <a:endParaRPr lang="en-IN"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3746</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4188560928"/>
                  </a:ext>
                </a:extLst>
              </a:tr>
              <a:tr h="146418">
                <a:tc>
                  <a:txBody>
                    <a:bodyPr/>
                    <a:lstStyle/>
                    <a:p>
                      <a:pPr algn="ctr" fontAlgn="b"/>
                      <a:r>
                        <a:rPr lang="en-IN" sz="900" b="0" u="none" strike="noStrike">
                          <a:solidFill>
                            <a:srgbClr val="000000"/>
                          </a:solidFill>
                          <a:effectLst/>
                        </a:rPr>
                        <a:t>Sardar Patel Stadium, Motera</a:t>
                      </a:r>
                      <a:endParaRPr lang="en-IN"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dirty="0">
                          <a:solidFill>
                            <a:srgbClr val="000000"/>
                          </a:solidFill>
                          <a:effectLst/>
                        </a:rPr>
                        <a:t>3746</a:t>
                      </a:r>
                      <a:endParaRPr lang="en-IN" sz="900" b="0" i="0" u="none" strike="noStrike" dirty="0">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301024500"/>
                  </a:ext>
                </a:extLst>
              </a:tr>
              <a:tr h="146418">
                <a:tc>
                  <a:txBody>
                    <a:bodyPr/>
                    <a:lstStyle/>
                    <a:p>
                      <a:pPr algn="ctr" fontAlgn="b"/>
                      <a:r>
                        <a:rPr lang="en-IN" sz="900" b="0" u="none" strike="noStrike">
                          <a:solidFill>
                            <a:srgbClr val="000000"/>
                          </a:solidFill>
                          <a:effectLst/>
                        </a:rPr>
                        <a:t>SuperSport Park</a:t>
                      </a:r>
                      <a:endParaRPr lang="en-IN"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3653</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2814314927"/>
                  </a:ext>
                </a:extLst>
              </a:tr>
              <a:tr h="146418">
                <a:tc>
                  <a:txBody>
                    <a:bodyPr/>
                    <a:lstStyle/>
                    <a:p>
                      <a:pPr algn="ctr" fontAlgn="b"/>
                      <a:r>
                        <a:rPr lang="en-IN" sz="900" b="0" u="none" strike="noStrike">
                          <a:solidFill>
                            <a:srgbClr val="000000"/>
                          </a:solidFill>
                          <a:effectLst/>
                        </a:rPr>
                        <a:t>Saurashtra Cricket Association Stadium</a:t>
                      </a:r>
                      <a:endParaRPr lang="en-IN"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3316</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3319767242"/>
                  </a:ext>
                </a:extLst>
              </a:tr>
              <a:tr h="146418">
                <a:tc>
                  <a:txBody>
                    <a:bodyPr/>
                    <a:lstStyle/>
                    <a:p>
                      <a:pPr algn="ctr" fontAlgn="b"/>
                      <a:r>
                        <a:rPr lang="en-IN" sz="900" b="0" u="none" strike="noStrike">
                          <a:solidFill>
                            <a:srgbClr val="000000"/>
                          </a:solidFill>
                          <a:effectLst/>
                        </a:rPr>
                        <a:t>Himachal Pradesh Cricket Association Stadium</a:t>
                      </a:r>
                      <a:endParaRPr lang="en-IN"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dirty="0">
                          <a:solidFill>
                            <a:srgbClr val="000000"/>
                          </a:solidFill>
                          <a:effectLst/>
                        </a:rPr>
                        <a:t>2897</a:t>
                      </a:r>
                      <a:endParaRPr lang="en-IN" sz="900" b="0" i="0" u="none" strike="noStrike" dirty="0">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860660245"/>
                  </a:ext>
                </a:extLst>
              </a:tr>
              <a:tr h="146418">
                <a:tc>
                  <a:txBody>
                    <a:bodyPr/>
                    <a:lstStyle/>
                    <a:p>
                      <a:pPr algn="ctr" fontAlgn="b"/>
                      <a:r>
                        <a:rPr lang="en-IN" sz="900" b="0" u="none" strike="noStrike">
                          <a:solidFill>
                            <a:srgbClr val="000000"/>
                          </a:solidFill>
                          <a:effectLst/>
                        </a:rPr>
                        <a:t>Holkar Cricket Stadium</a:t>
                      </a:r>
                      <a:endParaRPr lang="en-IN"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2872</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2452486612"/>
                  </a:ext>
                </a:extLst>
              </a:tr>
              <a:tr h="146418">
                <a:tc>
                  <a:txBody>
                    <a:bodyPr/>
                    <a:lstStyle/>
                    <a:p>
                      <a:pPr algn="ctr" fontAlgn="b"/>
                      <a:r>
                        <a:rPr lang="en-IN" sz="900" b="0" u="none" strike="noStrike">
                          <a:solidFill>
                            <a:srgbClr val="000000"/>
                          </a:solidFill>
                          <a:effectLst/>
                        </a:rPr>
                        <a:t>New Wanderers Stadium</a:t>
                      </a:r>
                      <a:endParaRPr lang="en-IN"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2292</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2879664691"/>
                  </a:ext>
                </a:extLst>
              </a:tr>
              <a:tr h="146418">
                <a:tc>
                  <a:txBody>
                    <a:bodyPr/>
                    <a:lstStyle/>
                    <a:p>
                      <a:pPr algn="ctr" fontAlgn="b"/>
                      <a:r>
                        <a:rPr lang="en-IN" sz="900" b="0" u="none" strike="noStrike">
                          <a:solidFill>
                            <a:srgbClr val="000000"/>
                          </a:solidFill>
                          <a:effectLst/>
                        </a:rPr>
                        <a:t>Barabati Stadium</a:t>
                      </a:r>
                      <a:endParaRPr lang="en-IN"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2278</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2017044299"/>
                  </a:ext>
                </a:extLst>
              </a:tr>
              <a:tr h="146418">
                <a:tc>
                  <a:txBody>
                    <a:bodyPr/>
                    <a:lstStyle/>
                    <a:p>
                      <a:pPr algn="ctr" fontAlgn="b"/>
                      <a:r>
                        <a:rPr lang="en-IN" sz="900" b="0" u="none" strike="noStrike">
                          <a:solidFill>
                            <a:srgbClr val="000000"/>
                          </a:solidFill>
                          <a:effectLst/>
                        </a:rPr>
                        <a:t>JSCA International Stadium Complex</a:t>
                      </a:r>
                      <a:endParaRPr lang="en-IN"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2056</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4016493922"/>
                  </a:ext>
                </a:extLst>
              </a:tr>
              <a:tr h="146418">
                <a:tc>
                  <a:txBody>
                    <a:bodyPr/>
                    <a:lstStyle/>
                    <a:p>
                      <a:pPr algn="ctr" fontAlgn="b"/>
                      <a:r>
                        <a:rPr lang="en-IN" sz="900" b="0" u="none" strike="noStrike">
                          <a:solidFill>
                            <a:srgbClr val="000000"/>
                          </a:solidFill>
                          <a:effectLst/>
                        </a:rPr>
                        <a:t>St George's Park</a:t>
                      </a:r>
                      <a:endParaRPr lang="en-IN"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dirty="0">
                          <a:solidFill>
                            <a:srgbClr val="000000"/>
                          </a:solidFill>
                          <a:effectLst/>
                        </a:rPr>
                        <a:t>2033</a:t>
                      </a:r>
                      <a:endParaRPr lang="en-IN" sz="900" b="0" i="0" u="none" strike="noStrike" dirty="0">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585952597"/>
                  </a:ext>
                </a:extLst>
              </a:tr>
              <a:tr h="146418">
                <a:tc>
                  <a:txBody>
                    <a:bodyPr/>
                    <a:lstStyle/>
                    <a:p>
                      <a:pPr algn="ctr" fontAlgn="b"/>
                      <a:r>
                        <a:rPr lang="en-IN" sz="900" b="0" u="none" strike="noStrike">
                          <a:solidFill>
                            <a:srgbClr val="000000"/>
                          </a:solidFill>
                          <a:effectLst/>
                        </a:rPr>
                        <a:t>Newlands</a:t>
                      </a:r>
                      <a:endParaRPr lang="en-IN"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1764</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1328738635"/>
                  </a:ext>
                </a:extLst>
              </a:tr>
              <a:tr h="146418">
                <a:tc>
                  <a:txBody>
                    <a:bodyPr/>
                    <a:lstStyle/>
                    <a:p>
                      <a:pPr algn="ctr" fontAlgn="b"/>
                      <a:r>
                        <a:rPr lang="sv-SE" sz="900" b="0" u="none" strike="noStrike">
                          <a:solidFill>
                            <a:srgbClr val="000000"/>
                          </a:solidFill>
                          <a:effectLst/>
                        </a:rPr>
                        <a:t>Shaheed Veer Narayan Singh International Stadium</a:t>
                      </a:r>
                      <a:endParaRPr lang="sv-SE"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1741</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3202693246"/>
                  </a:ext>
                </a:extLst>
              </a:tr>
              <a:tr h="146418">
                <a:tc>
                  <a:txBody>
                    <a:bodyPr/>
                    <a:lstStyle/>
                    <a:p>
                      <a:pPr algn="ctr" fontAlgn="b"/>
                      <a:r>
                        <a:rPr lang="en-IN" sz="900" b="0" u="none" strike="noStrike">
                          <a:solidFill>
                            <a:srgbClr val="000000"/>
                          </a:solidFill>
                          <a:effectLst/>
                        </a:rPr>
                        <a:t>Nehru Stadium</a:t>
                      </a:r>
                      <a:endParaRPr lang="en-IN"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1363</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2869926069"/>
                  </a:ext>
                </a:extLst>
              </a:tr>
              <a:tr h="146418">
                <a:tc>
                  <a:txBody>
                    <a:bodyPr/>
                    <a:lstStyle/>
                    <a:p>
                      <a:pPr algn="ctr" fontAlgn="b"/>
                      <a:r>
                        <a:rPr lang="en-IN" sz="900" b="0" u="none" strike="noStrike">
                          <a:solidFill>
                            <a:srgbClr val="000000"/>
                          </a:solidFill>
                          <a:effectLst/>
                        </a:rPr>
                        <a:t>Green Park</a:t>
                      </a:r>
                      <a:endParaRPr lang="en-IN"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dirty="0">
                          <a:solidFill>
                            <a:srgbClr val="000000"/>
                          </a:solidFill>
                          <a:effectLst/>
                        </a:rPr>
                        <a:t>1298</a:t>
                      </a:r>
                      <a:endParaRPr lang="en-IN" sz="900" b="0" i="0" u="none" strike="noStrike" dirty="0">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1896908085"/>
                  </a:ext>
                </a:extLst>
              </a:tr>
              <a:tr h="146418">
                <a:tc>
                  <a:txBody>
                    <a:bodyPr/>
                    <a:lstStyle/>
                    <a:p>
                      <a:pPr algn="ctr" fontAlgn="b"/>
                      <a:r>
                        <a:rPr lang="en-IN" sz="900" b="0" u="none" strike="noStrike">
                          <a:solidFill>
                            <a:srgbClr val="000000"/>
                          </a:solidFill>
                          <a:effectLst/>
                        </a:rPr>
                        <a:t>De Beers Diamond Oval</a:t>
                      </a:r>
                      <a:endParaRPr lang="en-IN"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a:solidFill>
                            <a:srgbClr val="000000"/>
                          </a:solidFill>
                          <a:effectLst/>
                        </a:rPr>
                        <a:t>897</a:t>
                      </a:r>
                      <a:endParaRPr lang="en-IN" sz="900" b="0" i="0" u="none" strike="noStrike">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2428780943"/>
                  </a:ext>
                </a:extLst>
              </a:tr>
              <a:tr h="146418">
                <a:tc>
                  <a:txBody>
                    <a:bodyPr/>
                    <a:lstStyle/>
                    <a:p>
                      <a:pPr algn="ctr" fontAlgn="b"/>
                      <a:r>
                        <a:rPr lang="sv-SE" sz="900" b="0" u="none" strike="noStrike">
                          <a:solidFill>
                            <a:srgbClr val="000000"/>
                          </a:solidFill>
                          <a:effectLst/>
                        </a:rPr>
                        <a:t>Vidarbha Cricket Association Stadium, Jamtha</a:t>
                      </a:r>
                      <a:endParaRPr lang="sv-SE"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dirty="0">
                          <a:solidFill>
                            <a:srgbClr val="000000"/>
                          </a:solidFill>
                          <a:effectLst/>
                        </a:rPr>
                        <a:t>882</a:t>
                      </a:r>
                      <a:endParaRPr lang="en-IN" sz="900" b="0" i="0" u="none" strike="noStrike" dirty="0">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3436336201"/>
                  </a:ext>
                </a:extLst>
              </a:tr>
              <a:tr h="146418">
                <a:tc>
                  <a:txBody>
                    <a:bodyPr/>
                    <a:lstStyle/>
                    <a:p>
                      <a:pPr algn="ctr" fontAlgn="b"/>
                      <a:r>
                        <a:rPr lang="en-IN" sz="900" b="0" u="none" strike="noStrike">
                          <a:solidFill>
                            <a:srgbClr val="000000"/>
                          </a:solidFill>
                          <a:effectLst/>
                        </a:rPr>
                        <a:t>Buffalo Park</a:t>
                      </a:r>
                      <a:endParaRPr lang="en-IN"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dirty="0">
                          <a:solidFill>
                            <a:srgbClr val="000000"/>
                          </a:solidFill>
                          <a:effectLst/>
                        </a:rPr>
                        <a:t>799</a:t>
                      </a:r>
                      <a:endParaRPr lang="en-IN" sz="900" b="0" i="0" u="none" strike="noStrike" dirty="0">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2764267349"/>
                  </a:ext>
                </a:extLst>
              </a:tr>
              <a:tr h="146418">
                <a:tc>
                  <a:txBody>
                    <a:bodyPr/>
                    <a:lstStyle/>
                    <a:p>
                      <a:pPr algn="ctr" fontAlgn="b"/>
                      <a:r>
                        <a:rPr lang="en-IN" sz="900" b="0" u="none" strike="noStrike">
                          <a:solidFill>
                            <a:srgbClr val="000000"/>
                          </a:solidFill>
                          <a:effectLst/>
                        </a:rPr>
                        <a:t>OUTsurance Oval</a:t>
                      </a:r>
                      <a:endParaRPr lang="en-IN" sz="900" b="0" i="0" u="none" strike="noStrike">
                        <a:solidFill>
                          <a:srgbClr val="000000"/>
                        </a:solidFill>
                        <a:effectLst/>
                        <a:latin typeface="Calibri" panose="020F0502020204030204" pitchFamily="34" charset="0"/>
                      </a:endParaRPr>
                    </a:p>
                  </a:txBody>
                  <a:tcPr marL="4371" marR="4371" marT="4371" marB="0" anchor="b"/>
                </a:tc>
                <a:tc>
                  <a:txBody>
                    <a:bodyPr/>
                    <a:lstStyle/>
                    <a:p>
                      <a:pPr algn="ctr" fontAlgn="b"/>
                      <a:r>
                        <a:rPr lang="en-IN" sz="900" b="0" u="none" strike="noStrike" dirty="0">
                          <a:solidFill>
                            <a:srgbClr val="000000"/>
                          </a:solidFill>
                          <a:effectLst/>
                        </a:rPr>
                        <a:t>529</a:t>
                      </a:r>
                      <a:endParaRPr lang="en-IN" sz="900" b="0" i="0" u="none" strike="noStrike" dirty="0">
                        <a:solidFill>
                          <a:srgbClr val="000000"/>
                        </a:solidFill>
                        <a:effectLst/>
                        <a:latin typeface="Calibri" panose="020F0502020204030204" pitchFamily="34" charset="0"/>
                      </a:endParaRPr>
                    </a:p>
                  </a:txBody>
                  <a:tcPr marL="4371" marR="4371" marT="4371" marB="0" anchor="b"/>
                </a:tc>
                <a:extLst>
                  <a:ext uri="{0D108BD9-81ED-4DB2-BD59-A6C34878D82A}">
                    <a16:rowId xmlns:a16="http://schemas.microsoft.com/office/drawing/2014/main" val="3902576224"/>
                  </a:ext>
                </a:extLst>
              </a:tr>
            </a:tbl>
          </a:graphicData>
        </a:graphic>
      </p:graphicFrame>
      <p:graphicFrame>
        <p:nvGraphicFramePr>
          <p:cNvPr id="7" name="Chart 6">
            <a:extLst>
              <a:ext uri="{FF2B5EF4-FFF2-40B4-BE49-F238E27FC236}">
                <a16:creationId xmlns:a16="http://schemas.microsoft.com/office/drawing/2014/main" id="{CFF712DF-2C9C-FB7F-7CB5-C085709544CA}"/>
              </a:ext>
            </a:extLst>
          </p:cNvPr>
          <p:cNvGraphicFramePr>
            <a:graphicFrameLocks/>
          </p:cNvGraphicFramePr>
          <p:nvPr>
            <p:extLst>
              <p:ext uri="{D42A27DB-BD31-4B8C-83A1-F6EECF244321}">
                <p14:modId xmlns:p14="http://schemas.microsoft.com/office/powerpoint/2010/main" val="2428876646"/>
              </p:ext>
            </p:extLst>
          </p:nvPr>
        </p:nvGraphicFramePr>
        <p:xfrm>
          <a:off x="5190449" y="1440536"/>
          <a:ext cx="6156960" cy="541746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675576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E91D8-AF61-7439-D4D0-0517EAB8A41A}"/>
              </a:ext>
            </a:extLst>
          </p:cNvPr>
          <p:cNvSpPr txBox="1"/>
          <p:nvPr/>
        </p:nvSpPr>
        <p:spPr>
          <a:xfrm>
            <a:off x="648929" y="471948"/>
            <a:ext cx="9212826" cy="1323439"/>
          </a:xfrm>
          <a:prstGeom prst="rect">
            <a:avLst/>
          </a:prstGeom>
          <a:noFill/>
        </p:spPr>
        <p:txBody>
          <a:bodyPr wrap="square" rtlCol="0">
            <a:spAutoFit/>
          </a:bodyPr>
          <a:lstStyle/>
          <a:p>
            <a:pPr algn="l"/>
            <a:r>
              <a:rPr lang="en-US" sz="2000" b="1" i="0" dirty="0">
                <a:effectLst/>
                <a:highlight>
                  <a:srgbClr val="FFFFFF"/>
                </a:highlight>
                <a:latin typeface="Inter var experimental"/>
              </a:rPr>
              <a:t>Q10. Write a query to fetch the year-wise total runs scored at </a:t>
            </a:r>
            <a:r>
              <a:rPr lang="en-US" sz="2000" b="1" i="1" dirty="0">
                <a:effectLst/>
                <a:highlight>
                  <a:srgbClr val="FFFFFF"/>
                </a:highlight>
                <a:latin typeface="Inter var experimental"/>
              </a:rPr>
              <a:t>Eden Gardens </a:t>
            </a:r>
            <a:r>
              <a:rPr lang="en-US" sz="2000" b="1" i="0" dirty="0">
                <a:effectLst/>
                <a:highlight>
                  <a:srgbClr val="FFFFFF"/>
                </a:highlight>
                <a:latin typeface="Inter var experimental"/>
              </a:rPr>
              <a:t>and order it in the descending order of total runs scored.</a:t>
            </a:r>
          </a:p>
          <a:p>
            <a:br>
              <a:rPr lang="en-US" sz="2000" b="1" dirty="0"/>
            </a:br>
            <a:endParaRPr lang="en-IN" sz="2000" b="1" dirty="0"/>
          </a:p>
        </p:txBody>
      </p:sp>
      <p:sp>
        <p:nvSpPr>
          <p:cNvPr id="3" name="TextBox 2">
            <a:extLst>
              <a:ext uri="{FF2B5EF4-FFF2-40B4-BE49-F238E27FC236}">
                <a16:creationId xmlns:a16="http://schemas.microsoft.com/office/drawing/2014/main" id="{E23C2D45-E333-9B06-0982-827832C0DA6A}"/>
              </a:ext>
            </a:extLst>
          </p:cNvPr>
          <p:cNvSpPr txBox="1"/>
          <p:nvPr/>
        </p:nvSpPr>
        <p:spPr>
          <a:xfrm>
            <a:off x="648929" y="1248697"/>
            <a:ext cx="9212825" cy="923330"/>
          </a:xfrm>
          <a:prstGeom prst="rect">
            <a:avLst/>
          </a:prstGeom>
          <a:noFill/>
        </p:spPr>
        <p:txBody>
          <a:bodyPr wrap="square" rtlCol="0">
            <a:spAutoFit/>
          </a:bodyPr>
          <a:lstStyle/>
          <a:p>
            <a:r>
              <a:rPr lang="en-US" b="1" dirty="0"/>
              <a:t>Query:</a:t>
            </a:r>
            <a:r>
              <a:rPr lang="en-US" dirty="0"/>
              <a:t> select distinct extract (year from match_date) as yearwise_total_run, sum(total_runs) as total_runs from deliveries_v03 where venue = 'Eden Gardens' group by yearwise_total_run order by total_runs desc;</a:t>
            </a:r>
            <a:endParaRPr lang="en-IN" dirty="0"/>
          </a:p>
        </p:txBody>
      </p:sp>
      <p:graphicFrame>
        <p:nvGraphicFramePr>
          <p:cNvPr id="5" name="Table 4">
            <a:extLst>
              <a:ext uri="{FF2B5EF4-FFF2-40B4-BE49-F238E27FC236}">
                <a16:creationId xmlns:a16="http://schemas.microsoft.com/office/drawing/2014/main" id="{DC45878A-FA07-7DB5-3763-173ABD0426E2}"/>
              </a:ext>
            </a:extLst>
          </p:cNvPr>
          <p:cNvGraphicFramePr>
            <a:graphicFrameLocks noGrp="1"/>
          </p:cNvGraphicFramePr>
          <p:nvPr>
            <p:extLst>
              <p:ext uri="{D42A27DB-BD31-4B8C-83A1-F6EECF244321}">
                <p14:modId xmlns:p14="http://schemas.microsoft.com/office/powerpoint/2010/main" val="4293326956"/>
              </p:ext>
            </p:extLst>
          </p:nvPr>
        </p:nvGraphicFramePr>
        <p:xfrm>
          <a:off x="894735" y="3004024"/>
          <a:ext cx="3480619" cy="3455772"/>
        </p:xfrm>
        <a:graphic>
          <a:graphicData uri="http://schemas.openxmlformats.org/drawingml/2006/table">
            <a:tbl>
              <a:tblPr firstRow="1">
                <a:tableStyleId>{3C2FFA5D-87B4-456A-9821-1D502468CF0F}</a:tableStyleId>
              </a:tblPr>
              <a:tblGrid>
                <a:gridCol w="2246357">
                  <a:extLst>
                    <a:ext uri="{9D8B030D-6E8A-4147-A177-3AD203B41FA5}">
                      <a16:colId xmlns:a16="http://schemas.microsoft.com/office/drawing/2014/main" val="1446377903"/>
                    </a:ext>
                  </a:extLst>
                </a:gridCol>
                <a:gridCol w="1234262">
                  <a:extLst>
                    <a:ext uri="{9D8B030D-6E8A-4147-A177-3AD203B41FA5}">
                      <a16:colId xmlns:a16="http://schemas.microsoft.com/office/drawing/2014/main" val="809560919"/>
                    </a:ext>
                  </a:extLst>
                </a:gridCol>
              </a:tblGrid>
              <a:tr h="287981">
                <a:tc>
                  <a:txBody>
                    <a:bodyPr/>
                    <a:lstStyle/>
                    <a:p>
                      <a:pPr algn="ctr" fontAlgn="b"/>
                      <a:r>
                        <a:rPr lang="en-IN" sz="1400" b="1" u="none" strike="noStrike" dirty="0">
                          <a:solidFill>
                            <a:srgbClr val="000000"/>
                          </a:solidFill>
                          <a:effectLst/>
                        </a:rPr>
                        <a:t>yearwise_total_run</a:t>
                      </a:r>
                      <a:endParaRPr lang="en-IN" sz="14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400" b="1" u="none" strike="noStrike" dirty="0">
                          <a:solidFill>
                            <a:srgbClr val="000000"/>
                          </a:solidFill>
                          <a:effectLst/>
                        </a:rPr>
                        <a:t>total_runs</a:t>
                      </a:r>
                      <a:endParaRPr lang="en-IN" sz="14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04057407"/>
                  </a:ext>
                </a:extLst>
              </a:tr>
              <a:tr h="287981">
                <a:tc>
                  <a:txBody>
                    <a:bodyPr/>
                    <a:lstStyle/>
                    <a:p>
                      <a:pPr algn="ctr" fontAlgn="b"/>
                      <a:r>
                        <a:rPr lang="en-IN" sz="1200" b="0" u="none" strike="noStrike" dirty="0">
                          <a:solidFill>
                            <a:srgbClr val="000000"/>
                          </a:solidFill>
                          <a:effectLst/>
                        </a:rPr>
                        <a:t>2018</a:t>
                      </a:r>
                      <a:endParaRPr lang="en-IN"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a:solidFill>
                            <a:srgbClr val="000000"/>
                          </a:solidFill>
                          <a:effectLst/>
                        </a:rPr>
                        <a:t>2885</a:t>
                      </a:r>
                      <a:endParaRPr lang="en-IN"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160119077"/>
                  </a:ext>
                </a:extLst>
              </a:tr>
              <a:tr h="287981">
                <a:tc>
                  <a:txBody>
                    <a:bodyPr/>
                    <a:lstStyle/>
                    <a:p>
                      <a:pPr algn="ctr" fontAlgn="b"/>
                      <a:r>
                        <a:rPr lang="en-IN" sz="1200" b="0" u="none" strike="noStrike">
                          <a:solidFill>
                            <a:srgbClr val="000000"/>
                          </a:solidFill>
                          <a:effectLst/>
                        </a:rPr>
                        <a:t>2019</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a:solidFill>
                            <a:srgbClr val="000000"/>
                          </a:solidFill>
                          <a:effectLst/>
                        </a:rPr>
                        <a:t>2651</a:t>
                      </a:r>
                      <a:endParaRPr lang="en-IN"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14027015"/>
                  </a:ext>
                </a:extLst>
              </a:tr>
              <a:tr h="287981">
                <a:tc>
                  <a:txBody>
                    <a:bodyPr/>
                    <a:lstStyle/>
                    <a:p>
                      <a:pPr algn="ctr" fontAlgn="b"/>
                      <a:r>
                        <a:rPr lang="en-IN" sz="1200" b="0" u="none" strike="noStrike" dirty="0">
                          <a:solidFill>
                            <a:srgbClr val="000000"/>
                          </a:solidFill>
                          <a:effectLst/>
                        </a:rPr>
                        <a:t>2015</a:t>
                      </a:r>
                      <a:endParaRPr lang="en-IN"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a:solidFill>
                            <a:srgbClr val="000000"/>
                          </a:solidFill>
                          <a:effectLst/>
                        </a:rPr>
                        <a:t>2386</a:t>
                      </a:r>
                      <a:endParaRPr lang="en-IN"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32095031"/>
                  </a:ext>
                </a:extLst>
              </a:tr>
              <a:tr h="287981">
                <a:tc>
                  <a:txBody>
                    <a:bodyPr/>
                    <a:lstStyle/>
                    <a:p>
                      <a:pPr algn="ctr" fontAlgn="b"/>
                      <a:r>
                        <a:rPr lang="en-IN" sz="1200" b="0" u="none" strike="noStrike" dirty="0">
                          <a:solidFill>
                            <a:srgbClr val="000000"/>
                          </a:solidFill>
                          <a:effectLst/>
                        </a:rPr>
                        <a:t>2013</a:t>
                      </a:r>
                      <a:endParaRPr lang="en-IN"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a:solidFill>
                            <a:srgbClr val="000000"/>
                          </a:solidFill>
                          <a:effectLst/>
                        </a:rPr>
                        <a:t>2304</a:t>
                      </a:r>
                      <a:endParaRPr lang="en-IN"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996881637"/>
                  </a:ext>
                </a:extLst>
              </a:tr>
              <a:tr h="287981">
                <a:tc>
                  <a:txBody>
                    <a:bodyPr/>
                    <a:lstStyle/>
                    <a:p>
                      <a:pPr algn="ctr" fontAlgn="b"/>
                      <a:r>
                        <a:rPr lang="en-IN" sz="1200" b="0" u="none" strike="noStrike">
                          <a:solidFill>
                            <a:srgbClr val="000000"/>
                          </a:solidFill>
                          <a:effectLst/>
                        </a:rPr>
                        <a:t>2017</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a:solidFill>
                            <a:srgbClr val="000000"/>
                          </a:solidFill>
                          <a:effectLst/>
                        </a:rPr>
                        <a:t>2194</a:t>
                      </a:r>
                      <a:endParaRPr lang="en-IN"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83160274"/>
                  </a:ext>
                </a:extLst>
              </a:tr>
              <a:tr h="287981">
                <a:tc>
                  <a:txBody>
                    <a:bodyPr/>
                    <a:lstStyle/>
                    <a:p>
                      <a:pPr algn="ctr" fontAlgn="b"/>
                      <a:r>
                        <a:rPr lang="en-IN" sz="1200" b="0" u="none" strike="noStrike">
                          <a:solidFill>
                            <a:srgbClr val="000000"/>
                          </a:solidFill>
                          <a:effectLst/>
                        </a:rPr>
                        <a:t>2010</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dirty="0">
                          <a:solidFill>
                            <a:srgbClr val="000000"/>
                          </a:solidFill>
                          <a:effectLst/>
                        </a:rPr>
                        <a:t>2167</a:t>
                      </a:r>
                      <a:endParaRPr lang="en-IN"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63281172"/>
                  </a:ext>
                </a:extLst>
              </a:tr>
              <a:tr h="287981">
                <a:tc>
                  <a:txBody>
                    <a:bodyPr/>
                    <a:lstStyle/>
                    <a:p>
                      <a:pPr algn="ctr" fontAlgn="b"/>
                      <a:r>
                        <a:rPr lang="en-IN" sz="1200" b="0" u="none" strike="noStrike">
                          <a:solidFill>
                            <a:srgbClr val="000000"/>
                          </a:solidFill>
                          <a:effectLst/>
                        </a:rPr>
                        <a:t>2016</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dirty="0">
                          <a:solidFill>
                            <a:srgbClr val="000000"/>
                          </a:solidFill>
                          <a:effectLst/>
                        </a:rPr>
                        <a:t>2073</a:t>
                      </a:r>
                      <a:endParaRPr lang="en-IN"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901042855"/>
                  </a:ext>
                </a:extLst>
              </a:tr>
              <a:tr h="287981">
                <a:tc>
                  <a:txBody>
                    <a:bodyPr/>
                    <a:lstStyle/>
                    <a:p>
                      <a:pPr algn="ctr" fontAlgn="b"/>
                      <a:r>
                        <a:rPr lang="en-IN" sz="1200" b="0" u="none" strike="noStrike">
                          <a:solidFill>
                            <a:srgbClr val="000000"/>
                          </a:solidFill>
                          <a:effectLst/>
                        </a:rPr>
                        <a:t>2012</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a:solidFill>
                            <a:srgbClr val="000000"/>
                          </a:solidFill>
                          <a:effectLst/>
                        </a:rPr>
                        <a:t>2012</a:t>
                      </a:r>
                      <a:endParaRPr lang="en-IN"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79820291"/>
                  </a:ext>
                </a:extLst>
              </a:tr>
              <a:tr h="287981">
                <a:tc>
                  <a:txBody>
                    <a:bodyPr/>
                    <a:lstStyle/>
                    <a:p>
                      <a:pPr algn="ctr" fontAlgn="b"/>
                      <a:r>
                        <a:rPr lang="en-IN" sz="1200" b="0" u="none" strike="noStrike">
                          <a:solidFill>
                            <a:srgbClr val="000000"/>
                          </a:solidFill>
                          <a:effectLst/>
                        </a:rPr>
                        <a:t>2011</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dirty="0">
                          <a:solidFill>
                            <a:srgbClr val="000000"/>
                          </a:solidFill>
                          <a:effectLst/>
                        </a:rPr>
                        <a:t>1854</a:t>
                      </a:r>
                      <a:endParaRPr lang="en-IN"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3970576"/>
                  </a:ext>
                </a:extLst>
              </a:tr>
              <a:tr h="287981">
                <a:tc>
                  <a:txBody>
                    <a:bodyPr/>
                    <a:lstStyle/>
                    <a:p>
                      <a:pPr algn="ctr" fontAlgn="b"/>
                      <a:r>
                        <a:rPr lang="en-IN" sz="1200" b="0" u="none" strike="noStrike">
                          <a:solidFill>
                            <a:srgbClr val="000000"/>
                          </a:solidFill>
                          <a:effectLst/>
                        </a:rPr>
                        <a:t>2008</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a:solidFill>
                            <a:srgbClr val="000000"/>
                          </a:solidFill>
                          <a:effectLst/>
                        </a:rPr>
                        <a:t>1843</a:t>
                      </a:r>
                      <a:endParaRPr lang="en-IN"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74790561"/>
                  </a:ext>
                </a:extLst>
              </a:tr>
              <a:tr h="287981">
                <a:tc>
                  <a:txBody>
                    <a:bodyPr/>
                    <a:lstStyle/>
                    <a:p>
                      <a:pPr algn="ctr" fontAlgn="b"/>
                      <a:r>
                        <a:rPr lang="en-IN" sz="1200" b="0" u="none" strike="noStrike">
                          <a:solidFill>
                            <a:srgbClr val="000000"/>
                          </a:solidFill>
                          <a:effectLst/>
                        </a:rPr>
                        <a:t>2014</a:t>
                      </a:r>
                      <a:endParaRPr lang="en-IN" sz="12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200" b="0" u="none" strike="noStrike" dirty="0">
                          <a:solidFill>
                            <a:srgbClr val="000000"/>
                          </a:solidFill>
                          <a:effectLst/>
                        </a:rPr>
                        <a:t>1289</a:t>
                      </a:r>
                      <a:endParaRPr lang="en-IN"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59666292"/>
                  </a:ext>
                </a:extLst>
              </a:tr>
            </a:tbl>
          </a:graphicData>
        </a:graphic>
      </p:graphicFrame>
      <p:graphicFrame>
        <p:nvGraphicFramePr>
          <p:cNvPr id="7" name="Chart 6">
            <a:extLst>
              <a:ext uri="{FF2B5EF4-FFF2-40B4-BE49-F238E27FC236}">
                <a16:creationId xmlns:a16="http://schemas.microsoft.com/office/drawing/2014/main" id="{8F93AC66-0CA6-A5B1-A013-1863067B1105}"/>
              </a:ext>
            </a:extLst>
          </p:cNvPr>
          <p:cNvGraphicFramePr>
            <a:graphicFrameLocks/>
          </p:cNvGraphicFramePr>
          <p:nvPr>
            <p:extLst>
              <p:ext uri="{D42A27DB-BD31-4B8C-83A1-F6EECF244321}">
                <p14:modId xmlns:p14="http://schemas.microsoft.com/office/powerpoint/2010/main" val="4232021374"/>
              </p:ext>
            </p:extLst>
          </p:nvPr>
        </p:nvGraphicFramePr>
        <p:xfrm>
          <a:off x="4549876" y="2981632"/>
          <a:ext cx="5046407" cy="3478164"/>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9D45FA60-F357-0DDC-BB86-A02AEE24D513}"/>
              </a:ext>
            </a:extLst>
          </p:cNvPr>
          <p:cNvSpPr txBox="1"/>
          <p:nvPr/>
        </p:nvSpPr>
        <p:spPr>
          <a:xfrm>
            <a:off x="648929" y="2259961"/>
            <a:ext cx="7993626" cy="923330"/>
          </a:xfrm>
          <a:prstGeom prst="rect">
            <a:avLst/>
          </a:prstGeom>
          <a:noFill/>
        </p:spPr>
        <p:txBody>
          <a:bodyPr wrap="square" rtlCol="0">
            <a:spAutoFit/>
          </a:bodyPr>
          <a:lstStyle/>
          <a:p>
            <a:r>
              <a:rPr lang="en-US" b="1" dirty="0"/>
              <a:t>Below on the left we have the output of the above query, which I have used to create the graph on right.</a:t>
            </a:r>
            <a:endParaRPr lang="en-IN" b="1" dirty="0"/>
          </a:p>
          <a:p>
            <a:endParaRPr lang="en-IN" dirty="0"/>
          </a:p>
        </p:txBody>
      </p:sp>
    </p:spTree>
    <p:extLst>
      <p:ext uri="{BB962C8B-B14F-4D97-AF65-F5344CB8AC3E}">
        <p14:creationId xmlns:p14="http://schemas.microsoft.com/office/powerpoint/2010/main" val="2483910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0552FF-A466-E4EC-CDD4-5FB17EF76060}"/>
              </a:ext>
            </a:extLst>
          </p:cNvPr>
          <p:cNvSpPr txBox="1"/>
          <p:nvPr/>
        </p:nvSpPr>
        <p:spPr>
          <a:xfrm>
            <a:off x="1710812" y="2192594"/>
            <a:ext cx="7138220" cy="1107996"/>
          </a:xfrm>
          <a:prstGeom prst="rect">
            <a:avLst/>
          </a:prstGeom>
          <a:noFill/>
        </p:spPr>
        <p:txBody>
          <a:bodyPr wrap="square" rtlCol="0">
            <a:spAutoFit/>
          </a:bodyPr>
          <a:lstStyle/>
          <a:p>
            <a:pPr algn="ctr"/>
            <a:r>
              <a:rPr lang="en-US" sz="6600" b="1" dirty="0">
                <a:solidFill>
                  <a:schemeClr val="accent1">
                    <a:lumMod val="50000"/>
                  </a:schemeClr>
                </a:solidFill>
              </a:rPr>
              <a:t>Thank You</a:t>
            </a:r>
            <a:endParaRPr lang="en-IN" sz="6600" b="1" dirty="0">
              <a:solidFill>
                <a:schemeClr val="accent1">
                  <a:lumMod val="50000"/>
                </a:schemeClr>
              </a:solidFill>
            </a:endParaRPr>
          </a:p>
        </p:txBody>
      </p:sp>
    </p:spTree>
    <p:extLst>
      <p:ext uri="{BB962C8B-B14F-4D97-AF65-F5344CB8AC3E}">
        <p14:creationId xmlns:p14="http://schemas.microsoft.com/office/powerpoint/2010/main" val="154589111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1707</TotalTime>
  <Words>2827</Words>
  <Application>Microsoft Office PowerPoint</Application>
  <PresentationFormat>Widescreen</PresentationFormat>
  <Paragraphs>455</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Inter var experimental</vt:lpstr>
      <vt:lpstr>Trebuchet MS</vt:lpstr>
      <vt:lpstr>Wingdings 3</vt:lpstr>
      <vt:lpstr>Facet</vt:lpstr>
      <vt:lpstr>IPL AUCTION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IPL AUCTION</dc:title>
  <dc:creator>Ankita Thapliyal</dc:creator>
  <cp:lastModifiedBy>Ankita Thapliyal</cp:lastModifiedBy>
  <cp:revision>2</cp:revision>
  <dcterms:created xsi:type="dcterms:W3CDTF">2024-06-10T10:13:07Z</dcterms:created>
  <dcterms:modified xsi:type="dcterms:W3CDTF">2024-06-11T14:42:16Z</dcterms:modified>
</cp:coreProperties>
</file>